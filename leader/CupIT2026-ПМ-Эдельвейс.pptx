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D91495EE-D1C6-49A4-AC92-D6A9A0BFAF81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Приложение" id="{E06EDAFD-7D20-4088-9251-3EE77E44EB17}">
          <p14:sldIdLst>
            <p14:sldId id="264"/>
            <p14:sldId id="265"/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468DC"/>
    <a:srgbClr val="C8FF00"/>
    <a:srgbClr val="1E1E26"/>
    <a:srgbClr val="1A2000"/>
    <a:srgbClr val="1A0A2A"/>
    <a:srgbClr val="FF822D"/>
    <a:srgbClr val="0C0C0F"/>
    <a:srgbClr val="24281A"/>
    <a:srgbClr val="F5FFD1"/>
    <a:srgbClr val="2125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8218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0805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4238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0321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5021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7144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hyperlink" Target="mailto:gnika0502@gmail.com" TargetMode="External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mailto:nastyagrishkova2007@gmail.com" TargetMode="External"/><Relationship Id="rId11" Type="http://schemas.openxmlformats.org/officeDocument/2006/relationships/image" Target="../media/image5.png"/><Relationship Id="rId5" Type="http://schemas.openxmlformats.org/officeDocument/2006/relationships/hyperlink" Target="mailto:aleksandraradygina@mail.ru" TargetMode="External"/><Relationship Id="rId10" Type="http://schemas.openxmlformats.org/officeDocument/2006/relationships/image" Target="../media/image4.svg"/><Relationship Id="rId4" Type="http://schemas.openxmlformats.org/officeDocument/2006/relationships/hyperlink" Target="mailto:artemytoplay@gmail.com" TargetMode="External"/><Relationship Id="rId9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svg"/><Relationship Id="rId4" Type="http://schemas.openxmlformats.org/officeDocument/2006/relationships/image" Target="../media/image2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13" Type="http://schemas.openxmlformats.org/officeDocument/2006/relationships/image" Target="../media/image26.png"/><Relationship Id="rId18" Type="http://schemas.openxmlformats.org/officeDocument/2006/relationships/image" Target="../media/image31.svg"/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12" Type="http://schemas.openxmlformats.org/officeDocument/2006/relationships/image" Target="../media/image25.svg"/><Relationship Id="rId17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9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sv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5" Type="http://schemas.openxmlformats.org/officeDocument/2006/relationships/image" Target="../media/image28.png"/><Relationship Id="rId10" Type="http://schemas.openxmlformats.org/officeDocument/2006/relationships/image" Target="../media/image23.svg"/><Relationship Id="rId4" Type="http://schemas.openxmlformats.org/officeDocument/2006/relationships/image" Target="../media/image2.svg"/><Relationship Id="rId9" Type="http://schemas.openxmlformats.org/officeDocument/2006/relationships/image" Target="../media/image22.png"/><Relationship Id="rId14" Type="http://schemas.openxmlformats.org/officeDocument/2006/relationships/image" Target="../media/image2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2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13" Type="http://schemas.openxmlformats.org/officeDocument/2006/relationships/image" Target="../media/image39.png"/><Relationship Id="rId3" Type="http://schemas.openxmlformats.org/officeDocument/2006/relationships/image" Target="../media/image1.png"/><Relationship Id="rId7" Type="http://schemas.openxmlformats.org/officeDocument/2006/relationships/image" Target="../media/image33.png"/><Relationship Id="rId12" Type="http://schemas.openxmlformats.org/officeDocument/2006/relationships/image" Target="../media/image38.sv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42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11" Type="http://schemas.openxmlformats.org/officeDocument/2006/relationships/image" Target="../media/image37.png"/><Relationship Id="rId5" Type="http://schemas.openxmlformats.org/officeDocument/2006/relationships/image" Target="../media/image8.png"/><Relationship Id="rId15" Type="http://schemas.openxmlformats.org/officeDocument/2006/relationships/image" Target="../media/image41.png"/><Relationship Id="rId10" Type="http://schemas.openxmlformats.org/officeDocument/2006/relationships/image" Target="../media/image36.svg"/><Relationship Id="rId4" Type="http://schemas.openxmlformats.org/officeDocument/2006/relationships/image" Target="../media/image2.svg"/><Relationship Id="rId9" Type="http://schemas.openxmlformats.org/officeDocument/2006/relationships/image" Target="../media/image35.png"/><Relationship Id="rId14" Type="http://schemas.openxmlformats.org/officeDocument/2006/relationships/image" Target="../media/image40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C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17171C"/>
          </a:solidFill>
          <a:ln w="12700">
            <a:solidFill>
              <a:srgbClr val="17171C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3" name="Shape 1"/>
          <p:cNvSpPr/>
          <p:nvPr/>
        </p:nvSpPr>
        <p:spPr>
          <a:xfrm>
            <a:off x="5943600" y="0"/>
            <a:ext cx="36576" cy="6858000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36576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02336" y="1003618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CHANGELLENGE CUP IT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170432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Новая </a:t>
            </a:r>
            <a:r>
              <a:rPr lang="en-US" sz="3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витрина</a:t>
            </a: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ОТП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11480" y="1755648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2100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изменить дизайн от идей</a:t>
            </a:r>
            <a:r>
              <a:rPr lang="en-US" sz="2100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dirty="0" err="1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продуктовой</a:t>
            </a:r>
            <a:r>
              <a:rPr lang="en-US" sz="2100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dirty="0" err="1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логики</a:t>
            </a:r>
            <a:r>
              <a:rPr lang="en-US" sz="2100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 жизненным ситуациям клиента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411480" y="283464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Переосмысление витрины мобильного приложения через тематические разделы жизненных ситуаций и гиперперсонализацию на основе транзакционных данных клиента в реальном времени</a:t>
            </a:r>
            <a:r>
              <a:rPr lang="ru-RU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3840480"/>
            <a:ext cx="2011680" cy="1600200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88620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AS-IS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02920" y="4133088"/>
            <a:ext cx="1828800" cy="182880"/>
          </a:xfrm>
          <a:prstGeom prst="rect">
            <a:avLst/>
          </a:prstGeom>
          <a:solidFill>
            <a:srgbClr val="23232C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413308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Карты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02920" y="4343400"/>
            <a:ext cx="1828800" cy="182880"/>
          </a:xfrm>
          <a:prstGeom prst="rect">
            <a:avLst/>
          </a:prstGeom>
          <a:solidFill>
            <a:srgbClr val="23232C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3434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Кредиты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02920" y="4553712"/>
            <a:ext cx="1828800" cy="182880"/>
          </a:xfrm>
          <a:prstGeom prst="rect">
            <a:avLst/>
          </a:prstGeom>
          <a:solidFill>
            <a:srgbClr val="23232C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55371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Вклады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02920" y="4764024"/>
            <a:ext cx="1828800" cy="182880"/>
          </a:xfrm>
          <a:prstGeom prst="rect">
            <a:avLst/>
          </a:prstGeom>
          <a:solidFill>
            <a:srgbClr val="23232C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76402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Инвестиции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02920" y="4974336"/>
            <a:ext cx="1828800" cy="182880"/>
          </a:xfrm>
          <a:prstGeom prst="rect">
            <a:avLst/>
          </a:prstGeom>
          <a:solidFill>
            <a:srgbClr val="23232C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97433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Платежи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468880" y="448056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3017520" y="3840480"/>
            <a:ext cx="2468880" cy="1600200"/>
          </a:xfrm>
          <a:prstGeom prst="rect">
            <a:avLst/>
          </a:prstGeom>
          <a:solidFill>
            <a:srgbClr val="1A20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17520" y="388620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115625" y="4212971"/>
            <a:ext cx="2286000" cy="182880"/>
          </a:xfrm>
          <a:prstGeom prst="rect">
            <a:avLst/>
          </a:prstGeom>
          <a:solidFill>
            <a:srgbClr val="1E2800"/>
          </a:solidFill>
          <a:ln w="12700">
            <a:solidFill>
              <a:srgbClr val="2A38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15625" y="4212971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ru-RU" sz="850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850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Ежедневное 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111561" y="4423283"/>
            <a:ext cx="2286000" cy="182880"/>
          </a:xfrm>
          <a:prstGeom prst="rect">
            <a:avLst/>
          </a:prstGeom>
          <a:solidFill>
            <a:srgbClr val="1E2800"/>
          </a:solidFill>
          <a:ln w="12700">
            <a:solidFill>
              <a:srgbClr val="2A38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15625" y="4423283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u-RU" sz="850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Предложения</a:t>
            </a:r>
            <a:r>
              <a:rPr lang="en-US" sz="850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115625" y="4633595"/>
            <a:ext cx="2286000" cy="182880"/>
          </a:xfrm>
          <a:prstGeom prst="rect">
            <a:avLst/>
          </a:prstGeom>
          <a:solidFill>
            <a:srgbClr val="1E2800"/>
          </a:solidFill>
          <a:ln w="12700">
            <a:solidFill>
              <a:srgbClr val="2A38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15625" y="4633595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u-RU" sz="850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Цели</a:t>
            </a:r>
            <a:r>
              <a:rPr lang="en-US" sz="850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115625" y="4843907"/>
            <a:ext cx="2286000" cy="182880"/>
          </a:xfrm>
          <a:prstGeom prst="rect">
            <a:avLst/>
          </a:prstGeom>
          <a:solidFill>
            <a:srgbClr val="1E2800"/>
          </a:solidFill>
          <a:ln w="12700">
            <a:solidFill>
              <a:srgbClr val="2A38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15625" y="4843907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u-RU" sz="850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Продукты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31457" y="5776595"/>
            <a:ext cx="566356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Команда: </a:t>
            </a:r>
            <a:r>
              <a:rPr lang="ru-RU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ЭДЕЛЬВЕЙС 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</a:p>
          <a:p>
            <a:pPr marL="0" indent="0" algn="just">
              <a:buNone/>
            </a:pPr>
            <a:r>
              <a:rPr lang="en-US" sz="900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gnika0502@gmail.com</a:t>
            </a:r>
            <a:r>
              <a:rPr lang="en-US" sz="900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 </a:t>
            </a:r>
            <a:r>
              <a:rPr lang="en-US" sz="900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artemytoplay@gmail.com</a:t>
            </a:r>
            <a:r>
              <a:rPr lang="en-US" sz="900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900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aleksandraradygina@mail.ru</a:t>
            </a:r>
            <a:r>
              <a:rPr lang="en-US" sz="900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 </a:t>
            </a:r>
            <a:r>
              <a:rPr lang="en-US" sz="900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nastyagrishkova2007@gmail.com</a:t>
            </a:r>
            <a:r>
              <a:rPr lang="en-US" sz="900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900" dirty="0">
              <a:solidFill>
                <a:srgbClr val="C8FF00"/>
              </a:solidFill>
            </a:endParaRPr>
          </a:p>
        </p:txBody>
      </p:sp>
      <p:sp>
        <p:nvSpPr>
          <p:cNvPr id="36" name="Text 34"/>
          <p:cNvSpPr/>
          <p:nvPr/>
        </p:nvSpPr>
        <p:spPr>
          <a:xfrm>
            <a:off x="6583680" y="548640"/>
            <a:ext cx="512064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0" dirty="0"/>
          </a:p>
        </p:txBody>
      </p:sp>
      <p:sp>
        <p:nvSpPr>
          <p:cNvPr id="37" name="Shape 35"/>
          <p:cNvSpPr/>
          <p:nvPr/>
        </p:nvSpPr>
        <p:spPr>
          <a:xfrm>
            <a:off x="6140321" y="4937760"/>
            <a:ext cx="5852160" cy="1097280"/>
          </a:xfrm>
          <a:prstGeom prst="rect">
            <a:avLst/>
          </a:prstGeom>
          <a:solidFill>
            <a:srgbClr val="1A20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09360" y="498348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Суть решения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309360" y="5257800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Витрина банка должна отвечать на вопрос «что мне </a:t>
            </a:r>
            <a:r>
              <a:rPr lang="ru-RU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нужно</a:t>
            </a: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сейчас?»</a:t>
            </a:r>
            <a:r>
              <a:rPr lang="ru-RU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вместо</a:t>
            </a: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«какой продукт мне предложить». Гиперперсонализация на основе MCC-транзакций позволяет показывать нужный контент в нужный момент без чат-ботов и суперапп-логики.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111118"/>
          </a:solidFill>
          <a:ln w="12700">
            <a:solidFill>
              <a:srgbClr val="11111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64592" y="6574536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Обложка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164592" y="6547104"/>
            <a:ext cx="1389888" cy="27432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645920" y="6574536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Итого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127248" y="6574536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608576" y="6574536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089904" y="6574536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Сценарии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571232" y="6574536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Механики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9052560" y="6574536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0533888" y="6574536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1521440" y="657453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800" dirty="0"/>
          </a:p>
        </p:txBody>
      </p:sp>
      <p:sp>
        <p:nvSpPr>
          <p:cNvPr id="51" name="Звезда: 4 точки 50">
            <a:extLst>
              <a:ext uri="{FF2B5EF4-FFF2-40B4-BE49-F238E27FC236}">
                <a16:creationId xmlns:a16="http://schemas.microsoft.com/office/drawing/2014/main" id="{26726F9A-47F3-4BE7-9C3D-68F9F3F2D0DF}"/>
              </a:ext>
            </a:extLst>
          </p:cNvPr>
          <p:cNvSpPr/>
          <p:nvPr/>
        </p:nvSpPr>
        <p:spPr>
          <a:xfrm>
            <a:off x="3857558" y="4273550"/>
            <a:ext cx="45719" cy="46990"/>
          </a:xfrm>
          <a:prstGeom prst="star4">
            <a:avLst/>
          </a:prstGeom>
          <a:solidFill>
            <a:srgbClr val="FFFF00"/>
          </a:solidFill>
          <a:ln>
            <a:solidFill>
              <a:srgbClr val="C8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Звезда: 4 точки 51">
            <a:extLst>
              <a:ext uri="{FF2B5EF4-FFF2-40B4-BE49-F238E27FC236}">
                <a16:creationId xmlns:a16="http://schemas.microsoft.com/office/drawing/2014/main" id="{62DCC292-6A49-4513-93D6-131BBC347E12}"/>
              </a:ext>
            </a:extLst>
          </p:cNvPr>
          <p:cNvSpPr/>
          <p:nvPr/>
        </p:nvSpPr>
        <p:spPr>
          <a:xfrm>
            <a:off x="3857559" y="4485069"/>
            <a:ext cx="45719" cy="46990"/>
          </a:xfrm>
          <a:prstGeom prst="star4">
            <a:avLst/>
          </a:prstGeom>
          <a:solidFill>
            <a:srgbClr val="FFFF00"/>
          </a:solidFill>
          <a:ln>
            <a:solidFill>
              <a:srgbClr val="C8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3" name="Звезда: 4 точки 52">
            <a:extLst>
              <a:ext uri="{FF2B5EF4-FFF2-40B4-BE49-F238E27FC236}">
                <a16:creationId xmlns:a16="http://schemas.microsoft.com/office/drawing/2014/main" id="{CD26B178-A670-4B03-9FD3-F04777F4B46B}"/>
              </a:ext>
            </a:extLst>
          </p:cNvPr>
          <p:cNvSpPr/>
          <p:nvPr/>
        </p:nvSpPr>
        <p:spPr>
          <a:xfrm>
            <a:off x="3854507" y="4703064"/>
            <a:ext cx="45719" cy="46990"/>
          </a:xfrm>
          <a:prstGeom prst="star4">
            <a:avLst/>
          </a:prstGeom>
          <a:solidFill>
            <a:srgbClr val="FFFF00"/>
          </a:solidFill>
          <a:ln>
            <a:solidFill>
              <a:srgbClr val="C8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4" name="Звезда: 4 точки 53">
            <a:extLst>
              <a:ext uri="{FF2B5EF4-FFF2-40B4-BE49-F238E27FC236}">
                <a16:creationId xmlns:a16="http://schemas.microsoft.com/office/drawing/2014/main" id="{BC167DE0-3FAE-4B27-BBBE-C1A4BB68338F}"/>
              </a:ext>
            </a:extLst>
          </p:cNvPr>
          <p:cNvSpPr/>
          <p:nvPr/>
        </p:nvSpPr>
        <p:spPr>
          <a:xfrm>
            <a:off x="3860986" y="4914900"/>
            <a:ext cx="45719" cy="46990"/>
          </a:xfrm>
          <a:prstGeom prst="star4">
            <a:avLst/>
          </a:prstGeom>
          <a:solidFill>
            <a:srgbClr val="FFFF00"/>
          </a:solidFill>
          <a:ln>
            <a:solidFill>
              <a:srgbClr val="C8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75" name="Группа 74">
            <a:extLst>
              <a:ext uri="{FF2B5EF4-FFF2-40B4-BE49-F238E27FC236}">
                <a16:creationId xmlns:a16="http://schemas.microsoft.com/office/drawing/2014/main" id="{F12F9C45-AE45-4EE0-8D8F-E87691F49C3D}"/>
              </a:ext>
            </a:extLst>
          </p:cNvPr>
          <p:cNvGrpSpPr/>
          <p:nvPr/>
        </p:nvGrpSpPr>
        <p:grpSpPr>
          <a:xfrm>
            <a:off x="402336" y="115760"/>
            <a:ext cx="2238374" cy="568833"/>
            <a:chOff x="402336" y="115760"/>
            <a:chExt cx="2238374" cy="568833"/>
          </a:xfrm>
        </p:grpSpPr>
        <p:sp>
          <p:nvSpPr>
            <p:cNvPr id="61" name="Прямоугольник 60">
              <a:extLst>
                <a:ext uri="{FF2B5EF4-FFF2-40B4-BE49-F238E27FC236}">
                  <a16:creationId xmlns:a16="http://schemas.microsoft.com/office/drawing/2014/main" id="{040534B4-42F9-4D00-82BD-C82D4BF2ECF9}"/>
                </a:ext>
              </a:extLst>
            </p:cNvPr>
            <p:cNvSpPr/>
            <p:nvPr/>
          </p:nvSpPr>
          <p:spPr>
            <a:xfrm>
              <a:off x="402336" y="115760"/>
              <a:ext cx="2238374" cy="568833"/>
            </a:xfrm>
            <a:prstGeom prst="rect">
              <a:avLst/>
            </a:prstGeom>
            <a:solidFill>
              <a:srgbClr val="C8FF00"/>
            </a:solidFill>
            <a:ln>
              <a:noFill/>
            </a:ln>
            <a:effectLst>
              <a:softEdge rad="1651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60" name="Рисунок 59">
              <a:extLst>
                <a:ext uri="{FF2B5EF4-FFF2-40B4-BE49-F238E27FC236}">
                  <a16:creationId xmlns:a16="http://schemas.microsoft.com/office/drawing/2014/main" id="{273E6778-89EF-45F3-97A0-2CD999081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35628" y="256365"/>
              <a:ext cx="1271588" cy="255128"/>
            </a:xfrm>
            <a:prstGeom prst="rect">
              <a:avLst/>
            </a:prstGeom>
          </p:spPr>
        </p:pic>
      </p:grpSp>
      <p:pic>
        <p:nvPicPr>
          <p:cNvPr id="63" name="Рисунок 62">
            <a:extLst>
              <a:ext uri="{FF2B5EF4-FFF2-40B4-BE49-F238E27FC236}">
                <a16:creationId xmlns:a16="http://schemas.microsoft.com/office/drawing/2014/main" id="{2AEFBF54-E591-404B-900A-7849D044FDC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972300" y="307277"/>
            <a:ext cx="4368165" cy="4456747"/>
          </a:xfrm>
          <a:prstGeom prst="rect">
            <a:avLst/>
          </a:prstGeom>
        </p:spPr>
      </p:pic>
      <p:sp>
        <p:nvSpPr>
          <p:cNvPr id="64" name="AutoShape 2">
            <a:extLst>
              <a:ext uri="{FF2B5EF4-FFF2-40B4-BE49-F238E27FC236}">
                <a16:creationId xmlns:a16="http://schemas.microsoft.com/office/drawing/2014/main" id="{60056A99-FEBE-4254-B879-AAA31A53149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66" name="Рисунок 65">
            <a:extLst>
              <a:ext uri="{FF2B5EF4-FFF2-40B4-BE49-F238E27FC236}">
                <a16:creationId xmlns:a16="http://schemas.microsoft.com/office/drawing/2014/main" id="{8BB3FE26-FFBC-4E12-95FC-2509C502C28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0999715">
            <a:off x="7231347" y="3273287"/>
            <a:ext cx="1473327" cy="1502194"/>
          </a:xfrm>
          <a:prstGeom prst="rect">
            <a:avLst/>
          </a:prstGeom>
          <a:effectLst>
            <a:glow rad="1117600">
              <a:srgbClr val="A468DC">
                <a:alpha val="8000"/>
              </a:srgbClr>
            </a:glow>
          </a:effectLst>
        </p:spPr>
      </p:pic>
      <p:sp>
        <p:nvSpPr>
          <p:cNvPr id="69" name="Звезда: 4 точки 68">
            <a:extLst>
              <a:ext uri="{FF2B5EF4-FFF2-40B4-BE49-F238E27FC236}">
                <a16:creationId xmlns:a16="http://schemas.microsoft.com/office/drawing/2014/main" id="{B2F986C0-B2F5-4F97-8BF0-060739059898}"/>
              </a:ext>
            </a:extLst>
          </p:cNvPr>
          <p:cNvSpPr/>
          <p:nvPr/>
        </p:nvSpPr>
        <p:spPr>
          <a:xfrm rot="19553809">
            <a:off x="10258425" y="658368"/>
            <a:ext cx="619125" cy="621792"/>
          </a:xfrm>
          <a:prstGeom prst="star4">
            <a:avLst/>
          </a:prstGeom>
          <a:solidFill>
            <a:srgbClr val="0C0C0F"/>
          </a:solidFill>
          <a:ln>
            <a:noFill/>
          </a:ln>
          <a:effectLst>
            <a:glow rad="1447800">
              <a:srgbClr val="C8FF00">
                <a:alpha val="12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0" name="Звезда: 4 точки 69">
            <a:extLst>
              <a:ext uri="{FF2B5EF4-FFF2-40B4-BE49-F238E27FC236}">
                <a16:creationId xmlns:a16="http://schemas.microsoft.com/office/drawing/2014/main" id="{4F59F5ED-0588-4C7C-B3B1-F16087DC81F1}"/>
              </a:ext>
            </a:extLst>
          </p:cNvPr>
          <p:cNvSpPr/>
          <p:nvPr/>
        </p:nvSpPr>
        <p:spPr>
          <a:xfrm rot="3966499">
            <a:off x="7345918" y="3122365"/>
            <a:ext cx="267750" cy="212703"/>
          </a:xfrm>
          <a:prstGeom prst="star4">
            <a:avLst/>
          </a:prstGeom>
          <a:solidFill>
            <a:srgbClr val="212514"/>
          </a:solidFill>
          <a:ln>
            <a:noFill/>
          </a:ln>
          <a:effectLst>
            <a:glow rad="1447800">
              <a:srgbClr val="C8FF00">
                <a:alpha val="12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0C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17171C"/>
          </a:solidFill>
          <a:ln w="12700">
            <a:solidFill>
              <a:srgbClr val="17171C"/>
            </a:solidFill>
            <a:prstDash val="solid"/>
          </a:ln>
        </p:spPr>
      </p:sp>
      <p:grpSp>
        <p:nvGrpSpPr>
          <p:cNvPr id="89" name="Группа 88">
            <a:extLst>
              <a:ext uri="{FF2B5EF4-FFF2-40B4-BE49-F238E27FC236}">
                <a16:creationId xmlns:a16="http://schemas.microsoft.com/office/drawing/2014/main" id="{3883276F-AF14-45B0-8018-17960FA85AA4}"/>
              </a:ext>
            </a:extLst>
          </p:cNvPr>
          <p:cNvGrpSpPr/>
          <p:nvPr/>
        </p:nvGrpSpPr>
        <p:grpSpPr>
          <a:xfrm>
            <a:off x="2523282" y="215974"/>
            <a:ext cx="1828800" cy="362710"/>
            <a:chOff x="2567558" y="240794"/>
            <a:chExt cx="1828800" cy="362710"/>
          </a:xfrm>
        </p:grpSpPr>
        <p:sp>
          <p:nvSpPr>
            <p:cNvPr id="5" name="Shape 3"/>
            <p:cNvSpPr/>
            <p:nvPr/>
          </p:nvSpPr>
          <p:spPr>
            <a:xfrm>
              <a:off x="2567558" y="240794"/>
              <a:ext cx="1828800" cy="362710"/>
            </a:xfrm>
            <a:prstGeom prst="roundRect">
              <a:avLst>
                <a:gd name="adj" fmla="val 20000"/>
              </a:avLst>
            </a:prstGeom>
            <a:solidFill>
              <a:srgbClr val="1A2000"/>
            </a:solidFill>
            <a:ln w="12700">
              <a:solidFill>
                <a:srgbClr val="C8FF00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2567558" y="315468"/>
              <a:ext cx="18288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C8FF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EXECUTIVE SUMMARY</a:t>
              </a:r>
              <a:endParaRPr lang="en-US" sz="1100" dirty="0"/>
            </a:p>
          </p:txBody>
        </p:sp>
      </p:grpSp>
      <p:sp>
        <p:nvSpPr>
          <p:cNvPr id="7" name="Text 5"/>
          <p:cNvSpPr/>
          <p:nvPr/>
        </p:nvSpPr>
        <p:spPr>
          <a:xfrm>
            <a:off x="5430774" y="332869"/>
            <a:ext cx="65852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Гиперперсонализированная</a:t>
            </a: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витрина по жизненным ситуациям: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14773" y="675133"/>
            <a:ext cx="650938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300" b="1" i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DAU/MAU</a:t>
            </a:r>
            <a:r>
              <a:rPr lang="ru-RU" sz="1300" b="1" i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25% </a:t>
            </a:r>
            <a:r>
              <a:rPr lang="en-US" sz="1400" b="1" i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r>
              <a:rPr lang="ru-RU" sz="1300" b="1" i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38%</a:t>
            </a:r>
            <a:r>
              <a:rPr lang="en-US" sz="1300" b="1" i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×2 видимость продуктов  ·  CR в </a:t>
            </a:r>
            <a:r>
              <a:rPr lang="en-US" sz="1300" b="1" i="1" dirty="0" err="1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заявку</a:t>
            </a:r>
            <a:r>
              <a:rPr lang="ru-RU" sz="1300" b="1" i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вырастет в 2.3 раза</a:t>
            </a:r>
            <a:endParaRPr lang="en-US" sz="1300" i="1" dirty="0"/>
          </a:p>
        </p:txBody>
      </p:sp>
      <p:sp>
        <p:nvSpPr>
          <p:cNvPr id="9" name="Shape 7"/>
          <p:cNvSpPr/>
          <p:nvPr/>
        </p:nvSpPr>
        <p:spPr>
          <a:xfrm>
            <a:off x="274320" y="1280160"/>
            <a:ext cx="2743200" cy="5166360"/>
          </a:xfrm>
          <a:prstGeom prst="rect">
            <a:avLst/>
          </a:prstGeom>
          <a:solidFill>
            <a:srgbClr val="1E1E26"/>
          </a:solidFill>
          <a:ln w="12700">
            <a:solidFill>
              <a:srgbClr val="A468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280160"/>
            <a:ext cx="2743200" cy="45720"/>
          </a:xfrm>
          <a:prstGeom prst="rect">
            <a:avLst/>
          </a:prstGeom>
          <a:solidFill>
            <a:srgbClr val="A468DC"/>
          </a:solidFill>
          <a:ln w="12700">
            <a:solidFill>
              <a:srgbClr val="A468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" y="1408176"/>
            <a:ext cx="2523744" cy="237744"/>
          </a:xfrm>
          <a:prstGeom prst="rect">
            <a:avLst/>
          </a:prstGeom>
          <a:solidFill>
            <a:srgbClr val="A468DC"/>
          </a:solidFill>
          <a:ln w="12700">
            <a:solidFill>
              <a:srgbClr val="A468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1408176"/>
            <a:ext cx="2523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84048" y="1730121"/>
            <a:ext cx="25237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Витрина организована по продуктовому принципу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4048" y="2359152"/>
            <a:ext cx="2523744" cy="3913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ru-RU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на витрине </a:t>
            </a:r>
            <a:r>
              <a:rPr lang="ru-RU" sz="11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отображание</a:t>
            </a:r>
            <a:r>
              <a:rPr lang="ru-RU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работает по механике «</a:t>
            </a:r>
            <a:r>
              <a:rPr lang="en-US" sz="11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Карты</a:t>
            </a: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Кредиты / </a:t>
            </a:r>
            <a:r>
              <a:rPr lang="en-US" sz="11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Вклады</a:t>
            </a:r>
            <a:r>
              <a:rPr lang="ru-RU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»,</a:t>
            </a: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пользователь</a:t>
            </a: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вынужден думать в </a:t>
            </a:r>
            <a:r>
              <a:rPr lang="en-US" sz="11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терминах</a:t>
            </a: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банка</a:t>
            </a:r>
            <a:r>
              <a:rPr lang="ru-RU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не может </a:t>
            </a:r>
            <a:r>
              <a:rPr lang="ru-RU" sz="11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асоциировать</a:t>
            </a:r>
            <a:r>
              <a:rPr lang="ru-RU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работу приложения с </a:t>
            </a:r>
            <a:r>
              <a:rPr lang="ru-RU" sz="11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персонализацийе</a:t>
            </a:r>
            <a:r>
              <a:rPr lang="ru-RU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заботой</a:t>
            </a: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endParaRPr lang="ru-RU" sz="1100" dirty="0">
              <a:solidFill>
                <a:srgbClr val="9CA3A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just">
              <a:buNone/>
            </a:pPr>
            <a:endParaRPr lang="ru-RU" sz="1100" dirty="0">
              <a:solidFill>
                <a:srgbClr val="9CA3A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just">
              <a:buNone/>
            </a:pPr>
            <a:r>
              <a:rPr lang="ru-RU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с</a:t>
            </a:r>
            <a:r>
              <a:rPr lang="en-US" sz="11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ледствие</a:t>
            </a:r>
            <a:r>
              <a:rPr lang="ru-RU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низкая</a:t>
            </a: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видимость продуктов, слабая конверсия, </a:t>
            </a:r>
            <a:r>
              <a:rPr lang="en-US" sz="11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отсутствие</a:t>
            </a: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запоминаемости и привязанности к банку</a:t>
            </a: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ru-RU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Банк заставляет пользователя искать решение проблем, а не работает как финансовый помощник.</a:t>
            </a:r>
          </a:p>
          <a:p>
            <a:pPr marL="0" indent="0" algn="just">
              <a:buNone/>
            </a:pPr>
            <a:endParaRPr lang="ru-RU" sz="1100" dirty="0">
              <a:solidFill>
                <a:srgbClr val="9CA3A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just">
              <a:buNone/>
            </a:pPr>
            <a:r>
              <a:rPr lang="ru-RU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</a:t>
            </a:r>
            <a:r>
              <a:rPr lang="en-US" sz="11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одтверждено</a:t>
            </a: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глубинными интервью с пользователями и конкурентным </a:t>
            </a:r>
            <a:r>
              <a:rPr lang="en-US" sz="11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анализом</a:t>
            </a: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Альфа</a:t>
            </a:r>
            <a:r>
              <a:rPr lang="ru-RU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Сбер</a:t>
            </a:r>
            <a:r>
              <a:rPr lang="ru-RU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РСХБ.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182112" y="1280160"/>
            <a:ext cx="2743200" cy="5166360"/>
          </a:xfrm>
          <a:prstGeom prst="rect">
            <a:avLst/>
          </a:prstGeom>
          <a:solidFill>
            <a:srgbClr val="1E1E26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82112" y="1280160"/>
            <a:ext cx="2743200" cy="45720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91840" y="1408176"/>
            <a:ext cx="2523744" cy="237744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1408176"/>
            <a:ext cx="2523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C0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291840" y="1719072"/>
            <a:ext cx="25237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Витрина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основе анализа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жизненных ситуациях + </a:t>
            </a:r>
            <a:endParaRPr lang="ru-RU" sz="14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MCC-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триггеры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91840" y="2359152"/>
            <a:ext cx="2523744" cy="3913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Переструктурировать главный экран вокруг ситуаций: </a:t>
            </a:r>
            <a:endParaRPr lang="ru-RU" sz="1100" dirty="0">
              <a:solidFill>
                <a:srgbClr val="9CA3A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just">
              <a:buNone/>
            </a:pPr>
            <a:endParaRPr lang="ru-RU" sz="1100" dirty="0">
              <a:solidFill>
                <a:srgbClr val="9CA3A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just">
              <a:buNone/>
            </a:pPr>
            <a:r>
              <a:rPr lang="ru-RU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Быстрые действия</a:t>
            </a:r>
          </a:p>
          <a:p>
            <a:pPr marL="0" indent="0" algn="just">
              <a:buNone/>
            </a:pPr>
            <a:endParaRPr lang="ru-RU" sz="1100" dirty="0">
              <a:solidFill>
                <a:srgbClr val="9CA3A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just">
              <a:buNone/>
            </a:pPr>
            <a:r>
              <a:rPr lang="ru-RU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Актуальное</a:t>
            </a:r>
          </a:p>
          <a:p>
            <a:pPr marL="0" indent="0" algn="just">
              <a:buNone/>
            </a:pPr>
            <a:endParaRPr lang="ru-RU" sz="1100" dirty="0">
              <a:solidFill>
                <a:srgbClr val="9CA3A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just">
              <a:buNone/>
            </a:pPr>
            <a:r>
              <a:rPr lang="ru-RU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</a:t>
            </a:r>
            <a:r>
              <a:rPr lang="en-US" sz="11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Выгода</a:t>
            </a: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</a:t>
            </a:r>
            <a:r>
              <a:rPr lang="en-US" sz="11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кэшбэк</a:t>
            </a:r>
            <a:endParaRPr lang="ru-RU" sz="1100" dirty="0">
              <a:solidFill>
                <a:srgbClr val="9CA3A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just">
              <a:buNone/>
            </a:pPr>
            <a:endParaRPr lang="ru-RU" sz="1100" dirty="0">
              <a:solidFill>
                <a:srgbClr val="9CA3A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just">
              <a:buNone/>
            </a:pPr>
            <a:r>
              <a:rPr lang="ru-RU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Счета и накопления</a:t>
            </a:r>
          </a:p>
          <a:p>
            <a:pPr marL="0" indent="0" algn="just">
              <a:buNone/>
            </a:pPr>
            <a:endParaRPr lang="ru-RU" sz="1100" dirty="0">
              <a:solidFill>
                <a:srgbClr val="9CA3A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just">
              <a:buNone/>
            </a:pPr>
            <a:r>
              <a:rPr lang="en-US" sz="11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Ситуация</a:t>
            </a: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определяется через MCC-коды транзакций в реальном времени. </a:t>
            </a:r>
            <a:r>
              <a:rPr lang="ru-RU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Было принято решение использовать п</a:t>
            </a:r>
            <a:r>
              <a:rPr lang="en-US" sz="11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рогресс-бар</a:t>
            </a:r>
            <a:r>
              <a:rPr lang="ru-RU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ы</a:t>
            </a: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цели, предиктивные уведомления, </a:t>
            </a:r>
            <a:r>
              <a:rPr lang="ru-RU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подсказки и тематические предложения, б</a:t>
            </a:r>
            <a:r>
              <a:rPr lang="en-US" sz="11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ез</a:t>
            </a: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чат-ботов и суперапп-логики.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89904" y="1280160"/>
            <a:ext cx="2743200" cy="5166360"/>
          </a:xfrm>
          <a:prstGeom prst="rect">
            <a:avLst/>
          </a:prstGeom>
          <a:solidFill>
            <a:srgbClr val="1E1E26"/>
          </a:solidFill>
          <a:ln w="12700">
            <a:solidFill>
              <a:srgbClr val="A468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89904" y="1280160"/>
            <a:ext cx="2743200" cy="45720"/>
          </a:xfrm>
          <a:prstGeom prst="rect">
            <a:avLst/>
          </a:prstGeom>
          <a:solidFill>
            <a:srgbClr val="A468DC"/>
          </a:solidFill>
          <a:ln w="12700">
            <a:solidFill>
              <a:srgbClr val="A468D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99632" y="1408176"/>
            <a:ext cx="2523744" cy="237744"/>
          </a:xfrm>
          <a:prstGeom prst="rect">
            <a:avLst/>
          </a:prstGeom>
          <a:solidFill>
            <a:srgbClr val="A468DC"/>
          </a:solidFill>
          <a:ln w="12700">
            <a:solidFill>
              <a:srgbClr val="A468D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99632" y="1408176"/>
            <a:ext cx="2523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ДОКАЗАТЕЛЬСТВА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199632" y="1719072"/>
            <a:ext cx="25237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Интервью, конкурентный анализ, технический базис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199632" y="2359152"/>
            <a:ext cx="2523744" cy="3913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ru-RU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Четыре</a:t>
            </a: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глубинных интервью</a:t>
            </a:r>
            <a:r>
              <a:rPr lang="ru-RU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подтвердили</a:t>
            </a: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три ключевые гипотезы подтверждены (</a:t>
            </a:r>
            <a:r>
              <a:rPr lang="ru-RU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 прозрачности финансов, о персонализации истории для повышения конверсии, о группированию и построению приоритетов на основе ситуации, а не продуктов</a:t>
            </a: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ru-RU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опровергли две гипотезы о способах проектирования интерфейса</a:t>
            </a: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endParaRPr lang="ru-RU" sz="1100" dirty="0">
              <a:solidFill>
                <a:srgbClr val="9CA3A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just">
              <a:buNone/>
            </a:pPr>
            <a:endParaRPr lang="ru-RU" sz="1100" dirty="0">
              <a:solidFill>
                <a:srgbClr val="9CA3A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just">
              <a:buNone/>
            </a:pPr>
            <a:r>
              <a:rPr lang="en-US" sz="11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Конкурентный</a:t>
            </a: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</a:t>
            </a:r>
            <a:r>
              <a:rPr lang="ru-RU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показал, что</a:t>
            </a: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ни один банк не реализовал ситуативную </a:t>
            </a:r>
            <a:r>
              <a:rPr lang="en-US" sz="11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структуру</a:t>
            </a: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системно</a:t>
            </a:r>
            <a:r>
              <a:rPr lang="ru-RU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из чего можно сделать вывод о</a:t>
            </a: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свободн</a:t>
            </a:r>
            <a:r>
              <a:rPr lang="ru-RU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ой </a:t>
            </a:r>
            <a:r>
              <a:rPr lang="en-US" sz="11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ниш</a:t>
            </a:r>
            <a:r>
              <a:rPr lang="ru-RU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</a:t>
            </a: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MCC </a:t>
            </a:r>
            <a:r>
              <a:rPr lang="ru-RU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</a:t>
            </a: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событийная </a:t>
            </a:r>
            <a:r>
              <a:rPr lang="en-US" sz="11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обработка</a:t>
            </a: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применим</a:t>
            </a:r>
            <a:r>
              <a:rPr lang="ru-RU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ы</a:t>
            </a: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 реалиях ОТП без новых источников данных.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997696" y="1280160"/>
            <a:ext cx="2743200" cy="5166360"/>
          </a:xfrm>
          <a:prstGeom prst="rect">
            <a:avLst/>
          </a:prstGeom>
          <a:solidFill>
            <a:srgbClr val="1E1E26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997696" y="1280160"/>
            <a:ext cx="2743200" cy="45720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07424" y="1408176"/>
            <a:ext cx="2523744" cy="237744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07424" y="1408176"/>
            <a:ext cx="2523744" cy="237744"/>
          </a:xfrm>
          <a:prstGeom prst="rect">
            <a:avLst/>
          </a:prstGeom>
          <a:noFill/>
          <a:ln>
            <a:solidFill>
              <a:srgbClr val="C8FF0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9107424" y="1719072"/>
            <a:ext cx="25237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DAU/MAU до 38%, CLV +</a:t>
            </a:r>
            <a:r>
              <a:rPr lang="ru-RU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20-30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за 3 года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107424" y="2359152"/>
            <a:ext cx="2523744" cy="3913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DAU/MAU: ~25% → ~38% (</a:t>
            </a:r>
            <a:r>
              <a:rPr lang="en-US" sz="11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бенчмарк</a:t>
            </a: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Сбербанка с переоценкой для более реалистичного прогнозирования).</a:t>
            </a:r>
          </a:p>
          <a:p>
            <a:pPr marL="0" indent="0" algn="just">
              <a:buNone/>
            </a:pPr>
            <a:endParaRPr lang="ru-RU" sz="1100" dirty="0">
              <a:solidFill>
                <a:srgbClr val="9CA3A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just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Discovery Rate по кредитам: 12% → 30</a:t>
            </a:r>
            <a:r>
              <a:rPr lang="ru-RU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-40</a:t>
            </a: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r>
              <a:rPr lang="ru-RU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(х3 раза).</a:t>
            </a:r>
          </a:p>
          <a:p>
            <a:pPr marL="0" indent="0" algn="just">
              <a:buNone/>
            </a:pPr>
            <a:endParaRPr lang="ru-RU" sz="1100" dirty="0">
              <a:solidFill>
                <a:srgbClr val="9CA3A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just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 из показа в заявку: 1–2% → 3–4%. </a:t>
            </a:r>
            <a:endParaRPr lang="ru-RU" sz="1100" dirty="0">
              <a:solidFill>
                <a:srgbClr val="9CA3A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just">
              <a:buNone/>
            </a:pPr>
            <a:endParaRPr lang="ru-RU" sz="1100" dirty="0">
              <a:solidFill>
                <a:srgbClr val="9CA3A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just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Rate: 28% → 22%. </a:t>
            </a:r>
            <a:endParaRPr lang="ru-RU" sz="1100" dirty="0">
              <a:solidFill>
                <a:srgbClr val="9CA3A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just">
              <a:buNone/>
            </a:pPr>
            <a:endParaRPr lang="ru-RU" sz="1100" dirty="0">
              <a:solidFill>
                <a:srgbClr val="9CA3A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just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CLV за 3 года: ~127</a:t>
            </a:r>
            <a:r>
              <a:rPr lang="ru-RU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032</a:t>
            </a:r>
            <a:r>
              <a:rPr lang="ru-RU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₽ → ~158</a:t>
            </a:r>
            <a:r>
              <a:rPr lang="ru-RU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761 ₽ (+</a:t>
            </a:r>
            <a:r>
              <a:rPr lang="ru-RU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%). </a:t>
            </a:r>
            <a:endParaRPr lang="ru-RU" sz="1100" dirty="0">
              <a:solidFill>
                <a:srgbClr val="9CA3A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just">
              <a:buNone/>
            </a:pPr>
            <a:endParaRPr lang="ru-RU" sz="1100" dirty="0">
              <a:solidFill>
                <a:srgbClr val="9CA3A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just">
              <a:buNone/>
            </a:pPr>
            <a:r>
              <a:rPr lang="en-US" sz="11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Снижение</a:t>
            </a: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Churn</a:t>
            </a:r>
            <a:r>
              <a:rPr lang="ru-RU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(оттока)</a:t>
            </a: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на 6 </a:t>
            </a:r>
            <a:r>
              <a:rPr lang="ru-RU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приведёт к</a:t>
            </a: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экономи</a:t>
            </a:r>
            <a:r>
              <a:rPr lang="ru-RU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</a:t>
            </a: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на привлечении новых клиентов.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111118"/>
          </a:solidFill>
          <a:ln w="12700">
            <a:solidFill>
              <a:srgbClr val="11111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64592" y="6574536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Обложка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645920" y="6574536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Итого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645920" y="6547104"/>
            <a:ext cx="1389888" cy="27432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127248" y="6574536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608576" y="6574536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089904" y="6574536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Сценарии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571232" y="6574536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Механики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9052560" y="6574536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0533888" y="6574536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1521440" y="657453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800" dirty="0"/>
          </a:p>
        </p:txBody>
      </p:sp>
      <p:grpSp>
        <p:nvGrpSpPr>
          <p:cNvPr id="47" name="Группа 46">
            <a:extLst>
              <a:ext uri="{FF2B5EF4-FFF2-40B4-BE49-F238E27FC236}">
                <a16:creationId xmlns:a16="http://schemas.microsoft.com/office/drawing/2014/main" id="{FA505273-033B-4CE1-A92D-0078FAE4271F}"/>
              </a:ext>
            </a:extLst>
          </p:cNvPr>
          <p:cNvGrpSpPr/>
          <p:nvPr/>
        </p:nvGrpSpPr>
        <p:grpSpPr>
          <a:xfrm>
            <a:off x="164592" y="129160"/>
            <a:ext cx="2238374" cy="568833"/>
            <a:chOff x="402336" y="115760"/>
            <a:chExt cx="2238374" cy="568833"/>
          </a:xfrm>
        </p:grpSpPr>
        <p:sp>
          <p:nvSpPr>
            <p:cNvPr id="48" name="Прямоугольник 47">
              <a:extLst>
                <a:ext uri="{FF2B5EF4-FFF2-40B4-BE49-F238E27FC236}">
                  <a16:creationId xmlns:a16="http://schemas.microsoft.com/office/drawing/2014/main" id="{789961B6-CE40-432D-A79B-EE06ED66485C}"/>
                </a:ext>
              </a:extLst>
            </p:cNvPr>
            <p:cNvSpPr/>
            <p:nvPr/>
          </p:nvSpPr>
          <p:spPr>
            <a:xfrm>
              <a:off x="402336" y="115760"/>
              <a:ext cx="2238374" cy="568833"/>
            </a:xfrm>
            <a:prstGeom prst="rect">
              <a:avLst/>
            </a:prstGeom>
            <a:solidFill>
              <a:srgbClr val="C8FF00"/>
            </a:solidFill>
            <a:ln>
              <a:noFill/>
            </a:ln>
            <a:effectLst>
              <a:softEdge rad="1651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49" name="Рисунок 48">
              <a:extLst>
                <a:ext uri="{FF2B5EF4-FFF2-40B4-BE49-F238E27FC236}">
                  <a16:creationId xmlns:a16="http://schemas.microsoft.com/office/drawing/2014/main" id="{049F0D84-B650-444E-BA31-2BCA9E25E4F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35628" y="256365"/>
              <a:ext cx="1271588" cy="255128"/>
            </a:xfrm>
            <a:prstGeom prst="rect">
              <a:avLst/>
            </a:prstGeom>
          </p:spPr>
        </p:pic>
      </p:grpSp>
      <p:sp>
        <p:nvSpPr>
          <p:cNvPr id="50" name="Звезда: 4 точки 49">
            <a:extLst>
              <a:ext uri="{FF2B5EF4-FFF2-40B4-BE49-F238E27FC236}">
                <a16:creationId xmlns:a16="http://schemas.microsoft.com/office/drawing/2014/main" id="{2AB296B8-FDFD-4077-9D17-97AB3235E614}"/>
              </a:ext>
            </a:extLst>
          </p:cNvPr>
          <p:cNvSpPr/>
          <p:nvPr/>
        </p:nvSpPr>
        <p:spPr>
          <a:xfrm>
            <a:off x="1582658" y="2324481"/>
            <a:ext cx="128588" cy="118872"/>
          </a:xfrm>
          <a:prstGeom prst="star4">
            <a:avLst/>
          </a:prstGeom>
          <a:solidFill>
            <a:schemeClr val="bg1"/>
          </a:solidFill>
          <a:ln>
            <a:solidFill>
              <a:srgbClr val="A468DC"/>
            </a:solidFill>
          </a:ln>
          <a:effectLst>
            <a:glow rad="749300">
              <a:srgbClr val="A468DC">
                <a:alpha val="8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Звезда: 4 точки 51">
            <a:extLst>
              <a:ext uri="{FF2B5EF4-FFF2-40B4-BE49-F238E27FC236}">
                <a16:creationId xmlns:a16="http://schemas.microsoft.com/office/drawing/2014/main" id="{5E15F55A-24C7-431E-A990-921F27ADBB7C}"/>
              </a:ext>
            </a:extLst>
          </p:cNvPr>
          <p:cNvSpPr/>
          <p:nvPr/>
        </p:nvSpPr>
        <p:spPr>
          <a:xfrm>
            <a:off x="7397210" y="2359152"/>
            <a:ext cx="128588" cy="118872"/>
          </a:xfrm>
          <a:prstGeom prst="star4">
            <a:avLst/>
          </a:prstGeom>
          <a:solidFill>
            <a:schemeClr val="bg1"/>
          </a:solidFill>
          <a:ln>
            <a:solidFill>
              <a:srgbClr val="A468DC"/>
            </a:solidFill>
          </a:ln>
          <a:effectLst>
            <a:glow rad="749300">
              <a:srgbClr val="A468DC">
                <a:alpha val="8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3" name="Звезда: 4 точки 52">
            <a:extLst>
              <a:ext uri="{FF2B5EF4-FFF2-40B4-BE49-F238E27FC236}">
                <a16:creationId xmlns:a16="http://schemas.microsoft.com/office/drawing/2014/main" id="{A52B566E-8D5E-4684-BA3E-DD9B877E4673}"/>
              </a:ext>
            </a:extLst>
          </p:cNvPr>
          <p:cNvSpPr/>
          <p:nvPr/>
        </p:nvSpPr>
        <p:spPr>
          <a:xfrm>
            <a:off x="4452842" y="2540107"/>
            <a:ext cx="128588" cy="118872"/>
          </a:xfrm>
          <a:prstGeom prst="star4">
            <a:avLst/>
          </a:prstGeom>
          <a:solidFill>
            <a:schemeClr val="bg1"/>
          </a:solidFill>
          <a:ln>
            <a:solidFill>
              <a:srgbClr val="C8FF00"/>
            </a:solidFill>
          </a:ln>
          <a:effectLst>
            <a:glow rad="749300">
              <a:srgbClr val="C8FF00">
                <a:alpha val="8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4" name="Звезда: 4 точки 53">
            <a:extLst>
              <a:ext uri="{FF2B5EF4-FFF2-40B4-BE49-F238E27FC236}">
                <a16:creationId xmlns:a16="http://schemas.microsoft.com/office/drawing/2014/main" id="{F7E6EC7E-55F7-4733-B650-0E2F7C18CB0B}"/>
              </a:ext>
            </a:extLst>
          </p:cNvPr>
          <p:cNvSpPr/>
          <p:nvPr/>
        </p:nvSpPr>
        <p:spPr>
          <a:xfrm>
            <a:off x="10297497" y="2540107"/>
            <a:ext cx="128588" cy="118872"/>
          </a:xfrm>
          <a:prstGeom prst="star4">
            <a:avLst/>
          </a:prstGeom>
          <a:solidFill>
            <a:schemeClr val="bg1"/>
          </a:solidFill>
          <a:ln>
            <a:solidFill>
              <a:srgbClr val="C8FF00"/>
            </a:solidFill>
          </a:ln>
          <a:effectLst>
            <a:glow rad="749300">
              <a:srgbClr val="C8FF00">
                <a:alpha val="8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5" name="Равнобедренный треугольник 54">
            <a:extLst>
              <a:ext uri="{FF2B5EF4-FFF2-40B4-BE49-F238E27FC236}">
                <a16:creationId xmlns:a16="http://schemas.microsoft.com/office/drawing/2014/main" id="{EC09CD58-2EBB-4B44-963A-2B7191B42C90}"/>
              </a:ext>
            </a:extLst>
          </p:cNvPr>
          <p:cNvSpPr/>
          <p:nvPr/>
        </p:nvSpPr>
        <p:spPr>
          <a:xfrm flipV="1">
            <a:off x="4326794" y="3545158"/>
            <a:ext cx="355253" cy="76200"/>
          </a:xfrm>
          <a:prstGeom prst="triangle">
            <a:avLst>
              <a:gd name="adj" fmla="val 66593"/>
            </a:avLst>
          </a:prstGeom>
          <a:solidFill>
            <a:srgbClr val="1E1E26">
              <a:alpha val="31000"/>
            </a:srgbClr>
          </a:solidFill>
          <a:ln>
            <a:solidFill>
              <a:srgbClr val="C8FF00">
                <a:alpha val="23000"/>
              </a:srgb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6" name="Равнобедренный треугольник 55">
            <a:extLst>
              <a:ext uri="{FF2B5EF4-FFF2-40B4-BE49-F238E27FC236}">
                <a16:creationId xmlns:a16="http://schemas.microsoft.com/office/drawing/2014/main" id="{EB0A01C6-377F-4734-A533-4373B76A15F9}"/>
              </a:ext>
            </a:extLst>
          </p:cNvPr>
          <p:cNvSpPr/>
          <p:nvPr/>
        </p:nvSpPr>
        <p:spPr>
          <a:xfrm flipV="1">
            <a:off x="4326794" y="3854904"/>
            <a:ext cx="299943" cy="129786"/>
          </a:xfrm>
          <a:prstGeom prst="triangle">
            <a:avLst/>
          </a:prstGeom>
          <a:solidFill>
            <a:srgbClr val="1E1E26">
              <a:alpha val="31000"/>
            </a:srgbClr>
          </a:solidFill>
          <a:ln>
            <a:solidFill>
              <a:srgbClr val="C8FF00">
                <a:alpha val="23000"/>
              </a:srgb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7" name="Равнобедренный треугольник 56">
            <a:extLst>
              <a:ext uri="{FF2B5EF4-FFF2-40B4-BE49-F238E27FC236}">
                <a16:creationId xmlns:a16="http://schemas.microsoft.com/office/drawing/2014/main" id="{E3459BD5-191C-4880-B8A7-E91D8AE6C22B}"/>
              </a:ext>
            </a:extLst>
          </p:cNvPr>
          <p:cNvSpPr/>
          <p:nvPr/>
        </p:nvSpPr>
        <p:spPr>
          <a:xfrm flipV="1">
            <a:off x="4367164" y="4224916"/>
            <a:ext cx="299943" cy="76200"/>
          </a:xfrm>
          <a:prstGeom prst="triangle">
            <a:avLst>
              <a:gd name="adj" fmla="val 25265"/>
            </a:avLst>
          </a:prstGeom>
          <a:solidFill>
            <a:srgbClr val="1E1E26">
              <a:alpha val="31000"/>
            </a:srgbClr>
          </a:solidFill>
          <a:ln>
            <a:solidFill>
              <a:srgbClr val="C8FF00">
                <a:alpha val="23000"/>
              </a:srgb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C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41248"/>
          </a:xfrm>
          <a:prstGeom prst="rect">
            <a:avLst/>
          </a:prstGeom>
          <a:solidFill>
            <a:srgbClr val="17171C"/>
          </a:solidFill>
          <a:ln w="12700">
            <a:solidFill>
              <a:srgbClr val="17171C"/>
            </a:solidFill>
            <a:prstDash val="solid"/>
          </a:ln>
        </p:spPr>
      </p:sp>
      <p:grpSp>
        <p:nvGrpSpPr>
          <p:cNvPr id="91" name="Группа 90">
            <a:extLst>
              <a:ext uri="{FF2B5EF4-FFF2-40B4-BE49-F238E27FC236}">
                <a16:creationId xmlns:a16="http://schemas.microsoft.com/office/drawing/2014/main" id="{A360FBBD-A4A3-4B03-9358-1BD419149FE7}"/>
              </a:ext>
            </a:extLst>
          </p:cNvPr>
          <p:cNvGrpSpPr/>
          <p:nvPr/>
        </p:nvGrpSpPr>
        <p:grpSpPr>
          <a:xfrm>
            <a:off x="2136808" y="149377"/>
            <a:ext cx="1868264" cy="323889"/>
            <a:chOff x="2301400" y="172533"/>
            <a:chExt cx="1868264" cy="312099"/>
          </a:xfrm>
        </p:grpSpPr>
        <p:sp>
          <p:nvSpPr>
            <p:cNvPr id="5" name="Shape 3"/>
            <p:cNvSpPr/>
            <p:nvPr/>
          </p:nvSpPr>
          <p:spPr>
            <a:xfrm>
              <a:off x="2340864" y="172533"/>
              <a:ext cx="1828800" cy="312099"/>
            </a:xfrm>
            <a:prstGeom prst="roundRect">
              <a:avLst>
                <a:gd name="adj" fmla="val 20000"/>
              </a:avLst>
            </a:prstGeom>
            <a:solidFill>
              <a:srgbClr val="1E1E26"/>
            </a:solidFill>
            <a:ln w="12700">
              <a:solidFill>
                <a:srgbClr val="A468DC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2301400" y="172533"/>
              <a:ext cx="1828800" cy="31209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A468D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ПРОБЛЕМА / AS-IS</a:t>
              </a:r>
              <a:endParaRPr lang="en-US" sz="1100" dirty="0">
                <a:solidFill>
                  <a:srgbClr val="A468DC"/>
                </a:solidFill>
              </a:endParaRPr>
            </a:p>
          </p:txBody>
        </p:sp>
      </p:grpSp>
      <p:sp>
        <p:nvSpPr>
          <p:cNvPr id="7" name="Text 5"/>
          <p:cNvSpPr/>
          <p:nvPr/>
        </p:nvSpPr>
        <p:spPr>
          <a:xfrm>
            <a:off x="5806440" y="168923"/>
            <a:ext cx="6263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Текущая витрина не отвечает на вопрос </a:t>
            </a:r>
            <a:r>
              <a:rPr lang="en-US" sz="1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«что мне </a:t>
            </a:r>
            <a:r>
              <a:rPr lang="ru-RU" sz="1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нужно</a:t>
            </a:r>
            <a:r>
              <a:rPr lang="en-US" sz="1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сейчас?»</a:t>
            </a:r>
            <a:r>
              <a:rPr lang="ru-RU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это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подтверждают и конкуренты, и сами пользователи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10897" y="1055116"/>
            <a:ext cx="45719" cy="274320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76272" y="923544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AS-IS</a:t>
            </a:r>
            <a:endParaRPr lang="en-US" sz="1100" i="1" dirty="0"/>
          </a:p>
        </p:txBody>
      </p:sp>
      <p:sp>
        <p:nvSpPr>
          <p:cNvPr id="10" name="Shape 8"/>
          <p:cNvSpPr/>
          <p:nvPr/>
        </p:nvSpPr>
        <p:spPr>
          <a:xfrm>
            <a:off x="320040" y="1463040"/>
            <a:ext cx="987552" cy="685800"/>
          </a:xfrm>
          <a:prstGeom prst="rect">
            <a:avLst/>
          </a:prstGeom>
          <a:solidFill>
            <a:srgbClr val="1E1E26"/>
          </a:solidFill>
          <a:ln w="12700">
            <a:solidFill>
              <a:srgbClr val="A468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280160"/>
            <a:ext cx="987552" cy="45720"/>
          </a:xfrm>
          <a:prstGeom prst="rect">
            <a:avLst/>
          </a:prstGeom>
          <a:solidFill>
            <a:srgbClr val="A468DC"/>
          </a:solidFill>
          <a:ln w="12700">
            <a:solidFill>
              <a:srgbClr val="A468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481328"/>
            <a:ext cx="987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Карты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399032" y="1463040"/>
            <a:ext cx="987552" cy="685800"/>
          </a:xfrm>
          <a:prstGeom prst="rect">
            <a:avLst/>
          </a:prstGeom>
          <a:solidFill>
            <a:srgbClr val="1E1E26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99032" y="1280160"/>
            <a:ext cx="987552" cy="45720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99032" y="1481328"/>
            <a:ext cx="987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Платежи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478024" y="1463040"/>
            <a:ext cx="987552" cy="685800"/>
          </a:xfrm>
          <a:prstGeom prst="rect">
            <a:avLst/>
          </a:prstGeom>
          <a:solidFill>
            <a:srgbClr val="1E1E26"/>
          </a:solidFill>
          <a:ln w="12700">
            <a:solidFill>
              <a:srgbClr val="A468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78024" y="1280160"/>
            <a:ext cx="987552" cy="45720"/>
          </a:xfrm>
          <a:prstGeom prst="rect">
            <a:avLst/>
          </a:prstGeom>
          <a:solidFill>
            <a:srgbClr val="A468DC"/>
          </a:solidFill>
          <a:ln w="12700">
            <a:solidFill>
              <a:srgbClr val="A468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78024" y="1481328"/>
            <a:ext cx="987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Кредиты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557016" y="1463040"/>
            <a:ext cx="987552" cy="685800"/>
          </a:xfrm>
          <a:prstGeom prst="rect">
            <a:avLst/>
          </a:prstGeom>
          <a:solidFill>
            <a:srgbClr val="1E1E26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57016" y="1280160"/>
            <a:ext cx="987552" cy="45720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57016" y="1481328"/>
            <a:ext cx="987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Вклады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36008" y="1463040"/>
            <a:ext cx="987552" cy="685800"/>
          </a:xfrm>
          <a:prstGeom prst="rect">
            <a:avLst/>
          </a:prstGeom>
          <a:solidFill>
            <a:srgbClr val="1E1E26"/>
          </a:solidFill>
          <a:ln w="12700">
            <a:solidFill>
              <a:srgbClr val="A468D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36008" y="1280160"/>
            <a:ext cx="987552" cy="45720"/>
          </a:xfrm>
          <a:prstGeom prst="rect">
            <a:avLst/>
          </a:prstGeom>
          <a:solidFill>
            <a:srgbClr val="A468DC"/>
          </a:solidFill>
          <a:ln w="12700">
            <a:solidFill>
              <a:srgbClr val="A468D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36008" y="1481328"/>
            <a:ext cx="987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Инвестиции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2267712"/>
            <a:ext cx="5440680" cy="822960"/>
          </a:xfrm>
          <a:prstGeom prst="rect">
            <a:avLst/>
          </a:prstGeom>
          <a:solidFill>
            <a:srgbClr val="24281A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2286000"/>
            <a:ext cx="5257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05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проблема в разрыве между языком банка и языком клиента.</a:t>
            </a:r>
            <a:endParaRPr lang="en-US" sz="1050" dirty="0">
              <a:solidFill>
                <a:srgbClr val="C8FF00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411480" y="2514600"/>
            <a:ext cx="5257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 думает</a:t>
            </a:r>
            <a:r>
              <a:rPr lang="ru-RU" sz="1000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ситуациями</a:t>
            </a:r>
            <a:r>
              <a:rPr lang="en-US" sz="1000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«коплю на </a:t>
            </a:r>
            <a:r>
              <a:rPr lang="en-US" sz="1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отпуск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», «делаю </a:t>
            </a:r>
            <a:r>
              <a:rPr lang="en-US" sz="1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ремонт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», «плачу за квартиру»</a:t>
            </a:r>
            <a:endParaRPr lang="en-US" sz="1000" dirty="0"/>
          </a:p>
          <a:p>
            <a:pPr marL="0" indent="0">
              <a:buNone/>
            </a:pPr>
            <a:r>
              <a:rPr lang="ru-RU" sz="1000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 б</a:t>
            </a:r>
            <a:r>
              <a:rPr lang="en-US" sz="1000" dirty="0" err="1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анк</a:t>
            </a:r>
            <a:r>
              <a:rPr lang="en-US" sz="1000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000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всегда </a:t>
            </a:r>
            <a:r>
              <a:rPr lang="en-US" sz="1000" dirty="0" err="1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показывает</a:t>
            </a:r>
            <a:r>
              <a:rPr lang="ru-RU" sz="1000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000" dirty="0" err="1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собсвтенные</a:t>
            </a:r>
            <a:r>
              <a:rPr lang="ru-RU" sz="1000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000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«Вклады», «Кредиты», «</a:t>
            </a:r>
            <a:r>
              <a:rPr lang="en-US" sz="1000" dirty="0" err="1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Платежи</a:t>
            </a:r>
            <a:r>
              <a:rPr lang="en-US" sz="1000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</a:t>
            </a:r>
            <a:r>
              <a:rPr lang="ru-RU" sz="1000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>
              <a:solidFill>
                <a:srgbClr val="C8FF00"/>
              </a:solidFill>
            </a:endParaRPr>
          </a:p>
        </p:txBody>
      </p:sp>
      <p:sp>
        <p:nvSpPr>
          <p:cNvPr id="28" name="Shape 26"/>
          <p:cNvSpPr/>
          <p:nvPr/>
        </p:nvSpPr>
        <p:spPr>
          <a:xfrm>
            <a:off x="320040" y="3218688"/>
            <a:ext cx="36576" cy="195580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3161792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Конкурентный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" y="3511296"/>
            <a:ext cx="5440680" cy="647192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31" name="Shape 29"/>
          <p:cNvSpPr/>
          <p:nvPr/>
        </p:nvSpPr>
        <p:spPr>
          <a:xfrm>
            <a:off x="320039" y="3511296"/>
            <a:ext cx="45719" cy="647192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352958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Альфабанк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11480" y="3803904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Хорошая геймификация, категории транзакций, быстрые переводы, но витрина все равно структурирована по продуктовой логике, </a:t>
            </a:r>
            <a:r>
              <a:rPr lang="ru-RU" sz="10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офферы</a:t>
            </a:r>
            <a:r>
              <a:rPr lang="ru-RU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слабо привязаны к контексту клиента.</a:t>
            </a:r>
          </a:p>
        </p:txBody>
      </p:sp>
      <p:sp>
        <p:nvSpPr>
          <p:cNvPr id="34" name="Shape 32"/>
          <p:cNvSpPr/>
          <p:nvPr/>
        </p:nvSpPr>
        <p:spPr>
          <a:xfrm>
            <a:off x="320040" y="4197096"/>
            <a:ext cx="5440680" cy="647192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39" y="4197096"/>
            <a:ext cx="45719" cy="640080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21538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Сбербанк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4498848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Лучшая персонализация, прогресс-бары, сегментация по профилям, НО н</a:t>
            </a:r>
            <a:r>
              <a:rPr lang="en-US" sz="10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есистемно</a:t>
            </a: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ru-RU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стало супер-</a:t>
            </a:r>
            <a:r>
              <a:rPr lang="ru-RU" sz="10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апп</a:t>
            </a:r>
            <a:r>
              <a:rPr lang="ru-RU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ru-RU" sz="10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перегруженно</a:t>
            </a: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0040" y="4882896"/>
            <a:ext cx="5440680" cy="530352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0039" y="4882896"/>
            <a:ext cx="45719" cy="530352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90118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РСХБ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57200" y="5157216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Хорошая п</a:t>
            </a:r>
            <a:r>
              <a:rPr lang="en-US" sz="10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родуктовая</a:t>
            </a: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логика</a:t>
            </a:r>
            <a:r>
              <a:rPr lang="ru-RU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но н</a:t>
            </a:r>
            <a:r>
              <a:rPr lang="en-US" sz="10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икакой</a:t>
            </a: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контекстной витрины.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20040" y="5532120"/>
            <a:ext cx="5440680" cy="329184"/>
          </a:xfrm>
          <a:prstGeom prst="rect">
            <a:avLst/>
          </a:prstGeom>
          <a:solidFill>
            <a:srgbClr val="1A20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1480" y="5550408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Ни один конкурент не реализовал ситуативную структуру системно. Это свободная ниша.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108673" y="978889"/>
            <a:ext cx="36576" cy="195580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00113" y="942313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 исследования (</a:t>
            </a:r>
            <a:r>
              <a:rPr lang="ru-RU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интервью)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075947" y="1303044"/>
            <a:ext cx="5760720" cy="896112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94235" y="1399056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2800" dirty="0"/>
          </a:p>
        </p:txBody>
      </p:sp>
      <p:sp>
        <p:nvSpPr>
          <p:cNvPr id="48" name="Text 46"/>
          <p:cNvSpPr/>
          <p:nvPr/>
        </p:nvSpPr>
        <p:spPr>
          <a:xfrm>
            <a:off x="6304547" y="1450311"/>
            <a:ext cx="5394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</a:t>
            </a:r>
            <a:r>
              <a:rPr lang="ru-RU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Хотелось бы видеть какие-нибудь статусы работы сервисов, потому что никак нельзя понять, что доступно, что - нет.</a:t>
            </a: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299734" y="1956599"/>
            <a:ext cx="5394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Пользователь 1, </a:t>
            </a:r>
            <a:r>
              <a:rPr lang="ru-RU" sz="800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</a:t>
            </a:r>
            <a:r>
              <a:rPr lang="en-US" sz="800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лет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075947" y="2308884"/>
            <a:ext cx="5760720" cy="896112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12523" y="2415965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2800" dirty="0"/>
          </a:p>
        </p:txBody>
      </p:sp>
      <p:sp>
        <p:nvSpPr>
          <p:cNvPr id="52" name="Text 50"/>
          <p:cNvSpPr/>
          <p:nvPr/>
        </p:nvSpPr>
        <p:spPr>
          <a:xfrm>
            <a:off x="6304547" y="2486951"/>
            <a:ext cx="5394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</a:t>
            </a:r>
            <a:r>
              <a:rPr lang="ru-RU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Чаще всего захожу в приложение для оплаты ЖКУ, переводов денег, для оплаты услуг или товаров, … , было бы неудобно, если привычные действия перенесут в другое место.</a:t>
            </a: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304547" y="2971824"/>
            <a:ext cx="5394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Пользователь 2, 35 лет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075947" y="3314724"/>
            <a:ext cx="5760720" cy="1005840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092310" y="3440147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2800" dirty="0"/>
          </a:p>
        </p:txBody>
      </p:sp>
      <p:sp>
        <p:nvSpPr>
          <p:cNvPr id="56" name="Text 54"/>
          <p:cNvSpPr/>
          <p:nvPr/>
        </p:nvSpPr>
        <p:spPr>
          <a:xfrm>
            <a:off x="6335027" y="3510622"/>
            <a:ext cx="5394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</a:t>
            </a:r>
            <a:r>
              <a:rPr lang="ru-RU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Удобнее видеть меньше кнопок и иметь быстрый доступ только к тем функциям, которые нужны мне, которые часто использую, а не искать по всему экрану. Хотелось бы видеть напоминания о платежах, о накоплениях, предложения о возможностях на основе того, чем я часто пользуюсь.</a:t>
            </a: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304547" y="4102117"/>
            <a:ext cx="1586243" cy="2357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Пользователь 3, </a:t>
            </a:r>
            <a:r>
              <a:rPr lang="ru-RU" sz="800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лет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080760" y="4443984"/>
            <a:ext cx="36576" cy="195580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172200" y="4407408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Подтверждённые гипотезы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6080760" y="4676140"/>
            <a:ext cx="5760720" cy="609092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071617" y="4676140"/>
            <a:ext cx="45719" cy="609092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172582" y="4688279"/>
            <a:ext cx="292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6469761" y="4690198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Гипотеза ценности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6458712" y="4956089"/>
            <a:ext cx="5212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000" i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Пользователи группируют потребности по жизненным ситуациям. </a:t>
            </a:r>
            <a:r>
              <a:rPr lang="en-US" sz="1000" i="1" dirty="0" err="1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Ситуативная</a:t>
            </a:r>
            <a:r>
              <a:rPr lang="en-US" sz="1000" i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группировка </a:t>
            </a:r>
            <a:r>
              <a:rPr lang="en-US" sz="1000" i="1" dirty="0" err="1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повышает</a:t>
            </a:r>
            <a:r>
              <a:rPr lang="en-US" sz="1000" i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скорость</a:t>
            </a:r>
            <a:r>
              <a:rPr lang="en-US" sz="1000" i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нахождения</a:t>
            </a:r>
            <a:r>
              <a:rPr lang="en-US" sz="1000" i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продукта</a:t>
            </a:r>
            <a:r>
              <a:rPr lang="ru-RU" sz="1000" i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его востребованность.</a:t>
            </a:r>
            <a:endParaRPr lang="en-US" sz="1000" i="1" dirty="0">
              <a:solidFill>
                <a:srgbClr val="C8FF00"/>
              </a:solidFill>
            </a:endParaRPr>
          </a:p>
        </p:txBody>
      </p:sp>
      <p:sp>
        <p:nvSpPr>
          <p:cNvPr id="65" name="Shape 63"/>
          <p:cNvSpPr/>
          <p:nvPr/>
        </p:nvSpPr>
        <p:spPr>
          <a:xfrm>
            <a:off x="6080760" y="5321808"/>
            <a:ext cx="5760720" cy="585216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071617" y="5321808"/>
            <a:ext cx="45719" cy="585216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164580" y="5321808"/>
            <a:ext cx="292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8" name="Text 66"/>
          <p:cNvSpPr/>
          <p:nvPr/>
        </p:nvSpPr>
        <p:spPr>
          <a:xfrm>
            <a:off x="6492240" y="5336350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Гипотеза прозрачности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6492240" y="5596128"/>
            <a:ext cx="5212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Прогресс-бары и симулятор кредита снижают страх перед </a:t>
            </a:r>
            <a:r>
              <a:rPr lang="en-US" sz="1000" i="1" dirty="0" err="1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финансовыми</a:t>
            </a:r>
            <a:r>
              <a:rPr lang="en-US" sz="1000" i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продуктами</a:t>
            </a:r>
            <a:r>
              <a:rPr lang="ru-RU" sz="1000" i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к тому же нужно ввести индикаторы работоспособности/доступности функций.</a:t>
            </a:r>
            <a:endParaRPr lang="en-US" sz="1000" i="1" dirty="0">
              <a:solidFill>
                <a:srgbClr val="C8FF00"/>
              </a:solidFill>
            </a:endParaRPr>
          </a:p>
        </p:txBody>
      </p:sp>
      <p:sp>
        <p:nvSpPr>
          <p:cNvPr id="70" name="Shape 68"/>
          <p:cNvSpPr/>
          <p:nvPr/>
        </p:nvSpPr>
        <p:spPr>
          <a:xfrm>
            <a:off x="6080760" y="5948363"/>
            <a:ext cx="5760720" cy="580453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071617" y="5948363"/>
            <a:ext cx="45719" cy="580453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172582" y="5941007"/>
            <a:ext cx="292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3" name="Text 71"/>
          <p:cNvSpPr/>
          <p:nvPr/>
        </p:nvSpPr>
        <p:spPr>
          <a:xfrm>
            <a:off x="6492240" y="5983762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Гипотеза бесшовности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6492240" y="6217920"/>
            <a:ext cx="5212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 тап до </a:t>
            </a:r>
            <a:r>
              <a:rPr lang="en-US" sz="1000" i="1" dirty="0" err="1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целевого</a:t>
            </a:r>
            <a:r>
              <a:rPr lang="en-US" sz="1000" i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действия</a:t>
            </a:r>
            <a:r>
              <a:rPr lang="en-US" sz="1000" i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критически важен для </a:t>
            </a:r>
            <a:r>
              <a:rPr lang="en-US" sz="1000" i="1" dirty="0" err="1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ежедневных</a:t>
            </a:r>
            <a:r>
              <a:rPr lang="en-US" sz="1000" i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сценариев</a:t>
            </a:r>
            <a:r>
              <a:rPr lang="ru-RU" sz="1000" i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i="1" dirty="0">
              <a:solidFill>
                <a:srgbClr val="C8FF00"/>
              </a:solidFill>
            </a:endParaRPr>
          </a:p>
        </p:txBody>
      </p:sp>
      <p:sp>
        <p:nvSpPr>
          <p:cNvPr id="75" name="Shape 73"/>
          <p:cNvSpPr/>
          <p:nvPr/>
        </p:nvSpPr>
        <p:spPr>
          <a:xfrm>
            <a:off x="320040" y="6053328"/>
            <a:ext cx="5486400" cy="274320"/>
          </a:xfrm>
          <a:prstGeom prst="rect">
            <a:avLst/>
          </a:prstGeom>
          <a:solidFill>
            <a:srgbClr val="1A20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57200" y="6071616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 err="1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</a:t>
            </a:r>
            <a:r>
              <a:rPr lang="en-US" sz="85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850" b="1" dirty="0" err="1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Пользователи</a:t>
            </a:r>
            <a:r>
              <a:rPr lang="en-US" sz="85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85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хотят видеть реализацию витрины по </a:t>
            </a:r>
            <a:r>
              <a:rPr lang="en-US" sz="850" b="1" dirty="0" err="1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ситуациям</a:t>
            </a:r>
            <a:r>
              <a:rPr lang="ru-RU" sz="85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а</a:t>
            </a:r>
            <a:r>
              <a:rPr lang="en-US" sz="85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банку </a:t>
            </a:r>
            <a:r>
              <a:rPr lang="en-US" sz="850" b="1" dirty="0" err="1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нужно</a:t>
            </a:r>
            <a:r>
              <a:rPr lang="en-US" sz="85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85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подстроиться под удобство и контекст пользователя</a:t>
            </a:r>
            <a:r>
              <a:rPr lang="en-US" sz="85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111118"/>
          </a:solidFill>
          <a:ln w="12700">
            <a:solidFill>
              <a:srgbClr val="11111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64592" y="6574536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Обложка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1645920" y="6574536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Итого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3127248" y="6574536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3127248" y="6547104"/>
            <a:ext cx="1389888" cy="27432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608576" y="6574536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6089904" y="6574536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Сценарии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7571232" y="6574536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Механики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9052560" y="6574536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10533888" y="6574536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11521440" y="657453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800" dirty="0"/>
          </a:p>
        </p:txBody>
      </p:sp>
      <p:grpSp>
        <p:nvGrpSpPr>
          <p:cNvPr id="88" name="Группа 87">
            <a:extLst>
              <a:ext uri="{FF2B5EF4-FFF2-40B4-BE49-F238E27FC236}">
                <a16:creationId xmlns:a16="http://schemas.microsoft.com/office/drawing/2014/main" id="{2D9AA680-1B1F-4B78-B468-3E9E21EC7700}"/>
              </a:ext>
            </a:extLst>
          </p:cNvPr>
          <p:cNvGrpSpPr/>
          <p:nvPr/>
        </p:nvGrpSpPr>
        <p:grpSpPr>
          <a:xfrm>
            <a:off x="164592" y="44196"/>
            <a:ext cx="1972216" cy="545846"/>
            <a:chOff x="402336" y="115760"/>
            <a:chExt cx="2238374" cy="568833"/>
          </a:xfrm>
        </p:grpSpPr>
        <p:sp>
          <p:nvSpPr>
            <p:cNvPr id="89" name="Прямоугольник 88">
              <a:extLst>
                <a:ext uri="{FF2B5EF4-FFF2-40B4-BE49-F238E27FC236}">
                  <a16:creationId xmlns:a16="http://schemas.microsoft.com/office/drawing/2014/main" id="{D094C881-B171-48D9-8EB8-82581CA9C319}"/>
                </a:ext>
              </a:extLst>
            </p:cNvPr>
            <p:cNvSpPr/>
            <p:nvPr/>
          </p:nvSpPr>
          <p:spPr>
            <a:xfrm>
              <a:off x="402336" y="115760"/>
              <a:ext cx="2238374" cy="568833"/>
            </a:xfrm>
            <a:prstGeom prst="rect">
              <a:avLst/>
            </a:prstGeom>
            <a:solidFill>
              <a:srgbClr val="C8FF00"/>
            </a:solidFill>
            <a:ln>
              <a:noFill/>
            </a:ln>
            <a:effectLst>
              <a:softEdge rad="1651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90" name="Рисунок 89">
              <a:extLst>
                <a:ext uri="{FF2B5EF4-FFF2-40B4-BE49-F238E27FC236}">
                  <a16:creationId xmlns:a16="http://schemas.microsoft.com/office/drawing/2014/main" id="{D28DD3ED-DB9C-4AE4-8C77-7236D125FA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35628" y="256365"/>
              <a:ext cx="1271588" cy="255128"/>
            </a:xfrm>
            <a:prstGeom prst="rect">
              <a:avLst/>
            </a:prstGeom>
          </p:spPr>
        </p:pic>
      </p:grpSp>
      <p:sp>
        <p:nvSpPr>
          <p:cNvPr id="92" name="Звезда: 4 точки 91">
            <a:extLst>
              <a:ext uri="{FF2B5EF4-FFF2-40B4-BE49-F238E27FC236}">
                <a16:creationId xmlns:a16="http://schemas.microsoft.com/office/drawing/2014/main" id="{3196CFC4-3B51-43FE-BD64-2DB307875DF0}"/>
              </a:ext>
            </a:extLst>
          </p:cNvPr>
          <p:cNvSpPr/>
          <p:nvPr/>
        </p:nvSpPr>
        <p:spPr>
          <a:xfrm>
            <a:off x="416560" y="5662549"/>
            <a:ext cx="50927" cy="57150"/>
          </a:xfrm>
          <a:prstGeom prst="star4">
            <a:avLst>
              <a:gd name="adj" fmla="val 6727"/>
            </a:avLst>
          </a:prstGeom>
          <a:solidFill>
            <a:srgbClr val="C8FF00"/>
          </a:solidFill>
          <a:ln>
            <a:solidFill>
              <a:srgbClr val="C8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3" name="Звезда: 4 точки 92">
            <a:extLst>
              <a:ext uri="{FF2B5EF4-FFF2-40B4-BE49-F238E27FC236}">
                <a16:creationId xmlns:a16="http://schemas.microsoft.com/office/drawing/2014/main" id="{5CADBBD7-FA1C-47C7-A7D4-8ED4271CBB02}"/>
              </a:ext>
            </a:extLst>
          </p:cNvPr>
          <p:cNvSpPr/>
          <p:nvPr/>
        </p:nvSpPr>
        <p:spPr>
          <a:xfrm>
            <a:off x="404304" y="6156198"/>
            <a:ext cx="50927" cy="57150"/>
          </a:xfrm>
          <a:prstGeom prst="star4">
            <a:avLst>
              <a:gd name="adj" fmla="val 6727"/>
            </a:avLst>
          </a:prstGeom>
          <a:solidFill>
            <a:srgbClr val="C8FF00"/>
          </a:solidFill>
          <a:ln>
            <a:solidFill>
              <a:srgbClr val="C8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C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40664"/>
          </a:xfrm>
          <a:prstGeom prst="rect">
            <a:avLst/>
          </a:prstGeom>
          <a:solidFill>
            <a:srgbClr val="17171C"/>
          </a:solidFill>
          <a:ln w="12700">
            <a:solidFill>
              <a:srgbClr val="17171C"/>
            </a:solidFill>
            <a:prstDash val="solid"/>
          </a:ln>
        </p:spPr>
      </p:sp>
      <p:grpSp>
        <p:nvGrpSpPr>
          <p:cNvPr id="103" name="Группа 102">
            <a:extLst>
              <a:ext uri="{FF2B5EF4-FFF2-40B4-BE49-F238E27FC236}">
                <a16:creationId xmlns:a16="http://schemas.microsoft.com/office/drawing/2014/main" id="{62EB42C6-D0EC-44CC-9321-AD3DFC3BA69B}"/>
              </a:ext>
            </a:extLst>
          </p:cNvPr>
          <p:cNvGrpSpPr/>
          <p:nvPr/>
        </p:nvGrpSpPr>
        <p:grpSpPr>
          <a:xfrm>
            <a:off x="2267230" y="163196"/>
            <a:ext cx="1853826" cy="368553"/>
            <a:chOff x="2267230" y="135764"/>
            <a:chExt cx="1853826" cy="368553"/>
          </a:xfrm>
        </p:grpSpPr>
        <p:sp>
          <p:nvSpPr>
            <p:cNvPr id="5" name="Shape 3"/>
            <p:cNvSpPr/>
            <p:nvPr/>
          </p:nvSpPr>
          <p:spPr>
            <a:xfrm>
              <a:off x="2292256" y="135764"/>
              <a:ext cx="1828800" cy="368553"/>
            </a:xfrm>
            <a:prstGeom prst="roundRect">
              <a:avLst>
                <a:gd name="adj" fmla="val 20000"/>
              </a:avLst>
            </a:prstGeom>
            <a:solidFill>
              <a:srgbClr val="1A2000"/>
            </a:solidFill>
            <a:ln w="12700">
              <a:solidFill>
                <a:srgbClr val="C8FF00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2267230" y="201168"/>
              <a:ext cx="18288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C8FF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РЕШЕНИЕ / TO-BE</a:t>
              </a:r>
              <a:endParaRPr lang="en-US" sz="1050" dirty="0"/>
            </a:p>
          </p:txBody>
        </p:sp>
      </p:grpSp>
      <p:sp>
        <p:nvSpPr>
          <p:cNvPr id="7" name="Text 5"/>
          <p:cNvSpPr/>
          <p:nvPr/>
        </p:nvSpPr>
        <p:spPr>
          <a:xfrm>
            <a:off x="5599497" y="173736"/>
            <a:ext cx="633647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Адаптивная витрина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основе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жизненных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ситуациях</a:t>
            </a:r>
            <a:r>
              <a:rPr lang="ru-RU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приложение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само определяет контекст и перестраивает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экран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56616" y="877824"/>
            <a:ext cx="36576" cy="195580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4742" y="813816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</a:t>
            </a:r>
            <a:r>
              <a:rPr lang="en-US" sz="1200" b="1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нового</a:t>
            </a: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главного экрана</a:t>
            </a:r>
            <a:endParaRPr lang="en-US" sz="1200" i="1" dirty="0"/>
          </a:p>
        </p:txBody>
      </p:sp>
      <p:sp>
        <p:nvSpPr>
          <p:cNvPr id="10" name="Shape 8"/>
          <p:cNvSpPr/>
          <p:nvPr/>
        </p:nvSpPr>
        <p:spPr>
          <a:xfrm>
            <a:off x="356616" y="1152143"/>
            <a:ext cx="2176272" cy="1329817"/>
          </a:xfrm>
          <a:prstGeom prst="rect">
            <a:avLst/>
          </a:prstGeom>
          <a:solidFill>
            <a:srgbClr val="1E1E26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6616" y="1152144"/>
            <a:ext cx="2176272" cy="45720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" y="1562287"/>
            <a:ext cx="19933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Ежедневное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2648" y="1810512"/>
            <a:ext cx="18105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Переводы, шаблоны платежей, ЖКУ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30936" y="2194560"/>
            <a:ext cx="1627632" cy="219456"/>
          </a:xfrm>
          <a:prstGeom prst="rect">
            <a:avLst/>
          </a:prstGeom>
          <a:solidFill>
            <a:srgbClr val="24281A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" y="2212073"/>
            <a:ext cx="16276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Всегда активна</a:t>
            </a:r>
            <a:endParaRPr lang="en-US" sz="1000" dirty="0">
              <a:solidFill>
                <a:srgbClr val="C8FF00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660904" y="1152143"/>
            <a:ext cx="2176272" cy="1322071"/>
          </a:xfrm>
          <a:prstGeom prst="rect">
            <a:avLst/>
          </a:prstGeom>
          <a:solidFill>
            <a:srgbClr val="1E1E26"/>
          </a:solidFill>
          <a:ln w="12700">
            <a:solidFill>
              <a:srgbClr val="A468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60904" y="1152144"/>
            <a:ext cx="2176272" cy="45720"/>
          </a:xfrm>
          <a:prstGeom prst="rect">
            <a:avLst/>
          </a:prstGeom>
          <a:solidFill>
            <a:srgbClr val="A468DC"/>
          </a:solidFill>
          <a:ln w="12700">
            <a:solidFill>
              <a:srgbClr val="A468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34056" y="1559052"/>
            <a:ext cx="19933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u-RU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Счета и карты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971800" y="1809549"/>
            <a:ext cx="16276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СБП, переводы на карту, история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935224" y="2194560"/>
            <a:ext cx="1627632" cy="219456"/>
          </a:xfrm>
          <a:prstGeom prst="rect">
            <a:avLst/>
          </a:prstGeom>
          <a:solidFill>
            <a:srgbClr val="0C0C0F"/>
          </a:solidFill>
          <a:ln w="12700">
            <a:solidFill>
              <a:srgbClr val="A468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05085" y="2211885"/>
            <a:ext cx="16276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46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Всегда активна</a:t>
            </a:r>
            <a:endParaRPr lang="en-US" sz="1000" dirty="0">
              <a:solidFill>
                <a:srgbClr val="A468DC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965192" y="1152144"/>
            <a:ext cx="2176272" cy="1322070"/>
          </a:xfrm>
          <a:prstGeom prst="rect">
            <a:avLst/>
          </a:prstGeom>
          <a:solidFill>
            <a:srgbClr val="1E1E26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65192" y="1152144"/>
            <a:ext cx="2176272" cy="45720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37622" y="1559159"/>
            <a:ext cx="19933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Коплю на цель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56271" y="1787171"/>
            <a:ext cx="20299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Накопительный счёт, вклады, прогресс-бар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239512" y="2185416"/>
            <a:ext cx="1627632" cy="228600"/>
          </a:xfrm>
          <a:prstGeom prst="rect">
            <a:avLst/>
          </a:prstGeom>
          <a:solidFill>
            <a:srgbClr val="24281A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37586" y="2209801"/>
            <a:ext cx="16276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Всегда активна</a:t>
            </a:r>
            <a:endParaRPr lang="en-US" sz="1000" dirty="0">
              <a:solidFill>
                <a:srgbClr val="C8FF00"/>
              </a:solidFill>
            </a:endParaRPr>
          </a:p>
        </p:txBody>
      </p:sp>
      <p:sp>
        <p:nvSpPr>
          <p:cNvPr id="31" name="Shape 29"/>
          <p:cNvSpPr/>
          <p:nvPr/>
        </p:nvSpPr>
        <p:spPr>
          <a:xfrm>
            <a:off x="7269480" y="1152144"/>
            <a:ext cx="2176272" cy="1322070"/>
          </a:xfrm>
          <a:prstGeom prst="rect">
            <a:avLst/>
          </a:prstGeom>
          <a:solidFill>
            <a:srgbClr val="1E1E26"/>
          </a:solidFill>
          <a:ln w="12700">
            <a:solidFill>
              <a:srgbClr val="A468D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269480" y="1152144"/>
            <a:ext cx="2176272" cy="45720"/>
          </a:xfrm>
          <a:prstGeom prst="rect">
            <a:avLst/>
          </a:prstGeom>
          <a:solidFill>
            <a:srgbClr val="A468DC"/>
          </a:solidFill>
          <a:ln w="12700">
            <a:solidFill>
              <a:srgbClr val="A468D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60920" y="1538839"/>
            <a:ext cx="19933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Планирую крупное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598664" y="1799443"/>
            <a:ext cx="14538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Кредит, ипотека, авто, рассрочка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543800" y="2194560"/>
            <a:ext cx="1627632" cy="219456"/>
          </a:xfrm>
          <a:prstGeom prst="rect">
            <a:avLst/>
          </a:prstGeom>
          <a:solidFill>
            <a:srgbClr val="1A0E0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97599" y="2210926"/>
            <a:ext cx="16276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При триггере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9573768" y="1152144"/>
            <a:ext cx="2176272" cy="1322070"/>
          </a:xfrm>
          <a:prstGeom prst="rect">
            <a:avLst/>
          </a:prstGeom>
          <a:solidFill>
            <a:srgbClr val="1E1E26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573768" y="1152144"/>
            <a:ext cx="2176272" cy="45720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665208" y="1549427"/>
            <a:ext cx="19933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Выгода и </a:t>
            </a:r>
            <a:r>
              <a:rPr lang="en-US" sz="11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кэшб</a:t>
            </a:r>
            <a:r>
              <a:rPr lang="ru-RU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747504" y="178017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Бонусы, кэшбэк-предложения, партнёры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9848088" y="2194560"/>
            <a:ext cx="1627632" cy="219456"/>
          </a:xfrm>
          <a:prstGeom prst="rect">
            <a:avLst/>
          </a:prstGeom>
          <a:solidFill>
            <a:srgbClr val="1A0E0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837225" y="2201412"/>
            <a:ext cx="16276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При триггере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56616" y="2633472"/>
            <a:ext cx="36576" cy="195580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8056" y="2596896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AS-IS → TO-BE: что меняется на главном экране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320040" y="6309360"/>
            <a:ext cx="36576" cy="177800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11480" y="6272784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Механика: откуда берётся контекст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320040" y="6263640"/>
            <a:ext cx="2468880" cy="228600"/>
          </a:xfrm>
          <a:prstGeom prst="rect">
            <a:avLst/>
          </a:prstGeom>
          <a:solidFill>
            <a:srgbClr val="1A20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20040" y="62636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Транзакция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2788920" y="62636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3154680" y="6263640"/>
            <a:ext cx="2468880" cy="228600"/>
          </a:xfrm>
          <a:prstGeom prst="rect">
            <a:avLst/>
          </a:prstGeom>
          <a:solidFill>
            <a:srgbClr val="1A20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154680" y="62636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MCC-анализ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5623560" y="62636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5989320" y="6263640"/>
            <a:ext cx="2468880" cy="228600"/>
          </a:xfrm>
          <a:prstGeom prst="rect">
            <a:avLst/>
          </a:prstGeom>
          <a:solidFill>
            <a:srgbClr val="1A20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989320" y="62636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Ситуация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8458200" y="62636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8823960" y="6263640"/>
            <a:ext cx="2468880" cy="228600"/>
          </a:xfrm>
          <a:prstGeom prst="rect">
            <a:avLst/>
          </a:prstGeom>
          <a:solidFill>
            <a:srgbClr val="1A20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823960" y="62636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Витрина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111118"/>
          </a:solidFill>
          <a:ln w="12700">
            <a:solidFill>
              <a:srgbClr val="111118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164592" y="6574536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Обложка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1645920" y="6574536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Итого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3127248" y="6574536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4608576" y="6574536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4608576" y="6547104"/>
            <a:ext cx="1389888" cy="27432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089904" y="6574536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Сценарии</a:t>
            </a:r>
            <a:endParaRPr lang="en-US" sz="800" dirty="0"/>
          </a:p>
        </p:txBody>
      </p:sp>
      <p:sp>
        <p:nvSpPr>
          <p:cNvPr id="96" name="Text 94"/>
          <p:cNvSpPr/>
          <p:nvPr/>
        </p:nvSpPr>
        <p:spPr>
          <a:xfrm>
            <a:off x="7571232" y="6574536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Механики</a:t>
            </a:r>
            <a:endParaRPr lang="en-US" sz="800" dirty="0"/>
          </a:p>
        </p:txBody>
      </p:sp>
      <p:sp>
        <p:nvSpPr>
          <p:cNvPr id="97" name="Text 95"/>
          <p:cNvSpPr/>
          <p:nvPr/>
        </p:nvSpPr>
        <p:spPr>
          <a:xfrm>
            <a:off x="9052560" y="6574536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</a:t>
            </a:r>
            <a:endParaRPr lang="en-US" sz="800" dirty="0"/>
          </a:p>
        </p:txBody>
      </p:sp>
      <p:sp>
        <p:nvSpPr>
          <p:cNvPr id="98" name="Text 96"/>
          <p:cNvSpPr/>
          <p:nvPr/>
        </p:nvSpPr>
        <p:spPr>
          <a:xfrm>
            <a:off x="10533888" y="6574536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</a:t>
            </a:r>
            <a:endParaRPr lang="en-US" sz="800" dirty="0"/>
          </a:p>
        </p:txBody>
      </p:sp>
      <p:sp>
        <p:nvSpPr>
          <p:cNvPr id="99" name="Text 97"/>
          <p:cNvSpPr/>
          <p:nvPr/>
        </p:nvSpPr>
        <p:spPr>
          <a:xfrm>
            <a:off x="11521440" y="657453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800" dirty="0"/>
          </a:p>
        </p:txBody>
      </p:sp>
      <p:grpSp>
        <p:nvGrpSpPr>
          <p:cNvPr id="100" name="Группа 99">
            <a:extLst>
              <a:ext uri="{FF2B5EF4-FFF2-40B4-BE49-F238E27FC236}">
                <a16:creationId xmlns:a16="http://schemas.microsoft.com/office/drawing/2014/main" id="{493FF1EE-226D-4884-BBCD-87F4573F12D7}"/>
              </a:ext>
            </a:extLst>
          </p:cNvPr>
          <p:cNvGrpSpPr/>
          <p:nvPr/>
        </p:nvGrpSpPr>
        <p:grpSpPr>
          <a:xfrm>
            <a:off x="164592" y="74549"/>
            <a:ext cx="1972216" cy="545846"/>
            <a:chOff x="402336" y="115760"/>
            <a:chExt cx="2238374" cy="568833"/>
          </a:xfrm>
        </p:grpSpPr>
        <p:sp>
          <p:nvSpPr>
            <p:cNvPr id="101" name="Прямоугольник 100">
              <a:extLst>
                <a:ext uri="{FF2B5EF4-FFF2-40B4-BE49-F238E27FC236}">
                  <a16:creationId xmlns:a16="http://schemas.microsoft.com/office/drawing/2014/main" id="{DDFF21FE-B1FC-455F-959E-0DA95D8A569F}"/>
                </a:ext>
              </a:extLst>
            </p:cNvPr>
            <p:cNvSpPr/>
            <p:nvPr/>
          </p:nvSpPr>
          <p:spPr>
            <a:xfrm>
              <a:off x="402336" y="115760"/>
              <a:ext cx="2238374" cy="568833"/>
            </a:xfrm>
            <a:prstGeom prst="rect">
              <a:avLst/>
            </a:prstGeom>
            <a:solidFill>
              <a:srgbClr val="C8FF00"/>
            </a:solidFill>
            <a:ln>
              <a:noFill/>
            </a:ln>
            <a:effectLst>
              <a:softEdge rad="1651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02" name="Рисунок 101">
              <a:extLst>
                <a:ext uri="{FF2B5EF4-FFF2-40B4-BE49-F238E27FC236}">
                  <a16:creationId xmlns:a16="http://schemas.microsoft.com/office/drawing/2014/main" id="{5E886403-ADE4-4EF5-895F-AC014EA65B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35628" y="256365"/>
              <a:ext cx="1271588" cy="255128"/>
            </a:xfrm>
            <a:prstGeom prst="rect">
              <a:avLst/>
            </a:prstGeom>
          </p:spPr>
        </p:pic>
      </p:grpSp>
      <p:sp>
        <p:nvSpPr>
          <p:cNvPr id="107" name="AutoShape 2">
            <a:extLst>
              <a:ext uri="{FF2B5EF4-FFF2-40B4-BE49-F238E27FC236}">
                <a16:creationId xmlns:a16="http://schemas.microsoft.com/office/drawing/2014/main" id="{496C89B0-0B1E-46DC-8464-3858F4FAC36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509504" y="1216152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8" name="AutoShape 4">
            <a:extLst>
              <a:ext uri="{FF2B5EF4-FFF2-40B4-BE49-F238E27FC236}">
                <a16:creationId xmlns:a16="http://schemas.microsoft.com/office/drawing/2014/main" id="{567DB613-62A2-4D92-BD7C-D238E1F3902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11" name="Рисунок 110" descr="Кредитная карта со сплошной заливкой">
            <a:extLst>
              <a:ext uri="{FF2B5EF4-FFF2-40B4-BE49-F238E27FC236}">
                <a16:creationId xmlns:a16="http://schemas.microsoft.com/office/drawing/2014/main" id="{C593E019-B268-4D1F-979B-116B44DC04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87456" y="1271257"/>
            <a:ext cx="328943" cy="328943"/>
          </a:xfrm>
          <a:prstGeom prst="rect">
            <a:avLst/>
          </a:prstGeom>
        </p:spPr>
      </p:pic>
      <p:pic>
        <p:nvPicPr>
          <p:cNvPr id="113" name="Рисунок 112" descr="Адресная книга со сплошной заливкой">
            <a:extLst>
              <a:ext uri="{FF2B5EF4-FFF2-40B4-BE49-F238E27FC236}">
                <a16:creationId xmlns:a16="http://schemas.microsoft.com/office/drawing/2014/main" id="{CEF48279-75B0-42B0-9137-955D405DB04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92352" y="1246632"/>
            <a:ext cx="353568" cy="353568"/>
          </a:xfrm>
          <a:prstGeom prst="rect">
            <a:avLst/>
          </a:prstGeom>
        </p:spPr>
      </p:pic>
      <p:pic>
        <p:nvPicPr>
          <p:cNvPr id="115" name="Рисунок 114" descr="Свинья-копилка со сплошной заливкой">
            <a:extLst>
              <a:ext uri="{FF2B5EF4-FFF2-40B4-BE49-F238E27FC236}">
                <a16:creationId xmlns:a16="http://schemas.microsoft.com/office/drawing/2014/main" id="{28C61F1F-D4BF-42B8-9731-463E9C3F2CE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864338" y="1232515"/>
            <a:ext cx="374129" cy="374129"/>
          </a:xfrm>
          <a:prstGeom prst="rect">
            <a:avLst/>
          </a:prstGeom>
        </p:spPr>
      </p:pic>
      <p:pic>
        <p:nvPicPr>
          <p:cNvPr id="117" name="Рисунок 116" descr="Буфер обмена со сплошной заливкой">
            <a:extLst>
              <a:ext uri="{FF2B5EF4-FFF2-40B4-BE49-F238E27FC236}">
                <a16:creationId xmlns:a16="http://schemas.microsoft.com/office/drawing/2014/main" id="{791A4ED1-FF69-48DC-9845-37BE16C8AE1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194608" y="1264439"/>
            <a:ext cx="326016" cy="326016"/>
          </a:xfrm>
          <a:prstGeom prst="rect">
            <a:avLst/>
          </a:prstGeom>
        </p:spPr>
      </p:pic>
      <p:pic>
        <p:nvPicPr>
          <p:cNvPr id="121" name="Рисунок 120" descr="Монеты со сплошной заливкой">
            <a:extLst>
              <a:ext uri="{FF2B5EF4-FFF2-40B4-BE49-F238E27FC236}">
                <a16:creationId xmlns:a16="http://schemas.microsoft.com/office/drawing/2014/main" id="{5429B989-825B-4089-B153-94EB1055200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487316" y="1256640"/>
            <a:ext cx="349176" cy="349176"/>
          </a:xfrm>
          <a:prstGeom prst="rect">
            <a:avLst/>
          </a:prstGeom>
        </p:spPr>
      </p:pic>
      <p:pic>
        <p:nvPicPr>
          <p:cNvPr id="123" name="Рисунок 122" descr="Изображение выглядит как снимок экрана, текст, Мультимедийное программное обеспечение, программное обеспечение&#10;&#10;Автоматически созданное описание">
            <a:extLst>
              <a:ext uri="{FF2B5EF4-FFF2-40B4-BE49-F238E27FC236}">
                <a16:creationId xmlns:a16="http://schemas.microsoft.com/office/drawing/2014/main" id="{00CD977E-365B-48C8-88B9-E236FE41BC56}"/>
              </a:ext>
            </a:extLst>
          </p:cNvPr>
          <p:cNvPicPr>
            <a:picLocks noChangeAspect="1"/>
          </p:cNvPicPr>
          <p:nvPr/>
        </p:nvPicPr>
        <p:blipFill rotWithShape="1">
          <a:blip r:embed="rId15"/>
          <a:srcRect b="47778"/>
          <a:stretch/>
        </p:blipFill>
        <p:spPr>
          <a:xfrm>
            <a:off x="2978575" y="2995142"/>
            <a:ext cx="1538561" cy="3081528"/>
          </a:xfrm>
          <a:prstGeom prst="rect">
            <a:avLst/>
          </a:prstGeom>
        </p:spPr>
      </p:pic>
      <p:pic>
        <p:nvPicPr>
          <p:cNvPr id="125" name="Рисунок 124" descr="Изображение выглядит как снимок экрана, текст, Мультимедийное программное обеспечение, программное обеспечение&#10;&#10;Автоматически созданное описание">
            <a:extLst>
              <a:ext uri="{FF2B5EF4-FFF2-40B4-BE49-F238E27FC236}">
                <a16:creationId xmlns:a16="http://schemas.microsoft.com/office/drawing/2014/main" id="{9596B3B0-5EAD-4528-ABD9-DE78AF543738}"/>
              </a:ext>
            </a:extLst>
          </p:cNvPr>
          <p:cNvPicPr>
            <a:picLocks noChangeAspect="1"/>
          </p:cNvPicPr>
          <p:nvPr/>
        </p:nvPicPr>
        <p:blipFill rotWithShape="1">
          <a:blip r:embed="rId15"/>
          <a:srcRect t="52060"/>
          <a:stretch/>
        </p:blipFill>
        <p:spPr>
          <a:xfrm>
            <a:off x="4639368" y="3050288"/>
            <a:ext cx="1639702" cy="3014827"/>
          </a:xfrm>
          <a:prstGeom prst="rect">
            <a:avLst/>
          </a:prstGeom>
        </p:spPr>
      </p:pic>
      <p:pic>
        <p:nvPicPr>
          <p:cNvPr id="133" name="Рисунок 132">
            <a:extLst>
              <a:ext uri="{FF2B5EF4-FFF2-40B4-BE49-F238E27FC236}">
                <a16:creationId xmlns:a16="http://schemas.microsoft.com/office/drawing/2014/main" id="{1EEF41B2-DA82-474C-9730-4E3D65084B6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56491" y="2980563"/>
            <a:ext cx="1421128" cy="3081528"/>
          </a:xfrm>
          <a:prstGeom prst="rect">
            <a:avLst/>
          </a:prstGeom>
        </p:spPr>
      </p:pic>
      <p:cxnSp>
        <p:nvCxnSpPr>
          <p:cNvPr id="135" name="Прямая со стрелкой 134">
            <a:extLst>
              <a:ext uri="{FF2B5EF4-FFF2-40B4-BE49-F238E27FC236}">
                <a16:creationId xmlns:a16="http://schemas.microsoft.com/office/drawing/2014/main" id="{78D4D5D8-61A6-42FD-80B5-9094CA9BFB90}"/>
              </a:ext>
            </a:extLst>
          </p:cNvPr>
          <p:cNvCxnSpPr>
            <a:cxnSpLocks/>
          </p:cNvCxnSpPr>
          <p:nvPr/>
        </p:nvCxnSpPr>
        <p:spPr>
          <a:xfrm>
            <a:off x="1927458" y="4368927"/>
            <a:ext cx="861462" cy="0"/>
          </a:xfrm>
          <a:prstGeom prst="straightConnector1">
            <a:avLst/>
          </a:prstGeom>
          <a:ln w="44450">
            <a:solidFill>
              <a:srgbClr val="C8FF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Соединитель: изогнутый 140">
            <a:extLst>
              <a:ext uri="{FF2B5EF4-FFF2-40B4-BE49-F238E27FC236}">
                <a16:creationId xmlns:a16="http://schemas.microsoft.com/office/drawing/2014/main" id="{E8DF88E8-5883-45E5-80B0-EFA6654EC410}"/>
              </a:ext>
            </a:extLst>
          </p:cNvPr>
          <p:cNvCxnSpPr>
            <a:cxnSpLocks/>
          </p:cNvCxnSpPr>
          <p:nvPr/>
        </p:nvCxnSpPr>
        <p:spPr>
          <a:xfrm rot="10800000" flipV="1">
            <a:off x="4291013" y="2805810"/>
            <a:ext cx="2901786" cy="248287"/>
          </a:xfrm>
          <a:prstGeom prst="curvedConnector3">
            <a:avLst>
              <a:gd name="adj1" fmla="val 100331"/>
            </a:avLst>
          </a:prstGeom>
          <a:ln w="3175">
            <a:solidFill>
              <a:srgbClr val="C8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TextBox 148">
            <a:extLst>
              <a:ext uri="{FF2B5EF4-FFF2-40B4-BE49-F238E27FC236}">
                <a16:creationId xmlns:a16="http://schemas.microsoft.com/office/drawing/2014/main" id="{FE6229D2-5DBD-4C62-8E26-D4ADCF91F19C}"/>
              </a:ext>
            </a:extLst>
          </p:cNvPr>
          <p:cNvSpPr txBox="1"/>
          <p:nvPr/>
        </p:nvSpPr>
        <p:spPr>
          <a:xfrm>
            <a:off x="7356249" y="2623449"/>
            <a:ext cx="269747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050" dirty="0">
                <a:solidFill>
                  <a:schemeClr val="bg1"/>
                </a:solidFill>
                <a:latin typeface="+mj-lt"/>
              </a:rPr>
              <a:t>Индикатор</a:t>
            </a:r>
            <a:r>
              <a:rPr lang="ru-RU" sz="1050" dirty="0">
                <a:solidFill>
                  <a:schemeClr val="bg1"/>
                </a:solidFill>
              </a:rPr>
              <a:t> работы сервисов. </a:t>
            </a:r>
            <a:r>
              <a:rPr lang="ru-RU" sz="1050" dirty="0">
                <a:solidFill>
                  <a:srgbClr val="C8FF00"/>
                </a:solidFill>
              </a:rPr>
              <a:t>Зеленый</a:t>
            </a:r>
            <a:r>
              <a:rPr lang="ru-RU" sz="1050" dirty="0">
                <a:solidFill>
                  <a:schemeClr val="bg1"/>
                </a:solidFill>
              </a:rPr>
              <a:t> – все хорошо, </a:t>
            </a:r>
            <a:r>
              <a:rPr lang="ru-RU" sz="1050" dirty="0">
                <a:solidFill>
                  <a:srgbClr val="FF822D"/>
                </a:solidFill>
              </a:rPr>
              <a:t>оранжевый</a:t>
            </a:r>
            <a:r>
              <a:rPr lang="ru-RU" sz="1050" dirty="0">
                <a:solidFill>
                  <a:schemeClr val="bg1"/>
                </a:solidFill>
              </a:rPr>
              <a:t> – есть проблемы. При нажатии указывает, какие сервисы сейчас недоступны.</a:t>
            </a:r>
          </a:p>
        </p:txBody>
      </p:sp>
      <p:sp>
        <p:nvSpPr>
          <p:cNvPr id="150" name="Дуга 149">
            <a:extLst>
              <a:ext uri="{FF2B5EF4-FFF2-40B4-BE49-F238E27FC236}">
                <a16:creationId xmlns:a16="http://schemas.microsoft.com/office/drawing/2014/main" id="{4F8F5725-C374-4546-A3C3-E384EC969080}"/>
              </a:ext>
            </a:extLst>
          </p:cNvPr>
          <p:cNvSpPr/>
          <p:nvPr/>
        </p:nvSpPr>
        <p:spPr>
          <a:xfrm rot="14005372">
            <a:off x="7313005" y="2254532"/>
            <a:ext cx="579120" cy="1103884"/>
          </a:xfrm>
          <a:prstGeom prst="arc">
            <a:avLst>
              <a:gd name="adj1" fmla="val 15570968"/>
              <a:gd name="adj2" fmla="val 20426646"/>
            </a:avLst>
          </a:prstGeom>
          <a:ln w="15875">
            <a:solidFill>
              <a:srgbClr val="C8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1" name="Звезда: 4 точки 150">
            <a:extLst>
              <a:ext uri="{FF2B5EF4-FFF2-40B4-BE49-F238E27FC236}">
                <a16:creationId xmlns:a16="http://schemas.microsoft.com/office/drawing/2014/main" id="{C3B6B80C-605A-4CFB-B345-9A3DC2834630}"/>
              </a:ext>
            </a:extLst>
          </p:cNvPr>
          <p:cNvSpPr/>
          <p:nvPr/>
        </p:nvSpPr>
        <p:spPr>
          <a:xfrm>
            <a:off x="7205411" y="3274009"/>
            <a:ext cx="128588" cy="118872"/>
          </a:xfrm>
          <a:prstGeom prst="star4">
            <a:avLst/>
          </a:prstGeom>
          <a:solidFill>
            <a:schemeClr val="bg1"/>
          </a:solidFill>
          <a:ln>
            <a:solidFill>
              <a:srgbClr val="C8FF00"/>
            </a:solidFill>
          </a:ln>
          <a:effectLst>
            <a:glow rad="749300">
              <a:srgbClr val="C8FF00">
                <a:alpha val="8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5" name="Rectangle 6">
            <a:extLst>
              <a:ext uri="{FF2B5EF4-FFF2-40B4-BE49-F238E27FC236}">
                <a16:creationId xmlns:a16="http://schemas.microsoft.com/office/drawing/2014/main" id="{16BBA76D-3B19-4D4C-8C0E-B064FE2074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1014" y="3607111"/>
            <a:ext cx="4904954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C8FF00"/>
                </a:solidFill>
                <a:effectLst/>
              </a:rPr>
              <a:t>Новая витрина является не фиксированным экраном, а набором слотов (контейнеров), которые заполняются с сервера в нужном порядке. Способность приложения менять состав экрана и набор предложений в зависимости от того, что происходит в жизни пользователя прямо сейчас, обеспечивает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rgbClr val="C8FF00"/>
                </a:solidFill>
                <a:effectLst/>
              </a:rPr>
              <a:t>гиперперсонализацию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C8FF00"/>
                </a:solidFill>
                <a:effectLst/>
              </a:rPr>
              <a:t>. Обновление происходит не раз в сутки по расписанию, а в момент открытия приложения, после каждого действия клиента и после совершения операций.</a:t>
            </a:r>
            <a:b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C8FF00"/>
                </a:solidFill>
                <a:effectLst/>
              </a:rPr>
            </a:b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rgbClr val="C8FF00"/>
              </a:solidFill>
              <a:effectLst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0C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24128"/>
          </a:xfrm>
          <a:prstGeom prst="rect">
            <a:avLst/>
          </a:prstGeom>
          <a:solidFill>
            <a:srgbClr val="17171C"/>
          </a:solidFill>
          <a:ln w="12700">
            <a:solidFill>
              <a:srgbClr val="17171C"/>
            </a:solidFill>
            <a:prstDash val="solid"/>
          </a:ln>
        </p:spPr>
      </p:sp>
      <p:grpSp>
        <p:nvGrpSpPr>
          <p:cNvPr id="102" name="Группа 101">
            <a:extLst>
              <a:ext uri="{FF2B5EF4-FFF2-40B4-BE49-F238E27FC236}">
                <a16:creationId xmlns:a16="http://schemas.microsoft.com/office/drawing/2014/main" id="{C04633B3-7F98-4114-817D-5781930A6A2E}"/>
              </a:ext>
            </a:extLst>
          </p:cNvPr>
          <p:cNvGrpSpPr/>
          <p:nvPr/>
        </p:nvGrpSpPr>
        <p:grpSpPr>
          <a:xfrm>
            <a:off x="2212848" y="164210"/>
            <a:ext cx="1828800" cy="356997"/>
            <a:chOff x="2315116" y="164210"/>
            <a:chExt cx="1828800" cy="356997"/>
          </a:xfrm>
        </p:grpSpPr>
        <p:sp>
          <p:nvSpPr>
            <p:cNvPr id="5" name="Shape 3"/>
            <p:cNvSpPr/>
            <p:nvPr/>
          </p:nvSpPr>
          <p:spPr>
            <a:xfrm>
              <a:off x="2315116" y="164210"/>
              <a:ext cx="1828800" cy="356997"/>
            </a:xfrm>
            <a:prstGeom prst="roundRect">
              <a:avLst>
                <a:gd name="adj" fmla="val 20000"/>
              </a:avLst>
            </a:prstGeom>
            <a:solidFill>
              <a:srgbClr val="1A0A2A"/>
            </a:solidFill>
            <a:ln w="12700">
              <a:solidFill>
                <a:srgbClr val="A855F7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2315116" y="229500"/>
              <a:ext cx="18288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A855F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СЦЕНАРИИ / ПУТИ КЛИЕНТА</a:t>
              </a:r>
              <a:endParaRPr lang="en-US" sz="1050" dirty="0"/>
            </a:p>
          </p:txBody>
        </p:sp>
      </p:grpSp>
      <p:sp>
        <p:nvSpPr>
          <p:cNvPr id="7" name="Text 5"/>
          <p:cNvSpPr/>
          <p:nvPr/>
        </p:nvSpPr>
        <p:spPr>
          <a:xfrm>
            <a:off x="196977" y="565531"/>
            <a:ext cx="11521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Разные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ситуации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разны</a:t>
            </a:r>
            <a:r>
              <a:rPr lang="ru-RU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экран</a:t>
            </a:r>
            <a:r>
              <a:rPr lang="ru-RU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ы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ремонт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накопление и ежедневные платежи без единого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лишнего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нажатия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92608" y="1115568"/>
            <a:ext cx="3840480" cy="640080"/>
          </a:xfrm>
          <a:prstGeom prst="rect">
            <a:avLst/>
          </a:prstGeom>
          <a:solidFill>
            <a:srgbClr val="1E1E26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" y="1115568"/>
            <a:ext cx="3840480" cy="45720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1133856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Ремонт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02336" y="1463040"/>
            <a:ext cx="1197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Ситуация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92608" y="1828800"/>
            <a:ext cx="3840480" cy="530352"/>
          </a:xfrm>
          <a:prstGeom prst="rect">
            <a:avLst/>
          </a:prstGeom>
          <a:solidFill>
            <a:srgbClr val="23232C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185623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ТРИГГЕР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84048" y="2020824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транзакции по MCC 5211/5200/5712 за 5 дней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92608" y="2432304"/>
            <a:ext cx="3840480" cy="201168"/>
          </a:xfrm>
          <a:prstGeom prst="rect">
            <a:avLst/>
          </a:prstGeom>
          <a:solidFill>
            <a:srgbClr val="1A20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43230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ВИДИТ ПОЛЬЗОВАТЕЛЬ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92608" y="2670048"/>
            <a:ext cx="3840480" cy="420624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2608" y="2670048"/>
            <a:ext cx="36576" cy="420624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336" y="2670048"/>
            <a:ext cx="36758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 «Ремонт» на главном экране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92608" y="3145536"/>
            <a:ext cx="3840480" cy="420624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2608" y="3145536"/>
            <a:ext cx="36576" cy="420624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2336" y="3145536"/>
            <a:ext cx="36758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Потрачено X ₽ — прогресс-бар бюджета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92608" y="3621024"/>
            <a:ext cx="3840480" cy="420624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2608" y="3621024"/>
            <a:ext cx="36576" cy="420624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2336" y="3621024"/>
            <a:ext cx="36758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деталях транзакции: «Разбить на рассрочку»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92608" y="4096512"/>
            <a:ext cx="3840480" cy="420624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2608" y="4096512"/>
            <a:ext cx="36576" cy="420624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2336" y="4096512"/>
            <a:ext cx="36758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Кнопка «Нужен кредит </a:t>
            </a:r>
            <a:r>
              <a:rPr lang="en-US" sz="105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</a:t>
            </a: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визита</a:t>
            </a: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?»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92608" y="4608576"/>
            <a:ext cx="3840480" cy="777240"/>
          </a:xfrm>
          <a:prstGeom prst="rect">
            <a:avLst/>
          </a:prstGeom>
          <a:solidFill>
            <a:srgbClr val="23232C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" y="463600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Ключевой</a:t>
            </a:r>
            <a:r>
              <a:rPr lang="en-US" sz="12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эффект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84048" y="4828032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</a:t>
            </a:r>
            <a:r>
              <a:rPr lang="en-US" sz="105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редит</a:t>
            </a: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предлагается в момент потребности, а не как баннер. Конверсия выше на 2–3×.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49808" y="5458968"/>
            <a:ext cx="2926080" cy="256032"/>
          </a:xfrm>
          <a:prstGeom prst="rect">
            <a:avLst/>
          </a:prstGeom>
          <a:solidFill>
            <a:srgbClr val="1E1E26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9808" y="545896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+2–3× CR в кредит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251960" y="1115568"/>
            <a:ext cx="3840480" cy="640080"/>
          </a:xfrm>
          <a:prstGeom prst="rect">
            <a:avLst/>
          </a:prstGeom>
          <a:solidFill>
            <a:srgbClr val="1E1E26"/>
          </a:solidFill>
          <a:ln w="12700">
            <a:solidFill>
              <a:srgbClr val="A468D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251960" y="1115568"/>
            <a:ext cx="3840480" cy="45720"/>
          </a:xfrm>
          <a:prstGeom prst="rect">
            <a:avLst/>
          </a:prstGeom>
          <a:solidFill>
            <a:srgbClr val="A468DC"/>
          </a:solidFill>
          <a:ln w="12700">
            <a:solidFill>
              <a:srgbClr val="A468D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61688" y="1133856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Накопление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на цель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361688" y="1463040"/>
            <a:ext cx="9418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46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Ситуация</a:t>
            </a:r>
            <a:endParaRPr lang="en-US" sz="1000" dirty="0">
              <a:solidFill>
                <a:srgbClr val="A468DC"/>
              </a:solidFill>
            </a:endParaRPr>
          </a:p>
        </p:txBody>
      </p:sp>
      <p:sp>
        <p:nvSpPr>
          <p:cNvPr id="38" name="Shape 36"/>
          <p:cNvSpPr/>
          <p:nvPr/>
        </p:nvSpPr>
        <p:spPr>
          <a:xfrm>
            <a:off x="4251960" y="1828800"/>
            <a:ext cx="3840480" cy="530352"/>
          </a:xfrm>
          <a:prstGeom prst="rect">
            <a:avLst/>
          </a:prstGeom>
          <a:solidFill>
            <a:srgbClr val="23232C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43400" y="185623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46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ТРИГГЕР</a:t>
            </a:r>
            <a:endParaRPr lang="en-US" sz="1050" dirty="0">
              <a:solidFill>
                <a:srgbClr val="A468DC"/>
              </a:solidFill>
            </a:endParaRPr>
          </a:p>
        </p:txBody>
      </p:sp>
      <p:sp>
        <p:nvSpPr>
          <p:cNvPr id="40" name="Text 38"/>
          <p:cNvSpPr/>
          <p:nvPr/>
        </p:nvSpPr>
        <p:spPr>
          <a:xfrm>
            <a:off x="4343400" y="2020824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Активный накопительный счёт + пополнение 2+ раза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251960" y="2432304"/>
            <a:ext cx="3840480" cy="201168"/>
          </a:xfrm>
          <a:prstGeom prst="rect">
            <a:avLst/>
          </a:prstGeom>
          <a:solidFill>
            <a:srgbClr val="1A0A2A"/>
          </a:solidFill>
          <a:ln w="12700">
            <a:solidFill>
              <a:srgbClr val="A468D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343400" y="243230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46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ВИДИТ ПОЛЬЗОВАТЕЛЬ</a:t>
            </a:r>
            <a:endParaRPr lang="en-US" sz="1100" dirty="0">
              <a:solidFill>
                <a:srgbClr val="A468DC"/>
              </a:solidFill>
            </a:endParaRPr>
          </a:p>
        </p:txBody>
      </p:sp>
      <p:sp>
        <p:nvSpPr>
          <p:cNvPr id="43" name="Shape 41"/>
          <p:cNvSpPr/>
          <p:nvPr/>
        </p:nvSpPr>
        <p:spPr>
          <a:xfrm>
            <a:off x="4251960" y="2670048"/>
            <a:ext cx="3840480" cy="420624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251960" y="2670048"/>
            <a:ext cx="36576" cy="420624"/>
          </a:xfrm>
          <a:prstGeom prst="rect">
            <a:avLst/>
          </a:prstGeom>
          <a:solidFill>
            <a:srgbClr val="A468DC"/>
          </a:solidFill>
          <a:ln w="12700">
            <a:solidFill>
              <a:srgbClr val="A468D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361688" y="2670048"/>
            <a:ext cx="36758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Карточка «Отпуск — 34 000 / 80 000 ₽»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251960" y="3145536"/>
            <a:ext cx="3840480" cy="420624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251960" y="3145536"/>
            <a:ext cx="36576" cy="420624"/>
          </a:xfrm>
          <a:prstGeom prst="rect">
            <a:avLst/>
          </a:prstGeom>
          <a:solidFill>
            <a:srgbClr val="A468DC"/>
          </a:solidFill>
          <a:ln w="12700">
            <a:solidFill>
              <a:srgbClr val="A468D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361688" y="3145536"/>
            <a:ext cx="36758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Прогресс-бар + предполагаемая дата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251960" y="3621024"/>
            <a:ext cx="3840480" cy="420624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251960" y="3621024"/>
            <a:ext cx="36576" cy="420624"/>
          </a:xfrm>
          <a:prstGeom prst="rect">
            <a:avLst/>
          </a:prstGeom>
          <a:solidFill>
            <a:srgbClr val="A468DC"/>
          </a:solidFill>
          <a:ln w="12700">
            <a:solidFill>
              <a:srgbClr val="A468D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61688" y="3621024"/>
            <a:ext cx="36758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Кнопка быстрого пополнения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4251960" y="4096512"/>
            <a:ext cx="3840480" cy="420624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251960" y="4096512"/>
            <a:ext cx="36576" cy="420624"/>
          </a:xfrm>
          <a:prstGeom prst="rect">
            <a:avLst/>
          </a:prstGeom>
          <a:solidFill>
            <a:srgbClr val="A468DC"/>
          </a:solidFill>
          <a:ln w="12700">
            <a:solidFill>
              <a:srgbClr val="A468D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361688" y="4096512"/>
            <a:ext cx="36758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Подсказка: +3 000 ₽/мес → на месяц раньше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4251960" y="4608576"/>
            <a:ext cx="3840480" cy="777240"/>
          </a:xfrm>
          <a:prstGeom prst="rect">
            <a:avLst/>
          </a:prstGeom>
          <a:solidFill>
            <a:srgbClr val="23232C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343400" y="463600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A46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Ключевой</a:t>
            </a:r>
            <a:r>
              <a:rPr lang="en-US" sz="1200" b="1" dirty="0">
                <a:solidFill>
                  <a:srgbClr val="A46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эффект</a:t>
            </a:r>
            <a:endParaRPr lang="en-US" sz="1200" dirty="0">
              <a:solidFill>
                <a:srgbClr val="A468DC"/>
              </a:solidFill>
            </a:endParaRPr>
          </a:p>
        </p:txBody>
      </p:sp>
      <p:sp>
        <p:nvSpPr>
          <p:cNvPr id="57" name="Text 55"/>
          <p:cNvSpPr/>
          <p:nvPr/>
        </p:nvSpPr>
        <p:spPr>
          <a:xfrm>
            <a:off x="4343400" y="4828032"/>
            <a:ext cx="379095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Пользователь </a:t>
            </a:r>
            <a:r>
              <a:rPr lang="en-US" sz="105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возвращается</a:t>
            </a: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проверять</a:t>
            </a: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прогресс</a:t>
            </a:r>
            <a:r>
              <a:rPr lang="ru-RU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повышается </a:t>
            </a:r>
            <a:r>
              <a:rPr lang="en-US" sz="105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рост</a:t>
            </a: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DAU. Мотивация продолжать копить.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4709160" y="5458968"/>
            <a:ext cx="2926080" cy="256032"/>
          </a:xfrm>
          <a:prstGeom prst="rect">
            <a:avLst/>
          </a:prstGeom>
          <a:solidFill>
            <a:srgbClr val="1E1E26"/>
          </a:solidFill>
          <a:ln w="12700">
            <a:solidFill>
              <a:srgbClr val="A468D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09160" y="545896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46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DAU/MAU </a:t>
            </a:r>
            <a:r>
              <a:rPr lang="en-US" sz="1100" b="1" dirty="0" err="1">
                <a:solidFill>
                  <a:srgbClr val="A46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1100" b="1" dirty="0">
                <a:solidFill>
                  <a:srgbClr val="A46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13</a:t>
            </a:r>
            <a:r>
              <a:rPr lang="ru-RU" sz="1100" b="1" dirty="0">
                <a:solidFill>
                  <a:srgbClr val="A46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%</a:t>
            </a:r>
            <a:endParaRPr lang="en-US" sz="1100" dirty="0">
              <a:solidFill>
                <a:srgbClr val="A468DC"/>
              </a:solidFill>
            </a:endParaRPr>
          </a:p>
        </p:txBody>
      </p:sp>
      <p:sp>
        <p:nvSpPr>
          <p:cNvPr id="60" name="Shape 58"/>
          <p:cNvSpPr/>
          <p:nvPr/>
        </p:nvSpPr>
        <p:spPr>
          <a:xfrm>
            <a:off x="8211312" y="1115568"/>
            <a:ext cx="3840480" cy="640080"/>
          </a:xfrm>
          <a:prstGeom prst="rect">
            <a:avLst/>
          </a:prstGeom>
          <a:solidFill>
            <a:srgbClr val="1E1E26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211312" y="1115568"/>
            <a:ext cx="3840480" cy="45720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321040" y="1133856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Ежедневные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платежи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8321039" y="1463040"/>
            <a:ext cx="96583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Ситуация</a:t>
            </a:r>
            <a:endParaRPr lang="en-US" sz="1000" dirty="0">
              <a:solidFill>
                <a:srgbClr val="C8FF00"/>
              </a:solidFill>
            </a:endParaRPr>
          </a:p>
        </p:txBody>
      </p:sp>
      <p:sp>
        <p:nvSpPr>
          <p:cNvPr id="64" name="Shape 62"/>
          <p:cNvSpPr/>
          <p:nvPr/>
        </p:nvSpPr>
        <p:spPr>
          <a:xfrm>
            <a:off x="8211312" y="1828800"/>
            <a:ext cx="3840480" cy="530352"/>
          </a:xfrm>
          <a:prstGeom prst="rect">
            <a:avLst/>
          </a:prstGeom>
          <a:solidFill>
            <a:srgbClr val="23232C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302752" y="185623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ТРИГГЕР</a:t>
            </a:r>
            <a:endParaRPr lang="en-US" sz="1050" dirty="0">
              <a:solidFill>
                <a:srgbClr val="C8FF00"/>
              </a:solidFill>
            </a:endParaRPr>
          </a:p>
        </p:txBody>
      </p:sp>
      <p:sp>
        <p:nvSpPr>
          <p:cNvPr id="66" name="Text 64"/>
          <p:cNvSpPr/>
          <p:nvPr/>
        </p:nvSpPr>
        <p:spPr>
          <a:xfrm>
            <a:off x="8302752" y="2020824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Константа — базовый режим, всегда активен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8211312" y="2432304"/>
            <a:ext cx="3840480" cy="201168"/>
          </a:xfrm>
          <a:prstGeom prst="rect">
            <a:avLst/>
          </a:prstGeom>
          <a:solidFill>
            <a:srgbClr val="1A20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302752" y="243230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ВИДИТ ПОЛЬЗОВАТЕЛЬ</a:t>
            </a:r>
            <a:endParaRPr lang="en-US" sz="1100" dirty="0">
              <a:solidFill>
                <a:srgbClr val="C8FF00"/>
              </a:solidFill>
            </a:endParaRPr>
          </a:p>
        </p:txBody>
      </p:sp>
      <p:sp>
        <p:nvSpPr>
          <p:cNvPr id="69" name="Shape 67"/>
          <p:cNvSpPr/>
          <p:nvPr/>
        </p:nvSpPr>
        <p:spPr>
          <a:xfrm>
            <a:off x="8211312" y="2670048"/>
            <a:ext cx="3840480" cy="420624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211312" y="2670048"/>
            <a:ext cx="36576" cy="420624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321040" y="2670048"/>
            <a:ext cx="36758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Последние 3 контакта для перевода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8211312" y="3145536"/>
            <a:ext cx="3840480" cy="420624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211312" y="3145536"/>
            <a:ext cx="36576" cy="420624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321040" y="3145536"/>
            <a:ext cx="36758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Закреплённые шаблоны: ЖКХ, телефон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8211312" y="3621024"/>
            <a:ext cx="3840480" cy="420624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211312" y="3621024"/>
            <a:ext cx="36576" cy="420624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321040" y="3621024"/>
            <a:ext cx="36758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Предиктив: «Через 8 дней — ЖКХ ~4 200 ₽»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8211312" y="4096512"/>
            <a:ext cx="3840480" cy="420624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211312" y="4096512"/>
            <a:ext cx="36576" cy="420624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321040" y="4096512"/>
            <a:ext cx="36758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«Хватит ли на счёте?»</a:t>
            </a:r>
            <a:endParaRPr lang="en-US" sz="1050" dirty="0"/>
          </a:p>
        </p:txBody>
      </p:sp>
      <p:sp>
        <p:nvSpPr>
          <p:cNvPr id="81" name="Shape 79"/>
          <p:cNvSpPr/>
          <p:nvPr/>
        </p:nvSpPr>
        <p:spPr>
          <a:xfrm>
            <a:off x="8211312" y="4608576"/>
            <a:ext cx="3840480" cy="777240"/>
          </a:xfrm>
          <a:prstGeom prst="rect">
            <a:avLst/>
          </a:prstGeom>
          <a:solidFill>
            <a:srgbClr val="23232C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302752" y="463600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Ключевой</a:t>
            </a:r>
            <a:r>
              <a:rPr lang="en-US" sz="12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эффект</a:t>
            </a:r>
            <a:endParaRPr lang="en-US" sz="1200" dirty="0">
              <a:solidFill>
                <a:srgbClr val="C8FF00"/>
              </a:solidFill>
            </a:endParaRPr>
          </a:p>
        </p:txBody>
      </p:sp>
      <p:sp>
        <p:nvSpPr>
          <p:cNvPr id="83" name="Text 81"/>
          <p:cNvSpPr/>
          <p:nvPr/>
        </p:nvSpPr>
        <p:spPr>
          <a:xfrm>
            <a:off x="8302752" y="4828032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</a:t>
            </a:r>
            <a:r>
              <a:rPr lang="ru-RU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нажатий </a:t>
            </a:r>
            <a:r>
              <a:rPr lang="en-US" sz="105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</a:t>
            </a: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нужного действия для 80% ежедневных сценариев. </a:t>
            </a:r>
            <a:r>
              <a:rPr lang="en-US" sz="105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Снижение</a:t>
            </a: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оттока</a:t>
            </a: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за счёт привычки.</a:t>
            </a:r>
            <a:endParaRPr lang="en-US" sz="1050" dirty="0"/>
          </a:p>
        </p:txBody>
      </p:sp>
      <p:sp>
        <p:nvSpPr>
          <p:cNvPr id="84" name="Shape 82"/>
          <p:cNvSpPr/>
          <p:nvPr/>
        </p:nvSpPr>
        <p:spPr>
          <a:xfrm>
            <a:off x="8668512" y="5458968"/>
            <a:ext cx="2926080" cy="256032"/>
          </a:xfrm>
          <a:prstGeom prst="rect">
            <a:avLst/>
          </a:prstGeom>
          <a:solidFill>
            <a:srgbClr val="1E1E26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8668512" y="545896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тапов для 80% сценариев</a:t>
            </a:r>
            <a:endParaRPr lang="en-US" sz="1100" dirty="0">
              <a:solidFill>
                <a:srgbClr val="C8FF00"/>
              </a:solidFill>
            </a:endParaRPr>
          </a:p>
        </p:txBody>
      </p:sp>
      <p:sp>
        <p:nvSpPr>
          <p:cNvPr id="86" name="Shape 84"/>
          <p:cNvSpPr/>
          <p:nvPr/>
        </p:nvSpPr>
        <p:spPr>
          <a:xfrm>
            <a:off x="292608" y="5833872"/>
            <a:ext cx="5117592" cy="256032"/>
          </a:xfrm>
          <a:prstGeom prst="rect">
            <a:avLst/>
          </a:prstGeom>
          <a:solidFill>
            <a:srgbClr val="1A20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11480" y="5852160"/>
            <a:ext cx="11338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0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</a:t>
            </a:r>
            <a:r>
              <a:rPr lang="en-US" sz="1000" b="1" dirty="0" err="1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онкретны</a:t>
            </a:r>
            <a:r>
              <a:rPr lang="ru-RU" sz="10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</a:t>
            </a:r>
            <a:r>
              <a:rPr lang="en-US" sz="10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b="1" dirty="0" err="1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пользовательски</a:t>
            </a:r>
            <a:r>
              <a:rPr lang="ru-RU" sz="10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</a:t>
            </a:r>
            <a:r>
              <a:rPr lang="en-US" sz="10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пути, каждый из которых проверен в ходе интервью. 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111118"/>
          </a:solidFill>
          <a:ln w="12700">
            <a:solidFill>
              <a:srgbClr val="111118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164592" y="6574536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Обложка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1645920" y="6574536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Итого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3127248" y="6574536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4608576" y="6574536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6089904" y="6574536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Сценарии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6089904" y="6547104"/>
            <a:ext cx="1389888" cy="27432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7571232" y="6574536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Механики</a:t>
            </a:r>
            <a:endParaRPr lang="en-US" sz="800" dirty="0"/>
          </a:p>
        </p:txBody>
      </p:sp>
      <p:sp>
        <p:nvSpPr>
          <p:cNvPr id="96" name="Text 94"/>
          <p:cNvSpPr/>
          <p:nvPr/>
        </p:nvSpPr>
        <p:spPr>
          <a:xfrm>
            <a:off x="9052560" y="6574536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</a:t>
            </a:r>
            <a:endParaRPr lang="en-US" sz="800" dirty="0"/>
          </a:p>
        </p:txBody>
      </p:sp>
      <p:sp>
        <p:nvSpPr>
          <p:cNvPr id="97" name="Text 95"/>
          <p:cNvSpPr/>
          <p:nvPr/>
        </p:nvSpPr>
        <p:spPr>
          <a:xfrm>
            <a:off x="10533888" y="6574536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</a:t>
            </a:r>
            <a:endParaRPr lang="en-US" sz="800" dirty="0"/>
          </a:p>
        </p:txBody>
      </p:sp>
      <p:sp>
        <p:nvSpPr>
          <p:cNvPr id="98" name="Text 96"/>
          <p:cNvSpPr/>
          <p:nvPr/>
        </p:nvSpPr>
        <p:spPr>
          <a:xfrm>
            <a:off x="11521440" y="657453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800" dirty="0"/>
          </a:p>
        </p:txBody>
      </p:sp>
      <p:grpSp>
        <p:nvGrpSpPr>
          <p:cNvPr id="99" name="Группа 98">
            <a:extLst>
              <a:ext uri="{FF2B5EF4-FFF2-40B4-BE49-F238E27FC236}">
                <a16:creationId xmlns:a16="http://schemas.microsoft.com/office/drawing/2014/main" id="{53BE3421-CEF5-47AC-ADAF-0DB12CBE5B2A}"/>
              </a:ext>
            </a:extLst>
          </p:cNvPr>
          <p:cNvGrpSpPr/>
          <p:nvPr/>
        </p:nvGrpSpPr>
        <p:grpSpPr>
          <a:xfrm>
            <a:off x="164592" y="74549"/>
            <a:ext cx="1972216" cy="545846"/>
            <a:chOff x="402336" y="115760"/>
            <a:chExt cx="2238374" cy="568833"/>
          </a:xfrm>
        </p:grpSpPr>
        <p:sp>
          <p:nvSpPr>
            <p:cNvPr id="100" name="Прямоугольник 99">
              <a:extLst>
                <a:ext uri="{FF2B5EF4-FFF2-40B4-BE49-F238E27FC236}">
                  <a16:creationId xmlns:a16="http://schemas.microsoft.com/office/drawing/2014/main" id="{111BC46C-27D9-4610-B097-8AC6D01E935B}"/>
                </a:ext>
              </a:extLst>
            </p:cNvPr>
            <p:cNvSpPr/>
            <p:nvPr/>
          </p:nvSpPr>
          <p:spPr>
            <a:xfrm>
              <a:off x="402336" y="115760"/>
              <a:ext cx="2238374" cy="568833"/>
            </a:xfrm>
            <a:prstGeom prst="rect">
              <a:avLst/>
            </a:prstGeom>
            <a:solidFill>
              <a:srgbClr val="C8FF00"/>
            </a:solidFill>
            <a:ln>
              <a:noFill/>
            </a:ln>
            <a:effectLst>
              <a:softEdge rad="1651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01" name="Рисунок 100">
              <a:extLst>
                <a:ext uri="{FF2B5EF4-FFF2-40B4-BE49-F238E27FC236}">
                  <a16:creationId xmlns:a16="http://schemas.microsoft.com/office/drawing/2014/main" id="{EB3AEF9D-FFD7-412C-807D-56F697DB74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35628" y="256365"/>
              <a:ext cx="1271588" cy="255128"/>
            </a:xfrm>
            <a:prstGeom prst="rect">
              <a:avLst/>
            </a:prstGeom>
          </p:spPr>
        </p:pic>
      </p:grpSp>
      <p:sp>
        <p:nvSpPr>
          <p:cNvPr id="103" name="Shape 86">
            <a:extLst>
              <a:ext uri="{FF2B5EF4-FFF2-40B4-BE49-F238E27FC236}">
                <a16:creationId xmlns:a16="http://schemas.microsoft.com/office/drawing/2014/main" id="{AD66C727-7B2E-4912-98F2-BB2EAE735E4E}"/>
              </a:ext>
            </a:extLst>
          </p:cNvPr>
          <p:cNvSpPr/>
          <p:nvPr/>
        </p:nvSpPr>
        <p:spPr>
          <a:xfrm>
            <a:off x="292608" y="6135624"/>
            <a:ext cx="11567160" cy="356616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04" name="Shape 87">
            <a:extLst>
              <a:ext uri="{FF2B5EF4-FFF2-40B4-BE49-F238E27FC236}">
                <a16:creationId xmlns:a16="http://schemas.microsoft.com/office/drawing/2014/main" id="{D2E84479-3357-49A7-8039-7F3F9E502309}"/>
              </a:ext>
            </a:extLst>
          </p:cNvPr>
          <p:cNvSpPr/>
          <p:nvPr/>
        </p:nvSpPr>
        <p:spPr>
          <a:xfrm>
            <a:off x="292608" y="6135624"/>
            <a:ext cx="45720" cy="35661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08" name="Овал 107">
            <a:extLst>
              <a:ext uri="{FF2B5EF4-FFF2-40B4-BE49-F238E27FC236}">
                <a16:creationId xmlns:a16="http://schemas.microsoft.com/office/drawing/2014/main" id="{42615433-452C-4610-91D6-522465273F97}"/>
              </a:ext>
            </a:extLst>
          </p:cNvPr>
          <p:cNvSpPr/>
          <p:nvPr/>
        </p:nvSpPr>
        <p:spPr>
          <a:xfrm>
            <a:off x="365760" y="6163691"/>
            <a:ext cx="1975104" cy="292608"/>
          </a:xfrm>
          <a:prstGeom prst="ellipse">
            <a:avLst/>
          </a:prstGeom>
          <a:solidFill>
            <a:srgbClr val="A468DC"/>
          </a:solidFill>
          <a:ln>
            <a:solidFill>
              <a:srgbClr val="A468DC"/>
            </a:solidFill>
          </a:ln>
          <a:effectLst>
            <a:glow>
              <a:schemeClr val="accent1">
                <a:alpha val="40000"/>
              </a:schemeClr>
            </a:glow>
            <a:softEdge rad="1016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6" name="Text 89">
            <a:extLst>
              <a:ext uri="{FF2B5EF4-FFF2-40B4-BE49-F238E27FC236}">
                <a16:creationId xmlns:a16="http://schemas.microsoft.com/office/drawing/2014/main" id="{EFA46C3E-9C70-4573-8F9C-E433F0B43046}"/>
              </a:ext>
            </a:extLst>
          </p:cNvPr>
          <p:cNvSpPr/>
          <p:nvPr/>
        </p:nvSpPr>
        <p:spPr>
          <a:xfrm>
            <a:off x="365760" y="6226332"/>
            <a:ext cx="1874520" cy="202632"/>
          </a:xfrm>
          <a:prstGeom prst="rect">
            <a:avLst/>
          </a:prstGeom>
          <a:noFill/>
          <a:ln/>
          <a:effectLst>
            <a:glow rad="800100">
              <a:schemeClr val="bg1">
                <a:alpha val="40000"/>
              </a:schemeClr>
            </a:glo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ИНТЕРАКТИВНЫЙ ПРОТОТИП</a:t>
            </a:r>
            <a:endParaRPr lang="en-US" sz="1000" i="1" dirty="0">
              <a:solidFill>
                <a:schemeClr val="bg1"/>
              </a:solidFill>
            </a:endParaRPr>
          </a:p>
        </p:txBody>
      </p:sp>
      <p:sp>
        <p:nvSpPr>
          <p:cNvPr id="107" name="Text 90">
            <a:extLst>
              <a:ext uri="{FF2B5EF4-FFF2-40B4-BE49-F238E27FC236}">
                <a16:creationId xmlns:a16="http://schemas.microsoft.com/office/drawing/2014/main" id="{B6F1185C-D0CA-4BB2-BDE7-738839877370}"/>
              </a:ext>
            </a:extLst>
          </p:cNvPr>
          <p:cNvSpPr/>
          <p:nvPr/>
        </p:nvSpPr>
        <p:spPr>
          <a:xfrm>
            <a:off x="2377440" y="6145864"/>
            <a:ext cx="9326880" cy="3280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Откройте файл otp_vitrina_to_be.html в </a:t>
            </a:r>
            <a:r>
              <a:rPr lang="en-US" sz="85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браузере</a:t>
            </a:r>
            <a:r>
              <a:rPr lang="ru-RU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</a:t>
            </a:r>
            <a:r>
              <a:rPr lang="en-US" sz="85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ереключайте</a:t>
            </a: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персоны (Игорь / Саша / DEFAULT)</a:t>
            </a:r>
            <a:r>
              <a:rPr lang="ru-RU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нажимайте на плитки и смотрите Bottom Sheet с деталями.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0C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7338" y="-9144"/>
            <a:ext cx="12161520" cy="1024128"/>
          </a:xfrm>
          <a:prstGeom prst="rect">
            <a:avLst/>
          </a:prstGeom>
          <a:solidFill>
            <a:srgbClr val="17171C"/>
          </a:solidFill>
          <a:ln w="12700">
            <a:solidFill>
              <a:srgbClr val="17171C"/>
            </a:solidFill>
            <a:prstDash val="solid"/>
          </a:ln>
        </p:spPr>
      </p:sp>
      <p:grpSp>
        <p:nvGrpSpPr>
          <p:cNvPr id="91" name="Группа 90">
            <a:extLst>
              <a:ext uri="{FF2B5EF4-FFF2-40B4-BE49-F238E27FC236}">
                <a16:creationId xmlns:a16="http://schemas.microsoft.com/office/drawing/2014/main" id="{56D744AE-27D5-4E2D-91CF-CDAE617B1709}"/>
              </a:ext>
            </a:extLst>
          </p:cNvPr>
          <p:cNvGrpSpPr/>
          <p:nvPr/>
        </p:nvGrpSpPr>
        <p:grpSpPr>
          <a:xfrm>
            <a:off x="2470292" y="146304"/>
            <a:ext cx="2244089" cy="352806"/>
            <a:chOff x="2470292" y="146304"/>
            <a:chExt cx="2244089" cy="352806"/>
          </a:xfrm>
          <a:solidFill>
            <a:srgbClr val="1A2000"/>
          </a:solidFill>
        </p:grpSpPr>
        <p:sp>
          <p:nvSpPr>
            <p:cNvPr id="5" name="Shape 3"/>
            <p:cNvSpPr/>
            <p:nvPr/>
          </p:nvSpPr>
          <p:spPr>
            <a:xfrm>
              <a:off x="2498376" y="146304"/>
              <a:ext cx="2187923" cy="352806"/>
            </a:xfrm>
            <a:prstGeom prst="roundRect">
              <a:avLst>
                <a:gd name="adj" fmla="val 20000"/>
              </a:avLst>
            </a:prstGeom>
            <a:grpFill/>
            <a:ln w="12700">
              <a:solidFill>
                <a:srgbClr val="C8FF00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2470292" y="195834"/>
              <a:ext cx="2244089" cy="238506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C8FF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МЕХАНИКИ ПЕРСОНАЛИЗАЦИИ</a:t>
              </a:r>
              <a:endParaRPr lang="en-US" sz="1100" dirty="0">
                <a:solidFill>
                  <a:srgbClr val="C8FF00"/>
                </a:solidFill>
              </a:endParaRPr>
            </a:p>
          </p:txBody>
        </p:sp>
      </p:grpSp>
      <p:sp>
        <p:nvSpPr>
          <p:cNvPr id="7" name="Text 5"/>
          <p:cNvSpPr/>
          <p:nvPr/>
        </p:nvSpPr>
        <p:spPr>
          <a:xfrm>
            <a:off x="256413" y="534819"/>
            <a:ext cx="11521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Витрина обновляется в реальном времени: транзакционные сигналы → ML-модель → персональный </a:t>
            </a:r>
            <a:r>
              <a:rPr lang="en-US" sz="13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</a:t>
            </a: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экран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20040" y="1133856"/>
            <a:ext cx="36576" cy="195580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097280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Поток данных — от транзакции до витрины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389888"/>
            <a:ext cx="2743200" cy="1280160"/>
          </a:xfrm>
          <a:prstGeom prst="rect">
            <a:avLst/>
          </a:prstGeom>
          <a:solidFill>
            <a:srgbClr val="1E1E26"/>
          </a:solidFill>
          <a:ln w="12700">
            <a:solidFill>
              <a:srgbClr val="A468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389888"/>
            <a:ext cx="2743200" cy="36576"/>
          </a:xfrm>
          <a:prstGeom prst="rect">
            <a:avLst/>
          </a:prstGeom>
          <a:solidFill>
            <a:srgbClr val="A468DC"/>
          </a:solidFill>
          <a:ln w="12700">
            <a:solidFill>
              <a:srgbClr val="A468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" y="1847088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Транзакция клиента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9768" y="2121408"/>
            <a:ext cx="25237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Покупка в любом </a:t>
            </a:r>
            <a:r>
              <a:rPr lang="en-US" sz="105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магазине</a:t>
            </a: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</a:t>
            </a:r>
            <a:r>
              <a:rPr lang="en-US" sz="105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</a:t>
            </a:r>
            <a:r>
              <a:rPr lang="ru-RU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</a:t>
            </a: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СБП, онлайн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063240" y="1682496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46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>
              <a:solidFill>
                <a:srgbClr val="A468DC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264408" y="1389888"/>
            <a:ext cx="2743200" cy="1280160"/>
          </a:xfrm>
          <a:prstGeom prst="rect">
            <a:avLst/>
          </a:prstGeom>
          <a:solidFill>
            <a:srgbClr val="1E1E26"/>
          </a:solidFill>
          <a:ln w="12700">
            <a:solidFill>
              <a:srgbClr val="A468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64408" y="1389888"/>
            <a:ext cx="2743200" cy="36576"/>
          </a:xfrm>
          <a:prstGeom prst="rect">
            <a:avLst/>
          </a:prstGeom>
          <a:solidFill>
            <a:srgbClr val="A468DC"/>
          </a:solidFill>
          <a:ln w="12700">
            <a:solidFill>
              <a:srgbClr val="A468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74136" y="1847088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MCC-классификация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74136" y="2121408"/>
            <a:ext cx="25237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 категории магазина определяется автоматически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007608" y="1682496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46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>
              <a:solidFill>
                <a:srgbClr val="A468DC"/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208776" y="1389888"/>
            <a:ext cx="2743200" cy="1280160"/>
          </a:xfrm>
          <a:prstGeom prst="rect">
            <a:avLst/>
          </a:prstGeom>
          <a:solidFill>
            <a:srgbClr val="1E1E26"/>
          </a:solidFill>
          <a:ln w="12700">
            <a:solidFill>
              <a:srgbClr val="A468D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08776" y="1389888"/>
            <a:ext cx="2743200" cy="36576"/>
          </a:xfrm>
          <a:prstGeom prst="rect">
            <a:avLst/>
          </a:prstGeom>
          <a:solidFill>
            <a:srgbClr val="A468DC"/>
          </a:solidFill>
          <a:ln w="12700">
            <a:solidFill>
              <a:srgbClr val="A468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18504" y="1847088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Определение ситуации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18504" y="2121408"/>
            <a:ext cx="25237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ML-модель сопоставляет паттерн трат с ситуацией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951976" y="1682496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46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>
              <a:solidFill>
                <a:srgbClr val="A468DC"/>
              </a:solidFill>
            </a:endParaRPr>
          </a:p>
        </p:txBody>
      </p:sp>
      <p:sp>
        <p:nvSpPr>
          <p:cNvPr id="28" name="Shape 26"/>
          <p:cNvSpPr/>
          <p:nvPr/>
        </p:nvSpPr>
        <p:spPr>
          <a:xfrm>
            <a:off x="9153144" y="1389888"/>
            <a:ext cx="2743200" cy="1280160"/>
          </a:xfrm>
          <a:prstGeom prst="rect">
            <a:avLst/>
          </a:prstGeom>
          <a:solidFill>
            <a:srgbClr val="1E1E26"/>
          </a:solidFill>
          <a:ln w="12700">
            <a:solidFill>
              <a:srgbClr val="A468D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53144" y="1389888"/>
            <a:ext cx="2743200" cy="36576"/>
          </a:xfrm>
          <a:prstGeom prst="rect">
            <a:avLst/>
          </a:prstGeom>
          <a:solidFill>
            <a:srgbClr val="A468DC"/>
          </a:solidFill>
          <a:ln w="12700">
            <a:solidFill>
              <a:srgbClr val="A468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262872" y="1847088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Обновление витрины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262872" y="2121408"/>
            <a:ext cx="25237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следующем </a:t>
            </a:r>
            <a:r>
              <a:rPr lang="en-US" sz="105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открытии</a:t>
            </a: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отображается</a:t>
            </a: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новый главный экран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20040" y="2761488"/>
            <a:ext cx="11521440" cy="274320"/>
          </a:xfrm>
          <a:prstGeom prst="rect">
            <a:avLst/>
          </a:prstGeom>
          <a:solidFill>
            <a:srgbClr val="1E1E26"/>
          </a:solidFill>
          <a:ln w="12700">
            <a:solidFill>
              <a:srgbClr val="A468D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2779776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 err="1">
                <a:solidFill>
                  <a:srgbClr val="A46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Вся</a:t>
            </a:r>
            <a:r>
              <a:rPr lang="en-US" sz="1050" b="1" dirty="0">
                <a:solidFill>
                  <a:srgbClr val="A46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цепочка занимает секунды — витрина обновляется при следующем открытии </a:t>
            </a:r>
            <a:r>
              <a:rPr lang="en-US" sz="1050" b="1" dirty="0" err="1">
                <a:solidFill>
                  <a:srgbClr val="A46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приложения</a:t>
            </a:r>
            <a:r>
              <a:rPr lang="en-US" sz="1050" b="1" dirty="0">
                <a:solidFill>
                  <a:srgbClr val="A46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>
              <a:solidFill>
                <a:srgbClr val="A468DC"/>
              </a:solidFill>
            </a:endParaRPr>
          </a:p>
        </p:txBody>
      </p:sp>
      <p:sp>
        <p:nvSpPr>
          <p:cNvPr id="35" name="Shape 33"/>
          <p:cNvSpPr/>
          <p:nvPr/>
        </p:nvSpPr>
        <p:spPr>
          <a:xfrm>
            <a:off x="320040" y="3182112"/>
            <a:ext cx="36576" cy="195580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4904" y="3127248"/>
            <a:ext cx="6766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MCC-примеры: сигнал → ситуация → оффер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0040" y="3438144"/>
            <a:ext cx="8046720" cy="256032"/>
          </a:xfrm>
          <a:prstGeom prst="rect">
            <a:avLst/>
          </a:prstGeom>
          <a:solidFill>
            <a:srgbClr val="23232C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34381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купил </a:t>
            </a:r>
            <a:r>
              <a:rPr lang="en-US" sz="1050" b="1" dirty="0" err="1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2880360" y="34381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Ситуация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440680" y="3438144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показывает витрина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20040" y="3730752"/>
            <a:ext cx="8046720" cy="438912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" y="3730752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 в Леруа Мерлен (MCC 5211)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2880360" y="3730752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Ремонт 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349240" y="3730752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Кредитный оффер + аналитика трат на стройматериалы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20040" y="4206240"/>
            <a:ext cx="8046720" cy="438912"/>
          </a:xfrm>
          <a:prstGeom prst="rect">
            <a:avLst/>
          </a:prstGeom>
          <a:solidFill>
            <a:srgbClr val="23232C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1480" y="420624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 авиабилетов (MCC 3000–3299)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2880360" y="420624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Отпуск️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349240" y="4206240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Тревел-страховка + курс валюты + накоп. счёт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20040" y="4681728"/>
            <a:ext cx="8046720" cy="438912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11480" y="4681728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платежа за еду вечером (MCC 5812)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2880360" y="4681728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 err="1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Выгода</a:t>
            </a:r>
            <a:r>
              <a:rPr lang="en-US" sz="10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349240" y="4681728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Предложение кэшбэк-карты на рестораны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20040" y="5157216"/>
            <a:ext cx="8046720" cy="438912"/>
          </a:xfrm>
          <a:prstGeom prst="rect">
            <a:avLst/>
          </a:prstGeom>
          <a:solidFill>
            <a:srgbClr val="23232C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1480" y="5157216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Аптека + страховые платежи (MCC 5912)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2880360" y="5157216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 err="1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Здоровье</a:t>
            </a:r>
            <a:r>
              <a:rPr lang="en-US" sz="10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349240" y="5157216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Медстрахование, партнёрские скидки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8549640" y="3182112"/>
            <a:ext cx="36576" cy="195580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641080" y="3145536"/>
            <a:ext cx="348310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Прозрачность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8549640" y="3438144"/>
            <a:ext cx="3291840" cy="749808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549640" y="3438144"/>
            <a:ext cx="36576" cy="7498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997696" y="347472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Свободные деньги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8997696" y="3712464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Баланс минус обязательные платежи — сколько реально можно потратить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8549640" y="4261104"/>
            <a:ext cx="3291840" cy="749808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549640" y="4261104"/>
            <a:ext cx="36576" cy="7498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997696" y="429768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Предиктивные уведомления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8997696" y="4535424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«Через 10 дней может не хватить на ЖКХ при текущем темпе»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8549640" y="5084064"/>
            <a:ext cx="3291840" cy="749808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549640" y="5084064"/>
            <a:ext cx="36576" cy="7498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997696" y="5089779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Симулятор кредита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8997696" y="5358384"/>
            <a:ext cx="28742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Слайдер срок/</a:t>
            </a:r>
            <a:r>
              <a:rPr lang="en-US" sz="105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сумма</a:t>
            </a:r>
            <a:r>
              <a:rPr lang="ru-RU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для отображения </a:t>
            </a:r>
            <a:r>
              <a:rPr lang="en-US" sz="105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</a:t>
            </a:r>
            <a:r>
              <a:rPr lang="ru-RU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ежей</a:t>
            </a: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 реальном времени</a:t>
            </a:r>
            <a:r>
              <a:rPr lang="ru-RU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повлечёт снижения страха.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274320" y="5998464"/>
            <a:ext cx="11521440" cy="411480"/>
          </a:xfrm>
          <a:prstGeom prst="rect">
            <a:avLst/>
          </a:prstGeom>
          <a:solidFill>
            <a:srgbClr val="1E1E26"/>
          </a:solidFill>
          <a:ln w="12700">
            <a:solidFill>
              <a:srgbClr val="A468DC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74320" y="6007989"/>
            <a:ext cx="36576" cy="411480"/>
          </a:xfrm>
          <a:prstGeom prst="rect">
            <a:avLst/>
          </a:prstGeom>
          <a:solidFill>
            <a:srgbClr val="A468DC"/>
          </a:solidFill>
          <a:ln w="12700">
            <a:solidFill>
              <a:srgbClr val="A468DC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47650" y="6035040"/>
            <a:ext cx="1144752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46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Реализуемость: MCC + </a:t>
            </a:r>
            <a:r>
              <a:rPr lang="en-US" sz="1000" b="1" dirty="0" err="1">
                <a:solidFill>
                  <a:srgbClr val="A46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событийная</a:t>
            </a:r>
            <a:r>
              <a:rPr lang="en-US" sz="1000" b="1" dirty="0">
                <a:solidFill>
                  <a:srgbClr val="A46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b="1" dirty="0" err="1">
                <a:solidFill>
                  <a:srgbClr val="A46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обработка</a:t>
            </a:r>
            <a:r>
              <a:rPr lang="en-US" sz="1000" b="1" dirty="0">
                <a:solidFill>
                  <a:srgbClr val="A46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Используются существующие данные ОТП. Phase 1 (ситуативные блоки): 3 мес. · Phase 2 (ML-персонализация): 6 мес. · Phase 3 (оптимизация): ongoing.</a:t>
            </a:r>
            <a:endParaRPr lang="en-US" sz="1000" dirty="0">
              <a:solidFill>
                <a:srgbClr val="A468DC"/>
              </a:solidFill>
            </a:endParaRPr>
          </a:p>
        </p:txBody>
      </p:sp>
      <p:sp>
        <p:nvSpPr>
          <p:cNvPr id="77" name="Shape 75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111118"/>
          </a:solidFill>
          <a:ln w="12700">
            <a:solidFill>
              <a:srgbClr val="11111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64592" y="6574536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Обложка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1645920" y="6574536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Итого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3127248" y="6574536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4608576" y="6574536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6089904" y="6574536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Сценарии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7571232" y="6574536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Механики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7571232" y="6547104"/>
            <a:ext cx="1389888" cy="27432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9052560" y="6574536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10533888" y="6574536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11521440" y="657453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800" dirty="0"/>
          </a:p>
        </p:txBody>
      </p:sp>
      <p:grpSp>
        <p:nvGrpSpPr>
          <p:cNvPr id="88" name="Группа 87">
            <a:extLst>
              <a:ext uri="{FF2B5EF4-FFF2-40B4-BE49-F238E27FC236}">
                <a16:creationId xmlns:a16="http://schemas.microsoft.com/office/drawing/2014/main" id="{455913D5-9437-4B41-AF71-D4075973F858}"/>
              </a:ext>
            </a:extLst>
          </p:cNvPr>
          <p:cNvGrpSpPr/>
          <p:nvPr/>
        </p:nvGrpSpPr>
        <p:grpSpPr>
          <a:xfrm>
            <a:off x="247650" y="47117"/>
            <a:ext cx="1972216" cy="545846"/>
            <a:chOff x="402336" y="115760"/>
            <a:chExt cx="2238374" cy="568833"/>
          </a:xfrm>
        </p:grpSpPr>
        <p:sp>
          <p:nvSpPr>
            <p:cNvPr id="89" name="Прямоугольник 88">
              <a:extLst>
                <a:ext uri="{FF2B5EF4-FFF2-40B4-BE49-F238E27FC236}">
                  <a16:creationId xmlns:a16="http://schemas.microsoft.com/office/drawing/2014/main" id="{7C3C031A-953A-4DA9-B64C-001B52B5EC95}"/>
                </a:ext>
              </a:extLst>
            </p:cNvPr>
            <p:cNvSpPr/>
            <p:nvPr/>
          </p:nvSpPr>
          <p:spPr>
            <a:xfrm>
              <a:off x="402336" y="115760"/>
              <a:ext cx="2238374" cy="568833"/>
            </a:xfrm>
            <a:prstGeom prst="rect">
              <a:avLst/>
            </a:prstGeom>
            <a:solidFill>
              <a:srgbClr val="C8FF00"/>
            </a:solidFill>
            <a:ln>
              <a:noFill/>
            </a:ln>
            <a:effectLst>
              <a:softEdge rad="1651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90" name="Рисунок 89">
              <a:extLst>
                <a:ext uri="{FF2B5EF4-FFF2-40B4-BE49-F238E27FC236}">
                  <a16:creationId xmlns:a16="http://schemas.microsoft.com/office/drawing/2014/main" id="{FDA0EFF0-AEAE-47DD-A422-8EAD51587A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35628" y="256365"/>
              <a:ext cx="1271588" cy="255128"/>
            </a:xfrm>
            <a:prstGeom prst="rect">
              <a:avLst/>
            </a:prstGeom>
          </p:spPr>
        </p:pic>
      </p:grpSp>
      <p:pic>
        <p:nvPicPr>
          <p:cNvPr id="93" name="Рисунок 92" descr="Мишень со сплошной заливкой">
            <a:extLst>
              <a:ext uri="{FF2B5EF4-FFF2-40B4-BE49-F238E27FC236}">
                <a16:creationId xmlns:a16="http://schemas.microsoft.com/office/drawing/2014/main" id="{C9DDA415-DA8F-418A-BB88-2E39868054F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75025" y="1465312"/>
            <a:ext cx="417247" cy="417247"/>
          </a:xfrm>
          <a:prstGeom prst="rect">
            <a:avLst/>
          </a:prstGeom>
        </p:spPr>
      </p:pic>
      <p:pic>
        <p:nvPicPr>
          <p:cNvPr id="95" name="Рисунок 94" descr="Книги на полке со сплошной заливкой">
            <a:extLst>
              <a:ext uri="{FF2B5EF4-FFF2-40B4-BE49-F238E27FC236}">
                <a16:creationId xmlns:a16="http://schemas.microsoft.com/office/drawing/2014/main" id="{A46980F7-DECE-42D1-B242-ABDCA80A3F0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58904" y="1467507"/>
            <a:ext cx="396239" cy="396239"/>
          </a:xfrm>
          <a:prstGeom prst="rect">
            <a:avLst/>
          </a:prstGeom>
        </p:spPr>
      </p:pic>
      <p:pic>
        <p:nvPicPr>
          <p:cNvPr id="97" name="Рисунок 96" descr="Коробка со сплошной заливкой">
            <a:extLst>
              <a:ext uri="{FF2B5EF4-FFF2-40B4-BE49-F238E27FC236}">
                <a16:creationId xmlns:a16="http://schemas.microsoft.com/office/drawing/2014/main" id="{185F5000-90AA-4523-BC49-B4E6048357C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271004" y="1502686"/>
            <a:ext cx="385308" cy="385308"/>
          </a:xfrm>
          <a:prstGeom prst="rect">
            <a:avLst/>
          </a:prstGeom>
        </p:spPr>
      </p:pic>
      <p:pic>
        <p:nvPicPr>
          <p:cNvPr id="99" name="Рисунок 98" descr="флажок установлен со сплошной заливкой">
            <a:extLst>
              <a:ext uri="{FF2B5EF4-FFF2-40B4-BE49-F238E27FC236}">
                <a16:creationId xmlns:a16="http://schemas.microsoft.com/office/drawing/2014/main" id="{E6104D1E-02D6-4EB7-AD29-A5DA191FEA7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215372" y="1472184"/>
            <a:ext cx="438912" cy="438912"/>
          </a:xfrm>
          <a:prstGeom prst="rect">
            <a:avLst/>
          </a:prstGeom>
        </p:spPr>
      </p:pic>
      <p:pic>
        <p:nvPicPr>
          <p:cNvPr id="101" name="Рисунок 100" descr="Монеты со сплошной заливкой">
            <a:extLst>
              <a:ext uri="{FF2B5EF4-FFF2-40B4-BE49-F238E27FC236}">
                <a16:creationId xmlns:a16="http://schemas.microsoft.com/office/drawing/2014/main" id="{26015434-D856-4B9F-B727-F8CCA5D37C4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686800" y="3684937"/>
            <a:ext cx="311085" cy="311085"/>
          </a:xfrm>
          <a:prstGeom prst="rect">
            <a:avLst/>
          </a:prstGeom>
        </p:spPr>
      </p:pic>
      <p:pic>
        <p:nvPicPr>
          <p:cNvPr id="103" name="Рисунок 102" descr="Комментарий &quot;Важно&quot; со сплошной заливкой">
            <a:extLst>
              <a:ext uri="{FF2B5EF4-FFF2-40B4-BE49-F238E27FC236}">
                <a16:creationId xmlns:a16="http://schemas.microsoft.com/office/drawing/2014/main" id="{18852BBF-42FF-49BE-A9E3-33D35851217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655225" y="4490563"/>
            <a:ext cx="355757" cy="355757"/>
          </a:xfrm>
          <a:prstGeom prst="rect">
            <a:avLst/>
          </a:prstGeom>
        </p:spPr>
      </p:pic>
      <p:pic>
        <p:nvPicPr>
          <p:cNvPr id="105" name="Рисунок 104" descr="Ежедневник со сплошной заливкой">
            <a:extLst>
              <a:ext uri="{FF2B5EF4-FFF2-40B4-BE49-F238E27FC236}">
                <a16:creationId xmlns:a16="http://schemas.microsoft.com/office/drawing/2014/main" id="{CF65C08B-1D82-433F-BF9C-9EDFED4E5A44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679942" y="5301615"/>
            <a:ext cx="324612" cy="32461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0C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24128"/>
          </a:xfrm>
          <a:prstGeom prst="rect">
            <a:avLst/>
          </a:prstGeom>
          <a:solidFill>
            <a:srgbClr val="17171C"/>
          </a:solidFill>
          <a:ln w="12700">
            <a:solidFill>
              <a:srgbClr val="17171C"/>
            </a:solidFill>
            <a:prstDash val="solid"/>
          </a:ln>
        </p:spPr>
      </p:sp>
      <p:grpSp>
        <p:nvGrpSpPr>
          <p:cNvPr id="111" name="Группа 110">
            <a:extLst>
              <a:ext uri="{FF2B5EF4-FFF2-40B4-BE49-F238E27FC236}">
                <a16:creationId xmlns:a16="http://schemas.microsoft.com/office/drawing/2014/main" id="{3235D125-9CB5-41FD-9A1C-5EB697EB00E7}"/>
              </a:ext>
            </a:extLst>
          </p:cNvPr>
          <p:cNvGrpSpPr/>
          <p:nvPr/>
        </p:nvGrpSpPr>
        <p:grpSpPr>
          <a:xfrm>
            <a:off x="2206752" y="109728"/>
            <a:ext cx="1844040" cy="374904"/>
            <a:chOff x="2503339" y="128016"/>
            <a:chExt cx="1844040" cy="374904"/>
          </a:xfrm>
        </p:grpSpPr>
        <p:sp>
          <p:nvSpPr>
            <p:cNvPr id="5" name="Shape 3"/>
            <p:cNvSpPr/>
            <p:nvPr/>
          </p:nvSpPr>
          <p:spPr>
            <a:xfrm>
              <a:off x="2503339" y="128016"/>
              <a:ext cx="1828800" cy="374904"/>
            </a:xfrm>
            <a:prstGeom prst="roundRect">
              <a:avLst>
                <a:gd name="adj" fmla="val 20000"/>
              </a:avLst>
            </a:prstGeom>
            <a:solidFill>
              <a:srgbClr val="1A2000"/>
            </a:solidFill>
            <a:ln w="12700">
              <a:solidFill>
                <a:srgbClr val="C8FF00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2518579" y="205740"/>
              <a:ext cx="18288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C8FF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МЕТРИКИ / БИЗНЕС-ЭФФЕКТ</a:t>
              </a:r>
              <a:endParaRPr lang="en-US" sz="1050" dirty="0"/>
            </a:p>
          </p:txBody>
        </p:sp>
      </p:grpSp>
      <p:sp>
        <p:nvSpPr>
          <p:cNvPr id="7" name="Text 5"/>
          <p:cNvSpPr/>
          <p:nvPr/>
        </p:nvSpPr>
        <p:spPr>
          <a:xfrm>
            <a:off x="5128641" y="388620"/>
            <a:ext cx="6758559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Гиперперсонализированная витрина даёт +30–38% CLV за 3 года: рост вовлечённости, двукратный рост видимости продуктов и снижение оттока на 6 </a:t>
            </a:r>
            <a:r>
              <a:rPr lang="ru-RU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133856"/>
            <a:ext cx="36576" cy="195580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097280"/>
            <a:ext cx="7223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Таблица KPI — до и после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371600"/>
            <a:ext cx="8275320" cy="292608"/>
          </a:xfrm>
          <a:prstGeom prst="rect">
            <a:avLst/>
          </a:prstGeom>
          <a:solidFill>
            <a:srgbClr val="23232C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" y="138988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Метрика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953512" y="138988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AS-IS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050792" y="138988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148072" y="138988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Механика роста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1700784"/>
            <a:ext cx="8275320" cy="457200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" y="1700784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DAU/MAU Ratio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15387" y="1700784"/>
            <a:ext cx="102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830955" y="1709928"/>
            <a:ext cx="102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~38%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148072" y="1700784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Регулярный возврат: прогресс-бар цели + предиктив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203704"/>
            <a:ext cx="8275320" cy="457200"/>
          </a:xfrm>
          <a:prstGeom prst="rect">
            <a:avLst/>
          </a:prstGeom>
          <a:solidFill>
            <a:srgbClr val="23232C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3192" y="2203704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Discovery Rate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15387" y="2203704"/>
            <a:ext cx="102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830955" y="2212848"/>
            <a:ext cx="102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~25–30%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148072" y="2203704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Контекстный показ продукта в нужный момент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2706624"/>
            <a:ext cx="8275320" cy="457200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3192" y="2706624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 оффера продукта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715387" y="2706624"/>
            <a:ext cx="102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830955" y="2715768"/>
            <a:ext cx="102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8–12%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148072" y="2706624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Оффер релевантен ситуации клиента здесь и сейчас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3209544"/>
            <a:ext cx="8275320" cy="457200"/>
          </a:xfrm>
          <a:prstGeom prst="rect">
            <a:avLst/>
          </a:prstGeom>
          <a:solidFill>
            <a:srgbClr val="23232C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3192" y="3209544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 в заявку на продукт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715387" y="3209544"/>
            <a:ext cx="102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1–2%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830955" y="3218688"/>
            <a:ext cx="102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3–4%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148072" y="3209544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Симулятор кредита снижает барьер принятия решения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0040" y="3712464"/>
            <a:ext cx="8275320" cy="457200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3192" y="3712464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(годовой)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715387" y="3712464"/>
            <a:ext cx="102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~28%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830955" y="3721608"/>
            <a:ext cx="102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~22%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148072" y="3712464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Привычка ежедневного использования → лояльность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20040" y="4215384"/>
            <a:ext cx="8275320" cy="457200"/>
          </a:xfrm>
          <a:prstGeom prst="rect">
            <a:avLst/>
          </a:prstGeom>
          <a:solidFill>
            <a:srgbClr val="23232C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3192" y="4215384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CLV (3 года)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715387" y="4215384"/>
            <a:ext cx="102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r>
              <a:rPr lang="ru-RU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127 032 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₽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830954" y="4224528"/>
            <a:ext cx="114947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u-RU" sz="105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~158 761 </a:t>
            </a:r>
            <a:r>
              <a:rPr lang="en-US" sz="105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₽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148072" y="4215384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r>
              <a:rPr lang="ru-RU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%: больше продуктов на клиента, выше ARPU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20040" y="4828032"/>
            <a:ext cx="36576" cy="195580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1480" y="4791456"/>
            <a:ext cx="7223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Логика роста CLV — причинно-следственная цепочка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320040" y="5065776"/>
            <a:ext cx="1261872" cy="365760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0040" y="5065776"/>
            <a:ext cx="1261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Контекстный показ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600200" y="5074920"/>
            <a:ext cx="155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1737360" y="5065776"/>
            <a:ext cx="1261872" cy="365760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737360" y="5065776"/>
            <a:ext cx="1261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CTR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3017520" y="5074920"/>
            <a:ext cx="155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154680" y="5065776"/>
            <a:ext cx="1261872" cy="365760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154680" y="5065776"/>
            <a:ext cx="1261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CR в заявку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416552" y="5074920"/>
            <a:ext cx="155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572000" y="5065776"/>
            <a:ext cx="1261872" cy="365760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0" y="5065776"/>
            <a:ext cx="1261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Больше продуктов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843016" y="5074920"/>
            <a:ext cx="155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989320" y="5065776"/>
            <a:ext cx="1261872" cy="365760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989320" y="5065776"/>
            <a:ext cx="1261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ARPU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7251192" y="5084064"/>
            <a:ext cx="155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7406640" y="5065776"/>
            <a:ext cx="1188720" cy="365760"/>
          </a:xfrm>
          <a:prstGeom prst="rect">
            <a:avLst/>
          </a:prstGeom>
          <a:solidFill>
            <a:srgbClr val="1A20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406640" y="5065776"/>
            <a:ext cx="1106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CLV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320040" y="5541264"/>
            <a:ext cx="8275320" cy="1033272"/>
          </a:xfrm>
          <a:prstGeom prst="rect">
            <a:avLst/>
          </a:prstGeom>
          <a:solidFill>
            <a:srgbClr val="23232C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11480" y="555955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Формула CLV: 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411480" y="5787771"/>
            <a:ext cx="1734853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CLV = ARPU × R / (1 − R + d)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8778240" y="1088136"/>
            <a:ext cx="36576" cy="195580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869680" y="105156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альтернатив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8778240" y="1152144"/>
            <a:ext cx="3108960" cy="237744"/>
          </a:xfrm>
          <a:prstGeom prst="rect">
            <a:avLst/>
          </a:prstGeom>
          <a:solidFill>
            <a:srgbClr val="23232C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796528" y="116128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Критерии оценки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8778240" y="1645920"/>
            <a:ext cx="3108960" cy="384048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851392" y="166420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Ограничения кейса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10533888" y="1664208"/>
            <a:ext cx="438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10991088" y="1664208"/>
            <a:ext cx="438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11448288" y="1664208"/>
            <a:ext cx="438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8778240" y="2066544"/>
            <a:ext cx="3108960" cy="384048"/>
          </a:xfrm>
          <a:prstGeom prst="rect">
            <a:avLst/>
          </a:prstGeom>
          <a:solidFill>
            <a:srgbClr val="23232C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851392" y="208483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Бизнес-эффект</a:t>
            </a:r>
            <a:endParaRPr lang="en-US" sz="1050" dirty="0"/>
          </a:p>
        </p:txBody>
      </p:sp>
      <p:sp>
        <p:nvSpPr>
          <p:cNvPr id="78" name="Text 76"/>
          <p:cNvSpPr/>
          <p:nvPr/>
        </p:nvSpPr>
        <p:spPr>
          <a:xfrm>
            <a:off x="10533888" y="2084832"/>
            <a:ext cx="438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10991088" y="2084832"/>
            <a:ext cx="438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11448288" y="2084832"/>
            <a:ext cx="438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8778240" y="2487168"/>
            <a:ext cx="3108960" cy="384048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851392" y="2505456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Реализуемость</a:t>
            </a:r>
            <a:endParaRPr lang="en-US" sz="1050" dirty="0"/>
          </a:p>
        </p:txBody>
      </p:sp>
      <p:sp>
        <p:nvSpPr>
          <p:cNvPr id="83" name="Text 81"/>
          <p:cNvSpPr/>
          <p:nvPr/>
        </p:nvSpPr>
        <p:spPr>
          <a:xfrm>
            <a:off x="10533888" y="2505456"/>
            <a:ext cx="438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10991088" y="2505456"/>
            <a:ext cx="438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11448288" y="2505456"/>
            <a:ext cx="438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grpSp>
        <p:nvGrpSpPr>
          <p:cNvPr id="112" name="Группа 111">
            <a:extLst>
              <a:ext uri="{FF2B5EF4-FFF2-40B4-BE49-F238E27FC236}">
                <a16:creationId xmlns:a16="http://schemas.microsoft.com/office/drawing/2014/main" id="{0331D2B5-B9DF-4174-84BF-576C531FD8C1}"/>
              </a:ext>
            </a:extLst>
          </p:cNvPr>
          <p:cNvGrpSpPr/>
          <p:nvPr/>
        </p:nvGrpSpPr>
        <p:grpSpPr>
          <a:xfrm>
            <a:off x="10369296" y="1369218"/>
            <a:ext cx="658368" cy="240125"/>
            <a:chOff x="10204704" y="1386317"/>
            <a:chExt cx="658368" cy="240125"/>
          </a:xfrm>
        </p:grpSpPr>
        <p:sp>
          <p:nvSpPr>
            <p:cNvPr id="86" name="Shape 84"/>
            <p:cNvSpPr/>
            <p:nvPr/>
          </p:nvSpPr>
          <p:spPr>
            <a:xfrm>
              <a:off x="10296144" y="1388698"/>
              <a:ext cx="475488" cy="237744"/>
            </a:xfrm>
            <a:prstGeom prst="rect">
              <a:avLst/>
            </a:prstGeom>
            <a:solidFill>
              <a:srgbClr val="23232C"/>
            </a:solidFill>
            <a:ln w="12700">
              <a:solidFill>
                <a:srgbClr val="2A2A38"/>
              </a:solidFill>
              <a:prstDash val="solid"/>
            </a:ln>
          </p:spPr>
        </p:sp>
        <p:sp>
          <p:nvSpPr>
            <p:cNvPr id="87" name="Text 85"/>
            <p:cNvSpPr/>
            <p:nvPr/>
          </p:nvSpPr>
          <p:spPr>
            <a:xfrm>
              <a:off x="10204704" y="1386317"/>
              <a:ext cx="658368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Чат-бот</a:t>
              </a:r>
              <a:endParaRPr lang="en-US" sz="1000" dirty="0"/>
            </a:p>
          </p:txBody>
        </p:sp>
      </p:grpSp>
      <p:sp>
        <p:nvSpPr>
          <p:cNvPr id="88" name="Shape 86"/>
          <p:cNvSpPr/>
          <p:nvPr/>
        </p:nvSpPr>
        <p:spPr>
          <a:xfrm>
            <a:off x="10936224" y="1371600"/>
            <a:ext cx="493776" cy="237744"/>
          </a:xfrm>
          <a:prstGeom prst="rect">
            <a:avLst/>
          </a:prstGeom>
          <a:solidFill>
            <a:srgbClr val="23232C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10911650" y="1390696"/>
            <a:ext cx="5429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Суперапп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11411712" y="1371600"/>
            <a:ext cx="475488" cy="237744"/>
          </a:xfrm>
          <a:prstGeom prst="rect">
            <a:avLst/>
          </a:prstGeom>
          <a:solidFill>
            <a:srgbClr val="1A20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1335131" y="1374775"/>
            <a:ext cx="62865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780"/>
              </a:lnSpc>
              <a:buNone/>
            </a:pPr>
            <a:r>
              <a:rPr lang="en-US" sz="900" b="1" dirty="0" err="1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Витрина</a:t>
            </a:r>
            <a:r>
              <a:rPr lang="en-US" sz="9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</p:txBody>
      </p:sp>
      <p:grpSp>
        <p:nvGrpSpPr>
          <p:cNvPr id="113" name="Группа 112">
            <a:extLst>
              <a:ext uri="{FF2B5EF4-FFF2-40B4-BE49-F238E27FC236}">
                <a16:creationId xmlns:a16="http://schemas.microsoft.com/office/drawing/2014/main" id="{8D8FB756-4C3E-4A70-A2CC-417F25E2EA38}"/>
              </a:ext>
            </a:extLst>
          </p:cNvPr>
          <p:cNvGrpSpPr/>
          <p:nvPr/>
        </p:nvGrpSpPr>
        <p:grpSpPr>
          <a:xfrm>
            <a:off x="8778240" y="2984754"/>
            <a:ext cx="3108960" cy="621792"/>
            <a:chOff x="8778240" y="2743200"/>
            <a:chExt cx="3108960" cy="621792"/>
          </a:xfrm>
        </p:grpSpPr>
        <p:sp>
          <p:nvSpPr>
            <p:cNvPr id="92" name="Shape 90"/>
            <p:cNvSpPr/>
            <p:nvPr/>
          </p:nvSpPr>
          <p:spPr>
            <a:xfrm>
              <a:off x="8778240" y="2743200"/>
              <a:ext cx="3108960" cy="621792"/>
            </a:xfrm>
            <a:prstGeom prst="rect">
              <a:avLst/>
            </a:prstGeom>
            <a:solidFill>
              <a:srgbClr val="1A2000"/>
            </a:solidFill>
            <a:ln w="12700">
              <a:solidFill>
                <a:srgbClr val="C8FF00"/>
              </a:solidFill>
              <a:prstDash val="solid"/>
            </a:ln>
          </p:spPr>
        </p:sp>
        <p:sp>
          <p:nvSpPr>
            <p:cNvPr id="93" name="Text 91"/>
            <p:cNvSpPr/>
            <p:nvPr/>
          </p:nvSpPr>
          <p:spPr>
            <a:xfrm>
              <a:off x="8869680" y="2779776"/>
              <a:ext cx="2926080" cy="5303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C8FF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Вывод: ситуативная витрина — единственная альтернатива, удовлетворяющая всем трём критериям отбора.</a:t>
              </a:r>
              <a:endParaRPr lang="en-US" sz="1000" dirty="0"/>
            </a:p>
          </p:txBody>
        </p:sp>
      </p:grpSp>
      <p:sp>
        <p:nvSpPr>
          <p:cNvPr id="97" name="Shape 95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111118"/>
          </a:solidFill>
          <a:ln w="12700">
            <a:solidFill>
              <a:srgbClr val="111118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164592" y="6574536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Обложка</a:t>
            </a:r>
            <a:endParaRPr lang="en-US" sz="800" dirty="0"/>
          </a:p>
        </p:txBody>
      </p:sp>
      <p:sp>
        <p:nvSpPr>
          <p:cNvPr id="99" name="Text 97"/>
          <p:cNvSpPr/>
          <p:nvPr/>
        </p:nvSpPr>
        <p:spPr>
          <a:xfrm>
            <a:off x="1645920" y="6574536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Итого</a:t>
            </a:r>
            <a:endParaRPr lang="en-US" sz="800" dirty="0"/>
          </a:p>
        </p:txBody>
      </p:sp>
      <p:sp>
        <p:nvSpPr>
          <p:cNvPr id="100" name="Text 98"/>
          <p:cNvSpPr/>
          <p:nvPr/>
        </p:nvSpPr>
        <p:spPr>
          <a:xfrm>
            <a:off x="3127248" y="6574536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800" dirty="0"/>
          </a:p>
        </p:txBody>
      </p:sp>
      <p:sp>
        <p:nvSpPr>
          <p:cNvPr id="101" name="Text 99"/>
          <p:cNvSpPr/>
          <p:nvPr/>
        </p:nvSpPr>
        <p:spPr>
          <a:xfrm>
            <a:off x="4608576" y="6574536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800" dirty="0"/>
          </a:p>
        </p:txBody>
      </p:sp>
      <p:sp>
        <p:nvSpPr>
          <p:cNvPr id="102" name="Text 100"/>
          <p:cNvSpPr/>
          <p:nvPr/>
        </p:nvSpPr>
        <p:spPr>
          <a:xfrm>
            <a:off x="6089904" y="6574536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Сценарии</a:t>
            </a:r>
            <a:endParaRPr lang="en-US" sz="800" dirty="0"/>
          </a:p>
        </p:txBody>
      </p:sp>
      <p:sp>
        <p:nvSpPr>
          <p:cNvPr id="103" name="Text 101"/>
          <p:cNvSpPr/>
          <p:nvPr/>
        </p:nvSpPr>
        <p:spPr>
          <a:xfrm>
            <a:off x="7571232" y="6574536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Механики</a:t>
            </a:r>
            <a:endParaRPr lang="en-US" sz="800" dirty="0"/>
          </a:p>
        </p:txBody>
      </p:sp>
      <p:sp>
        <p:nvSpPr>
          <p:cNvPr id="104" name="Text 102"/>
          <p:cNvSpPr/>
          <p:nvPr/>
        </p:nvSpPr>
        <p:spPr>
          <a:xfrm>
            <a:off x="9052560" y="6574536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</a:t>
            </a:r>
            <a:endParaRPr lang="en-US" sz="800" dirty="0"/>
          </a:p>
        </p:txBody>
      </p:sp>
      <p:sp>
        <p:nvSpPr>
          <p:cNvPr id="105" name="Shape 103"/>
          <p:cNvSpPr/>
          <p:nvPr/>
        </p:nvSpPr>
        <p:spPr>
          <a:xfrm>
            <a:off x="9052560" y="6547104"/>
            <a:ext cx="1389888" cy="27432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10533888" y="6574536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</a:t>
            </a:r>
            <a:endParaRPr lang="en-US" sz="800" dirty="0"/>
          </a:p>
        </p:txBody>
      </p:sp>
      <p:sp>
        <p:nvSpPr>
          <p:cNvPr id="107" name="Text 105"/>
          <p:cNvSpPr/>
          <p:nvPr/>
        </p:nvSpPr>
        <p:spPr>
          <a:xfrm>
            <a:off x="11521440" y="657453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800" dirty="0"/>
          </a:p>
        </p:txBody>
      </p:sp>
      <p:grpSp>
        <p:nvGrpSpPr>
          <p:cNvPr id="108" name="Группа 107">
            <a:extLst>
              <a:ext uri="{FF2B5EF4-FFF2-40B4-BE49-F238E27FC236}">
                <a16:creationId xmlns:a16="http://schemas.microsoft.com/office/drawing/2014/main" id="{0319D424-6B7E-4128-B140-556A1BE19D9B}"/>
              </a:ext>
            </a:extLst>
          </p:cNvPr>
          <p:cNvGrpSpPr/>
          <p:nvPr/>
        </p:nvGrpSpPr>
        <p:grpSpPr>
          <a:xfrm>
            <a:off x="164592" y="37973"/>
            <a:ext cx="1972216" cy="545846"/>
            <a:chOff x="402336" y="115760"/>
            <a:chExt cx="2238374" cy="568833"/>
          </a:xfrm>
        </p:grpSpPr>
        <p:sp>
          <p:nvSpPr>
            <p:cNvPr id="109" name="Прямоугольник 108">
              <a:extLst>
                <a:ext uri="{FF2B5EF4-FFF2-40B4-BE49-F238E27FC236}">
                  <a16:creationId xmlns:a16="http://schemas.microsoft.com/office/drawing/2014/main" id="{802B7F69-1490-486F-9AFB-783970008F2A}"/>
                </a:ext>
              </a:extLst>
            </p:cNvPr>
            <p:cNvSpPr/>
            <p:nvPr/>
          </p:nvSpPr>
          <p:spPr>
            <a:xfrm>
              <a:off x="402336" y="115760"/>
              <a:ext cx="2238374" cy="568833"/>
            </a:xfrm>
            <a:prstGeom prst="rect">
              <a:avLst/>
            </a:prstGeom>
            <a:solidFill>
              <a:srgbClr val="C8FF00"/>
            </a:solidFill>
            <a:ln>
              <a:noFill/>
            </a:ln>
            <a:effectLst>
              <a:softEdge rad="1651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10" name="Рисунок 109">
              <a:extLst>
                <a:ext uri="{FF2B5EF4-FFF2-40B4-BE49-F238E27FC236}">
                  <a16:creationId xmlns:a16="http://schemas.microsoft.com/office/drawing/2014/main" id="{89B419B9-7D9C-4840-8677-BB51465B0F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35628" y="256365"/>
              <a:ext cx="1271588" cy="255128"/>
            </a:xfrm>
            <a:prstGeom prst="rect">
              <a:avLst/>
            </a:prstGeom>
          </p:spPr>
        </p:pic>
      </p:grpSp>
      <p:pic>
        <p:nvPicPr>
          <p:cNvPr id="115" name="Рисунок 114">
            <a:extLst>
              <a:ext uri="{FF2B5EF4-FFF2-40B4-BE49-F238E27FC236}">
                <a16:creationId xmlns:a16="http://schemas.microsoft.com/office/drawing/2014/main" id="{D46F5755-A84E-4FB1-AA0B-050B70580EA1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2964688" y="5592064"/>
            <a:ext cx="4712970" cy="867664"/>
          </a:xfrm>
          <a:prstGeom prst="rect">
            <a:avLst/>
          </a:prstGeom>
        </p:spPr>
      </p:pic>
      <p:cxnSp>
        <p:nvCxnSpPr>
          <p:cNvPr id="117" name="Прямая соединительная линия 116">
            <a:extLst>
              <a:ext uri="{FF2B5EF4-FFF2-40B4-BE49-F238E27FC236}">
                <a16:creationId xmlns:a16="http://schemas.microsoft.com/office/drawing/2014/main" id="{DED6DA56-B883-4678-93FA-12D367F6A88D}"/>
              </a:ext>
            </a:extLst>
          </p:cNvPr>
          <p:cNvCxnSpPr/>
          <p:nvPr/>
        </p:nvCxnSpPr>
        <p:spPr>
          <a:xfrm>
            <a:off x="2466373" y="5687568"/>
            <a:ext cx="0" cy="722884"/>
          </a:xfrm>
          <a:prstGeom prst="line">
            <a:avLst/>
          </a:prstGeom>
          <a:ln>
            <a:solidFill>
              <a:srgbClr val="C8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0C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rgbClr val="17171C"/>
          </a:solidFill>
          <a:ln w="12700">
            <a:solidFill>
              <a:srgbClr val="1717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0"/>
            <a:ext cx="36576" cy="6858000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12848" y="164592"/>
            <a:ext cx="1828800" cy="347472"/>
          </a:xfrm>
          <a:prstGeom prst="roundRect">
            <a:avLst>
              <a:gd name="adj" fmla="val 20000"/>
            </a:avLst>
          </a:prstGeom>
          <a:solidFill>
            <a:srgbClr val="1A20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12848" y="16459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· КОМАНДА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804672"/>
            <a:ext cx="5760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«Эдельвейс»: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11480" y="1207008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разные компетенции — единое решение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11480" y="1600200"/>
            <a:ext cx="5760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 соединила исследовательскую работу, продуктовое мышление, финансовую модель и дизайн-концепцию для создания комплексного решения по реструктуризации витрины ОТП Банка вокруг жизненных ситуаций клиента.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2487168"/>
            <a:ext cx="5760720" cy="694944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2487168"/>
            <a:ext cx="36576" cy="694944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560320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u-RU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Гречинская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Ника</a:t>
            </a:r>
            <a:endParaRPr lang="en-US" sz="1100" dirty="0"/>
          </a:p>
        </p:txBody>
      </p:sp>
      <p:grpSp>
        <p:nvGrpSpPr>
          <p:cNvPr id="92" name="Группа 91">
            <a:extLst>
              <a:ext uri="{FF2B5EF4-FFF2-40B4-BE49-F238E27FC236}">
                <a16:creationId xmlns:a16="http://schemas.microsoft.com/office/drawing/2014/main" id="{8701A9F2-94B9-409A-925A-ADC169E73558}"/>
              </a:ext>
            </a:extLst>
          </p:cNvPr>
          <p:cNvGrpSpPr/>
          <p:nvPr/>
        </p:nvGrpSpPr>
        <p:grpSpPr>
          <a:xfrm>
            <a:off x="2962825" y="2748058"/>
            <a:ext cx="1407160" cy="217762"/>
            <a:chOff x="3118104" y="2739475"/>
            <a:chExt cx="1407160" cy="217762"/>
          </a:xfrm>
        </p:grpSpPr>
        <p:sp>
          <p:nvSpPr>
            <p:cNvPr id="14" name="Shape 12"/>
            <p:cNvSpPr/>
            <p:nvPr/>
          </p:nvSpPr>
          <p:spPr>
            <a:xfrm>
              <a:off x="3118104" y="2756069"/>
              <a:ext cx="1371600" cy="201168"/>
            </a:xfrm>
            <a:prstGeom prst="rect">
              <a:avLst/>
            </a:prstGeom>
            <a:solidFill>
              <a:srgbClr val="1A2000"/>
            </a:solidFill>
            <a:ln w="12700">
              <a:solidFill>
                <a:srgbClr val="C8FF00"/>
              </a:solidFill>
              <a:prstDash val="solid"/>
            </a:ln>
          </p:spPr>
        </p:sp>
        <p:sp>
          <p:nvSpPr>
            <p:cNvPr id="15" name="Text 13"/>
            <p:cNvSpPr/>
            <p:nvPr/>
          </p:nvSpPr>
          <p:spPr>
            <a:xfrm>
              <a:off x="3153664" y="2739475"/>
              <a:ext cx="137160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C8FF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Лидер команды</a:t>
              </a:r>
              <a:endParaRPr lang="en-US" sz="1000" dirty="0"/>
            </a:p>
          </p:txBody>
        </p:sp>
      </p:grpSp>
      <p:sp>
        <p:nvSpPr>
          <p:cNvPr id="16" name="Text 14"/>
          <p:cNvSpPr/>
          <p:nvPr/>
        </p:nvSpPr>
        <p:spPr>
          <a:xfrm>
            <a:off x="566928" y="2816352"/>
            <a:ext cx="24505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Концепция TO-BE, Executive </a:t>
            </a:r>
            <a:endParaRPr lang="ru-RU" sz="1050" dirty="0">
              <a:solidFill>
                <a:srgbClr val="9CA3A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Summary, координация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334425" y="2718139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u="sng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gnika0502@gmail.com</a:t>
            </a:r>
            <a:endParaRPr lang="en-US" sz="1000" u="sng" dirty="0">
              <a:solidFill>
                <a:srgbClr val="C8FF00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11480" y="3264408"/>
            <a:ext cx="5760720" cy="694944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3264408"/>
            <a:ext cx="36576" cy="694944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0956" y="333756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u-RU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Котович Артём</a:t>
            </a:r>
            <a:endParaRPr lang="en-US" sz="1100" dirty="0"/>
          </a:p>
        </p:txBody>
      </p:sp>
      <p:grpSp>
        <p:nvGrpSpPr>
          <p:cNvPr id="91" name="Группа 90">
            <a:extLst>
              <a:ext uri="{FF2B5EF4-FFF2-40B4-BE49-F238E27FC236}">
                <a16:creationId xmlns:a16="http://schemas.microsoft.com/office/drawing/2014/main" id="{88B871CD-3EE5-40DF-9E6F-714AA86F8670}"/>
              </a:ext>
            </a:extLst>
          </p:cNvPr>
          <p:cNvGrpSpPr/>
          <p:nvPr/>
        </p:nvGrpSpPr>
        <p:grpSpPr>
          <a:xfrm>
            <a:off x="2953512" y="3517138"/>
            <a:ext cx="1398693" cy="207518"/>
            <a:chOff x="3086608" y="3510026"/>
            <a:chExt cx="1398693" cy="207518"/>
          </a:xfrm>
        </p:grpSpPr>
        <p:sp>
          <p:nvSpPr>
            <p:cNvPr id="21" name="Shape 19"/>
            <p:cNvSpPr/>
            <p:nvPr/>
          </p:nvSpPr>
          <p:spPr>
            <a:xfrm>
              <a:off x="3113701" y="3516376"/>
              <a:ext cx="1371600" cy="201168"/>
            </a:xfrm>
            <a:prstGeom prst="rect">
              <a:avLst/>
            </a:prstGeom>
            <a:solidFill>
              <a:srgbClr val="1A2000"/>
            </a:solidFill>
            <a:ln w="12700">
              <a:solidFill>
                <a:srgbClr val="C8FF00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3086608" y="3510026"/>
              <a:ext cx="137160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C8FF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Аналитик</a:t>
              </a:r>
              <a:endParaRPr lang="en-US" sz="1000" dirty="0"/>
            </a:p>
          </p:txBody>
        </p:sp>
      </p:grpSp>
      <p:sp>
        <p:nvSpPr>
          <p:cNvPr id="23" name="Text 21"/>
          <p:cNvSpPr/>
          <p:nvPr/>
        </p:nvSpPr>
        <p:spPr>
          <a:xfrm>
            <a:off x="699962" y="3584448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Интервью, конкурентный анализ, MCC-механика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325112" y="348386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u="sng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artemytoplay@gmail.com</a:t>
            </a:r>
            <a:endParaRPr lang="en-US" sz="1000" u="sng" dirty="0">
              <a:solidFill>
                <a:srgbClr val="C8FF00"/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11480" y="4041648"/>
            <a:ext cx="5760720" cy="694944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4041648"/>
            <a:ext cx="36576" cy="694944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4078" y="4114800"/>
            <a:ext cx="21671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u-RU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Гришкова Анастасия</a:t>
            </a:r>
            <a:endParaRPr lang="en-US" sz="1100" dirty="0"/>
          </a:p>
        </p:txBody>
      </p:sp>
      <p:grpSp>
        <p:nvGrpSpPr>
          <p:cNvPr id="90" name="Группа 89">
            <a:extLst>
              <a:ext uri="{FF2B5EF4-FFF2-40B4-BE49-F238E27FC236}">
                <a16:creationId xmlns:a16="http://schemas.microsoft.com/office/drawing/2014/main" id="{55D0AAD1-0B44-4758-ABB1-8CD4AF9135A4}"/>
              </a:ext>
            </a:extLst>
          </p:cNvPr>
          <p:cNvGrpSpPr/>
          <p:nvPr/>
        </p:nvGrpSpPr>
        <p:grpSpPr>
          <a:xfrm>
            <a:off x="2967059" y="4279392"/>
            <a:ext cx="1389888" cy="212683"/>
            <a:chOff x="3127248" y="4286504"/>
            <a:chExt cx="1389888" cy="212683"/>
          </a:xfrm>
        </p:grpSpPr>
        <p:sp>
          <p:nvSpPr>
            <p:cNvPr id="28" name="Shape 26"/>
            <p:cNvSpPr/>
            <p:nvPr/>
          </p:nvSpPr>
          <p:spPr>
            <a:xfrm>
              <a:off x="3145536" y="4298019"/>
              <a:ext cx="1371600" cy="201168"/>
            </a:xfrm>
            <a:prstGeom prst="rect">
              <a:avLst/>
            </a:prstGeom>
            <a:solidFill>
              <a:srgbClr val="1A2000"/>
            </a:solidFill>
            <a:ln w="12700">
              <a:solidFill>
                <a:srgbClr val="C8FF00"/>
              </a:solidFill>
              <a:prstDash val="solid"/>
            </a:ln>
          </p:spPr>
        </p:sp>
        <p:sp>
          <p:nvSpPr>
            <p:cNvPr id="29" name="Text 27"/>
            <p:cNvSpPr/>
            <p:nvPr/>
          </p:nvSpPr>
          <p:spPr>
            <a:xfrm>
              <a:off x="3127248" y="4286504"/>
              <a:ext cx="137160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C8FF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Финансист</a:t>
              </a:r>
              <a:endParaRPr lang="en-US" sz="1000" dirty="0"/>
            </a:p>
          </p:txBody>
        </p:sp>
      </p:grpSp>
      <p:sp>
        <p:nvSpPr>
          <p:cNvPr id="30" name="Text 28"/>
          <p:cNvSpPr/>
          <p:nvPr/>
        </p:nvSpPr>
        <p:spPr>
          <a:xfrm>
            <a:off x="663386" y="4410795"/>
            <a:ext cx="22768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CLV, KPI, экономика удержания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624565" y="4270248"/>
            <a:ext cx="141580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u="sng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nastyagrishkova2007@gmail.com</a:t>
            </a:r>
            <a:endParaRPr lang="en-US" sz="1000" u="sng" dirty="0">
              <a:solidFill>
                <a:srgbClr val="C8FF00"/>
              </a:solidFill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11480" y="4818888"/>
            <a:ext cx="5760720" cy="694944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1480" y="4818888"/>
            <a:ext cx="36576" cy="694944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5396" y="4882896"/>
            <a:ext cx="21671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u-RU" sz="11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Радыгина</a:t>
            </a:r>
            <a:r>
              <a:rPr lang="ru-RU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Александра</a:t>
            </a:r>
            <a:endParaRPr lang="en-US" sz="1100" dirty="0"/>
          </a:p>
        </p:txBody>
      </p:sp>
      <p:grpSp>
        <p:nvGrpSpPr>
          <p:cNvPr id="93" name="Группа 92">
            <a:extLst>
              <a:ext uri="{FF2B5EF4-FFF2-40B4-BE49-F238E27FC236}">
                <a16:creationId xmlns:a16="http://schemas.microsoft.com/office/drawing/2014/main" id="{D799DA5A-AC9E-41FD-B25D-65CDF9E9A21A}"/>
              </a:ext>
            </a:extLst>
          </p:cNvPr>
          <p:cNvGrpSpPr/>
          <p:nvPr/>
        </p:nvGrpSpPr>
        <p:grpSpPr>
          <a:xfrm>
            <a:off x="2985177" y="5082826"/>
            <a:ext cx="1380744" cy="210312"/>
            <a:chOff x="3127248" y="5074920"/>
            <a:chExt cx="1380744" cy="210312"/>
          </a:xfrm>
        </p:grpSpPr>
        <p:sp>
          <p:nvSpPr>
            <p:cNvPr id="35" name="Shape 33"/>
            <p:cNvSpPr/>
            <p:nvPr/>
          </p:nvSpPr>
          <p:spPr>
            <a:xfrm>
              <a:off x="3136392" y="5084064"/>
              <a:ext cx="1371600" cy="201168"/>
            </a:xfrm>
            <a:prstGeom prst="rect">
              <a:avLst/>
            </a:prstGeom>
            <a:solidFill>
              <a:srgbClr val="1A2000"/>
            </a:solidFill>
            <a:ln w="12700">
              <a:solidFill>
                <a:srgbClr val="C8FF00"/>
              </a:solidFill>
              <a:prstDash val="solid"/>
            </a:ln>
          </p:spPr>
        </p:sp>
        <p:sp>
          <p:nvSpPr>
            <p:cNvPr id="36" name="Text 34"/>
            <p:cNvSpPr/>
            <p:nvPr/>
          </p:nvSpPr>
          <p:spPr>
            <a:xfrm>
              <a:off x="3127248" y="5074920"/>
              <a:ext cx="137160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ru-RU" sz="1000" b="1" dirty="0">
                  <a:solidFill>
                    <a:srgbClr val="C8FF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Дизайнер</a:t>
              </a:r>
              <a:endParaRPr lang="en-US" sz="1000" dirty="0"/>
            </a:p>
          </p:txBody>
        </p:sp>
      </p:grpSp>
      <p:sp>
        <p:nvSpPr>
          <p:cNvPr id="37" name="Text 35"/>
          <p:cNvSpPr/>
          <p:nvPr/>
        </p:nvSpPr>
        <p:spPr>
          <a:xfrm>
            <a:off x="767811" y="5138928"/>
            <a:ext cx="2130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Дизайн, верстка, прототипы экранов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664117" y="508282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u="sng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aleksandraradygina@mail.ru</a:t>
            </a:r>
          </a:p>
        </p:txBody>
      </p:sp>
      <p:sp>
        <p:nvSpPr>
          <p:cNvPr id="39" name="Shape 37"/>
          <p:cNvSpPr/>
          <p:nvPr/>
        </p:nvSpPr>
        <p:spPr>
          <a:xfrm>
            <a:off x="411480" y="5760720"/>
            <a:ext cx="5760720" cy="329184"/>
          </a:xfrm>
          <a:prstGeom prst="rect">
            <a:avLst/>
          </a:prstGeom>
          <a:solidFill>
            <a:srgbClr val="23232C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5779008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 err="1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Название</a:t>
            </a:r>
            <a:r>
              <a:rPr lang="en-US" sz="800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dirty="0" err="1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команды</a:t>
            </a:r>
            <a:r>
              <a:rPr lang="ru-RU" sz="800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Эдельвейс </a:t>
            </a:r>
            <a:r>
              <a:rPr lang="en-US" sz="800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Changellenge Cup IT 2026  ·  ОТП Банк</a:t>
            </a:r>
            <a:endParaRPr lang="en-US" sz="800" dirty="0">
              <a:solidFill>
                <a:srgbClr val="C8FF00"/>
              </a:solidFill>
            </a:endParaRPr>
          </a:p>
        </p:txBody>
      </p:sp>
      <p:sp>
        <p:nvSpPr>
          <p:cNvPr id="41" name="Text 39"/>
          <p:cNvSpPr/>
          <p:nvPr/>
        </p:nvSpPr>
        <p:spPr>
          <a:xfrm>
            <a:off x="6720840" y="457200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результаты работы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6720840" y="987552"/>
            <a:ext cx="2468880" cy="1188720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720840" y="987552"/>
            <a:ext cx="2468880" cy="36576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15561" y="1536192"/>
            <a:ext cx="22494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u-RU" sz="22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6830568" y="1810512"/>
            <a:ext cx="22494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глубинных интервью проведено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9354312" y="987552"/>
            <a:ext cx="2468880" cy="1188720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354312" y="987552"/>
            <a:ext cx="2468880" cy="36576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454896" y="1577340"/>
            <a:ext cx="22494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51" name="Text 49"/>
          <p:cNvSpPr/>
          <p:nvPr/>
        </p:nvSpPr>
        <p:spPr>
          <a:xfrm>
            <a:off x="9464040" y="1810512"/>
            <a:ext cx="22494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гипотезы подтверждены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720840" y="2313432"/>
            <a:ext cx="2468880" cy="1188720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20840" y="2313432"/>
            <a:ext cx="2468880" cy="36576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830568" y="2838365"/>
            <a:ext cx="22494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56" name="Text 54"/>
          <p:cNvSpPr/>
          <p:nvPr/>
        </p:nvSpPr>
        <p:spPr>
          <a:xfrm>
            <a:off x="6830568" y="3136392"/>
            <a:ext cx="22494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жизненных ситуаций задизайнено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9354312" y="2313432"/>
            <a:ext cx="2468880" cy="1188720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354312" y="2313432"/>
            <a:ext cx="2468880" cy="36576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473184" y="2871216"/>
            <a:ext cx="22494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+38%</a:t>
            </a:r>
            <a:endParaRPr lang="en-US" sz="2200" dirty="0"/>
          </a:p>
        </p:txBody>
      </p:sp>
      <p:sp>
        <p:nvSpPr>
          <p:cNvPr id="61" name="Text 59"/>
          <p:cNvSpPr/>
          <p:nvPr/>
        </p:nvSpPr>
        <p:spPr>
          <a:xfrm>
            <a:off x="9464040" y="3136392"/>
            <a:ext cx="22494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DAU/MAU — целевой показатель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6720840" y="3639312"/>
            <a:ext cx="2468880" cy="1188720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720840" y="3639312"/>
            <a:ext cx="2468880" cy="36576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861502" y="4169664"/>
            <a:ext cx="22494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r>
              <a:rPr lang="ru-RU" sz="22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r>
              <a:rPr lang="en-US" sz="22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2200" dirty="0"/>
          </a:p>
        </p:txBody>
      </p:sp>
      <p:sp>
        <p:nvSpPr>
          <p:cNvPr id="66" name="Text 64"/>
          <p:cNvSpPr/>
          <p:nvPr/>
        </p:nvSpPr>
        <p:spPr>
          <a:xfrm>
            <a:off x="6830568" y="4462272"/>
            <a:ext cx="22494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рост CLV за 3 года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9354312" y="3639312"/>
            <a:ext cx="2468880" cy="1188720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354312" y="3639312"/>
            <a:ext cx="2468880" cy="36576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464040" y="4178808"/>
            <a:ext cx="22494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2200" dirty="0"/>
          </a:p>
        </p:txBody>
      </p:sp>
      <p:sp>
        <p:nvSpPr>
          <p:cNvPr id="71" name="Text 69"/>
          <p:cNvSpPr/>
          <p:nvPr/>
        </p:nvSpPr>
        <p:spPr>
          <a:xfrm>
            <a:off x="9464040" y="4462272"/>
            <a:ext cx="22494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старт через 3 месяца после запуска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6720840" y="4937760"/>
            <a:ext cx="5120640" cy="1188720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720840" y="4937760"/>
            <a:ext cx="36576" cy="11887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876288" y="5025136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инсайт из интервью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6858000" y="5230368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Пользователи</a:t>
            </a: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против</a:t>
            </a: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того, чтобы банк заставлял их думать в терминах </a:t>
            </a:r>
            <a:r>
              <a:rPr lang="en-US" sz="105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продуктов</a:t>
            </a: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ru-RU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Витрина </a:t>
            </a:r>
            <a:r>
              <a:rPr lang="en-US" sz="105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должна</a:t>
            </a: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научиться</a:t>
            </a: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слышать</a:t>
            </a:r>
            <a:r>
              <a:rPr lang="ru-RU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подстраиваться под интересы и запросы пользователя</a:t>
            </a: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ru-RU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этом</a:t>
            </a: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</a:t>
            </a:r>
            <a:r>
              <a:rPr lang="ru-RU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заключается </a:t>
            </a:r>
            <a:r>
              <a:rPr lang="en-US" sz="105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суть</a:t>
            </a: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концепции</a:t>
            </a:r>
            <a:r>
              <a:rPr lang="ru-RU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решения кейса</a:t>
            </a: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111118"/>
          </a:solidFill>
          <a:ln w="12700">
            <a:solidFill>
              <a:srgbClr val="11111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64592" y="6574536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Обложка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1645920" y="6574536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Итого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3127248" y="6574536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4608576" y="6574536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6089904" y="6574536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Сценарии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7571232" y="6574536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Механики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9052560" y="6574536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10533888" y="6574536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10533888" y="6547104"/>
            <a:ext cx="1389888" cy="27432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1521440" y="657453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800" dirty="0"/>
          </a:p>
        </p:txBody>
      </p:sp>
      <p:grpSp>
        <p:nvGrpSpPr>
          <p:cNvPr id="87" name="Группа 86">
            <a:extLst>
              <a:ext uri="{FF2B5EF4-FFF2-40B4-BE49-F238E27FC236}">
                <a16:creationId xmlns:a16="http://schemas.microsoft.com/office/drawing/2014/main" id="{E4D20D8B-DEE8-4164-849F-4F22EFB64864}"/>
              </a:ext>
            </a:extLst>
          </p:cNvPr>
          <p:cNvGrpSpPr/>
          <p:nvPr/>
        </p:nvGrpSpPr>
        <p:grpSpPr>
          <a:xfrm>
            <a:off x="164592" y="74549"/>
            <a:ext cx="1972216" cy="545846"/>
            <a:chOff x="402336" y="115760"/>
            <a:chExt cx="2238374" cy="568833"/>
          </a:xfrm>
        </p:grpSpPr>
        <p:sp>
          <p:nvSpPr>
            <p:cNvPr id="88" name="Прямоугольник 87">
              <a:extLst>
                <a:ext uri="{FF2B5EF4-FFF2-40B4-BE49-F238E27FC236}">
                  <a16:creationId xmlns:a16="http://schemas.microsoft.com/office/drawing/2014/main" id="{1C79F9F9-62BD-42BE-ABE7-543D595F7510}"/>
                </a:ext>
              </a:extLst>
            </p:cNvPr>
            <p:cNvSpPr/>
            <p:nvPr/>
          </p:nvSpPr>
          <p:spPr>
            <a:xfrm>
              <a:off x="402336" y="115760"/>
              <a:ext cx="2238374" cy="568833"/>
            </a:xfrm>
            <a:prstGeom prst="rect">
              <a:avLst/>
            </a:prstGeom>
            <a:solidFill>
              <a:srgbClr val="C8FF00"/>
            </a:solidFill>
            <a:ln>
              <a:noFill/>
            </a:ln>
            <a:effectLst>
              <a:softEdge rad="1651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89" name="Рисунок 88">
              <a:extLst>
                <a:ext uri="{FF2B5EF4-FFF2-40B4-BE49-F238E27FC236}">
                  <a16:creationId xmlns:a16="http://schemas.microsoft.com/office/drawing/2014/main" id="{040E6F77-F535-4611-9E89-4BBA6B64C7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35628" y="256365"/>
              <a:ext cx="1271588" cy="255128"/>
            </a:xfrm>
            <a:prstGeom prst="rect">
              <a:avLst/>
            </a:prstGeom>
          </p:spPr>
        </p:pic>
      </p:grpSp>
      <p:sp>
        <p:nvSpPr>
          <p:cNvPr id="95" name="Звезда: 4 точки 94">
            <a:extLst>
              <a:ext uri="{FF2B5EF4-FFF2-40B4-BE49-F238E27FC236}">
                <a16:creationId xmlns:a16="http://schemas.microsoft.com/office/drawing/2014/main" id="{FE4B586E-DBED-4ED9-B569-1D54F9953FE7}"/>
              </a:ext>
            </a:extLst>
          </p:cNvPr>
          <p:cNvSpPr/>
          <p:nvPr/>
        </p:nvSpPr>
        <p:spPr>
          <a:xfrm>
            <a:off x="607451" y="2785650"/>
            <a:ext cx="128588" cy="118872"/>
          </a:xfrm>
          <a:prstGeom prst="star4">
            <a:avLst/>
          </a:prstGeom>
          <a:solidFill>
            <a:schemeClr val="bg1"/>
          </a:solidFill>
          <a:ln>
            <a:solidFill>
              <a:srgbClr val="C8FF00"/>
            </a:solidFill>
          </a:ln>
          <a:effectLst>
            <a:glow rad="749300">
              <a:srgbClr val="C8FF00">
                <a:alpha val="8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6" name="Звезда: 4 точки 95">
            <a:extLst>
              <a:ext uri="{FF2B5EF4-FFF2-40B4-BE49-F238E27FC236}">
                <a16:creationId xmlns:a16="http://schemas.microsoft.com/office/drawing/2014/main" id="{9D2939A7-819B-43D7-98A8-E8BB4624EDB5}"/>
              </a:ext>
            </a:extLst>
          </p:cNvPr>
          <p:cNvSpPr/>
          <p:nvPr/>
        </p:nvSpPr>
        <p:spPr>
          <a:xfrm>
            <a:off x="599092" y="3564763"/>
            <a:ext cx="128588" cy="118872"/>
          </a:xfrm>
          <a:prstGeom prst="star4">
            <a:avLst/>
          </a:prstGeom>
          <a:solidFill>
            <a:schemeClr val="bg1"/>
          </a:solidFill>
          <a:ln>
            <a:solidFill>
              <a:srgbClr val="C8FF00"/>
            </a:solidFill>
          </a:ln>
          <a:effectLst>
            <a:glow rad="749300">
              <a:srgbClr val="C8FF00">
                <a:alpha val="8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7" name="Звезда: 4 точки 96">
            <a:extLst>
              <a:ext uri="{FF2B5EF4-FFF2-40B4-BE49-F238E27FC236}">
                <a16:creationId xmlns:a16="http://schemas.microsoft.com/office/drawing/2014/main" id="{11936A8F-34CE-46E5-8D45-BA385853BBF3}"/>
              </a:ext>
            </a:extLst>
          </p:cNvPr>
          <p:cNvSpPr/>
          <p:nvPr/>
        </p:nvSpPr>
        <p:spPr>
          <a:xfrm>
            <a:off x="616025" y="4344712"/>
            <a:ext cx="128588" cy="118872"/>
          </a:xfrm>
          <a:prstGeom prst="star4">
            <a:avLst/>
          </a:prstGeom>
          <a:solidFill>
            <a:schemeClr val="bg1"/>
          </a:solidFill>
          <a:ln>
            <a:solidFill>
              <a:srgbClr val="C8FF00"/>
            </a:solidFill>
          </a:ln>
          <a:effectLst>
            <a:glow rad="749300">
              <a:srgbClr val="C8FF00">
                <a:alpha val="8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8" name="Звезда: 4 точки 97">
            <a:extLst>
              <a:ext uri="{FF2B5EF4-FFF2-40B4-BE49-F238E27FC236}">
                <a16:creationId xmlns:a16="http://schemas.microsoft.com/office/drawing/2014/main" id="{9B07B238-6F7F-41B2-A534-3E7ED87D73BC}"/>
              </a:ext>
            </a:extLst>
          </p:cNvPr>
          <p:cNvSpPr/>
          <p:nvPr/>
        </p:nvSpPr>
        <p:spPr>
          <a:xfrm>
            <a:off x="607451" y="5138928"/>
            <a:ext cx="128588" cy="118872"/>
          </a:xfrm>
          <a:prstGeom prst="star4">
            <a:avLst/>
          </a:prstGeom>
          <a:solidFill>
            <a:schemeClr val="bg1"/>
          </a:solidFill>
          <a:ln>
            <a:solidFill>
              <a:srgbClr val="C8FF00"/>
            </a:solidFill>
          </a:ln>
          <a:effectLst>
            <a:glow rad="749300">
              <a:srgbClr val="C8FF00">
                <a:alpha val="8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0" name="Рисунок 99" descr="Адресная книга со сплошной заливкой">
            <a:extLst>
              <a:ext uri="{FF2B5EF4-FFF2-40B4-BE49-F238E27FC236}">
                <a16:creationId xmlns:a16="http://schemas.microsoft.com/office/drawing/2014/main" id="{7B5478B7-6B15-4F1A-95D1-170D019F7B3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96135" y="1109162"/>
            <a:ext cx="318289" cy="318289"/>
          </a:xfrm>
          <a:prstGeom prst="rect">
            <a:avLst/>
          </a:prstGeom>
        </p:spPr>
      </p:pic>
      <p:pic>
        <p:nvPicPr>
          <p:cNvPr id="102" name="Рисунок 101" descr="Архитектура со сплошной заливкой">
            <a:extLst>
              <a:ext uri="{FF2B5EF4-FFF2-40B4-BE49-F238E27FC236}">
                <a16:creationId xmlns:a16="http://schemas.microsoft.com/office/drawing/2014/main" id="{8D979A5E-76E3-4BD2-B8DF-F3A47A3DE47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90020" y="2410513"/>
            <a:ext cx="371295" cy="371295"/>
          </a:xfrm>
          <a:prstGeom prst="rect">
            <a:avLst/>
          </a:prstGeom>
        </p:spPr>
      </p:pic>
      <p:pic>
        <p:nvPicPr>
          <p:cNvPr id="104" name="Рисунок 103" descr="Линейчатая диаграмма со сплошной заливкой">
            <a:extLst>
              <a:ext uri="{FF2B5EF4-FFF2-40B4-BE49-F238E27FC236}">
                <a16:creationId xmlns:a16="http://schemas.microsoft.com/office/drawing/2014/main" id="{127785EB-942F-42CA-B430-F2E36C88B58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377254" y="2409664"/>
            <a:ext cx="371290" cy="371290"/>
          </a:xfrm>
          <a:prstGeom prst="rect">
            <a:avLst/>
          </a:prstGeom>
        </p:spPr>
      </p:pic>
      <p:pic>
        <p:nvPicPr>
          <p:cNvPr id="106" name="Рисунок 105" descr="Диаграмма с подъемом со сплошной заливкой">
            <a:extLst>
              <a:ext uri="{FF2B5EF4-FFF2-40B4-BE49-F238E27FC236}">
                <a16:creationId xmlns:a16="http://schemas.microsoft.com/office/drawing/2014/main" id="{5AA1C917-0D70-4D7C-9034-E878AC8BE68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771732" y="3759935"/>
            <a:ext cx="325682" cy="325682"/>
          </a:xfrm>
          <a:prstGeom prst="rect">
            <a:avLst/>
          </a:prstGeom>
        </p:spPr>
      </p:pic>
      <p:pic>
        <p:nvPicPr>
          <p:cNvPr id="108" name="Рисунок 107" descr="Буфер обмена со смешанным содержимым со сплошной заливкой">
            <a:extLst>
              <a:ext uri="{FF2B5EF4-FFF2-40B4-BE49-F238E27FC236}">
                <a16:creationId xmlns:a16="http://schemas.microsoft.com/office/drawing/2014/main" id="{B6D8E3B2-EE6C-4362-BEAD-7F10242F930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419588" y="1101852"/>
            <a:ext cx="338328" cy="338328"/>
          </a:xfrm>
          <a:prstGeom prst="rect">
            <a:avLst/>
          </a:prstGeom>
        </p:spPr>
      </p:pic>
      <p:pic>
        <p:nvPicPr>
          <p:cNvPr id="110" name="Рисунок 109" descr="Часы со сплошной заливкой">
            <a:extLst>
              <a:ext uri="{FF2B5EF4-FFF2-40B4-BE49-F238E27FC236}">
                <a16:creationId xmlns:a16="http://schemas.microsoft.com/office/drawing/2014/main" id="{80135EE6-8F4D-4EBC-BD0B-0E291F1E5EF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344147" y="3746765"/>
            <a:ext cx="340603" cy="34060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24128"/>
          </a:xfrm>
          <a:prstGeom prst="rect">
            <a:avLst/>
          </a:prstGeom>
          <a:solidFill>
            <a:srgbClr val="17171C"/>
          </a:solidFill>
          <a:ln w="12700">
            <a:solidFill>
              <a:srgbClr val="1717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40773" y="323415"/>
            <a:ext cx="6555053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ru-RU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ПРИЛОЖЕНИЕ 1:</a:t>
            </a:r>
            <a:endParaRPr lang="en-US" sz="1300" dirty="0"/>
          </a:p>
        </p:txBody>
      </p:sp>
      <p:sp>
        <p:nvSpPr>
          <p:cNvPr id="97" name="Shape 95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111118"/>
          </a:solidFill>
          <a:ln w="12700">
            <a:solidFill>
              <a:srgbClr val="111118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164592" y="6574536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u-RU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Приложение</a:t>
            </a:r>
            <a:endParaRPr lang="en-US" sz="800" dirty="0"/>
          </a:p>
        </p:txBody>
      </p:sp>
      <p:sp>
        <p:nvSpPr>
          <p:cNvPr id="105" name="Shape 103"/>
          <p:cNvSpPr/>
          <p:nvPr/>
        </p:nvSpPr>
        <p:spPr>
          <a:xfrm flipV="1">
            <a:off x="10232813" y="6524243"/>
            <a:ext cx="1471507" cy="45719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11521440" y="657453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ru-RU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800" dirty="0"/>
          </a:p>
        </p:txBody>
      </p:sp>
      <p:grpSp>
        <p:nvGrpSpPr>
          <p:cNvPr id="108" name="Группа 107">
            <a:extLst>
              <a:ext uri="{FF2B5EF4-FFF2-40B4-BE49-F238E27FC236}">
                <a16:creationId xmlns:a16="http://schemas.microsoft.com/office/drawing/2014/main" id="{B7797176-3532-4BC2-A45A-7B1206F1B9C0}"/>
              </a:ext>
            </a:extLst>
          </p:cNvPr>
          <p:cNvGrpSpPr/>
          <p:nvPr/>
        </p:nvGrpSpPr>
        <p:grpSpPr>
          <a:xfrm>
            <a:off x="164592" y="66083"/>
            <a:ext cx="1972216" cy="545846"/>
            <a:chOff x="402336" y="115760"/>
            <a:chExt cx="2238374" cy="568833"/>
          </a:xfrm>
        </p:grpSpPr>
        <p:sp>
          <p:nvSpPr>
            <p:cNvPr id="109" name="Прямоугольник 108">
              <a:extLst>
                <a:ext uri="{FF2B5EF4-FFF2-40B4-BE49-F238E27FC236}">
                  <a16:creationId xmlns:a16="http://schemas.microsoft.com/office/drawing/2014/main" id="{6FB7663A-72BC-4BD7-B2A3-FAA62FB9DDFA}"/>
                </a:ext>
              </a:extLst>
            </p:cNvPr>
            <p:cNvSpPr/>
            <p:nvPr/>
          </p:nvSpPr>
          <p:spPr>
            <a:xfrm>
              <a:off x="402336" y="115760"/>
              <a:ext cx="2238374" cy="568833"/>
            </a:xfrm>
            <a:prstGeom prst="rect">
              <a:avLst/>
            </a:prstGeom>
            <a:solidFill>
              <a:srgbClr val="C8FF00"/>
            </a:solidFill>
            <a:ln>
              <a:noFill/>
            </a:ln>
            <a:effectLst>
              <a:softEdge rad="1651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10" name="Рисунок 109">
              <a:extLst>
                <a:ext uri="{FF2B5EF4-FFF2-40B4-BE49-F238E27FC236}">
                  <a16:creationId xmlns:a16="http://schemas.microsoft.com/office/drawing/2014/main" id="{391D4447-4A62-42F7-8786-BCC9B20C55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35628" y="256365"/>
              <a:ext cx="1271588" cy="255128"/>
            </a:xfrm>
            <a:prstGeom prst="rect">
              <a:avLst/>
            </a:prstGeom>
          </p:spPr>
        </p:pic>
      </p:grpSp>
      <p:sp>
        <p:nvSpPr>
          <p:cNvPr id="112" name="Shape 0">
            <a:extLst>
              <a:ext uri="{FF2B5EF4-FFF2-40B4-BE49-F238E27FC236}">
                <a16:creationId xmlns:a16="http://schemas.microsoft.com/office/drawing/2014/main" id="{1FAB15A3-F4FD-4486-AFBE-DD7D91549457}"/>
              </a:ext>
            </a:extLst>
          </p:cNvPr>
          <p:cNvSpPr/>
          <p:nvPr/>
        </p:nvSpPr>
        <p:spPr>
          <a:xfrm>
            <a:off x="0" y="0"/>
            <a:ext cx="12161520" cy="1024128"/>
          </a:xfrm>
          <a:prstGeom prst="rect">
            <a:avLst/>
          </a:prstGeom>
          <a:solidFill>
            <a:srgbClr val="17171C"/>
          </a:solidFill>
          <a:ln w="12700">
            <a:solidFill>
              <a:srgbClr val="17171C"/>
            </a:solidFill>
            <a:prstDash val="solid"/>
          </a:ln>
        </p:spPr>
      </p:sp>
      <p:sp>
        <p:nvSpPr>
          <p:cNvPr id="115" name="Shape 3">
            <a:extLst>
              <a:ext uri="{FF2B5EF4-FFF2-40B4-BE49-F238E27FC236}">
                <a16:creationId xmlns:a16="http://schemas.microsoft.com/office/drawing/2014/main" id="{9CFDA7C0-BE97-46A5-941C-02A8098DF759}"/>
              </a:ext>
            </a:extLst>
          </p:cNvPr>
          <p:cNvSpPr/>
          <p:nvPr/>
        </p:nvSpPr>
        <p:spPr>
          <a:xfrm>
            <a:off x="2220277" y="132597"/>
            <a:ext cx="2011680" cy="397925"/>
          </a:xfrm>
          <a:prstGeom prst="rect">
            <a:avLst/>
          </a:prstGeom>
          <a:solidFill>
            <a:srgbClr val="1A20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116" name="Text 4">
            <a:extLst>
              <a:ext uri="{FF2B5EF4-FFF2-40B4-BE49-F238E27FC236}">
                <a16:creationId xmlns:a16="http://schemas.microsoft.com/office/drawing/2014/main" id="{51E82DDB-5EB7-4CAD-9E6F-D3E5FAB15ECC}"/>
              </a:ext>
            </a:extLst>
          </p:cNvPr>
          <p:cNvSpPr/>
          <p:nvPr/>
        </p:nvSpPr>
        <p:spPr>
          <a:xfrm>
            <a:off x="2220277" y="132597"/>
            <a:ext cx="2011680" cy="4311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ПРИЛОЖЕНИЕ П1</a:t>
            </a:r>
            <a:endParaRPr lang="en-US" sz="1100" dirty="0"/>
          </a:p>
        </p:txBody>
      </p:sp>
      <p:sp>
        <p:nvSpPr>
          <p:cNvPr id="117" name="Text 5">
            <a:extLst>
              <a:ext uri="{FF2B5EF4-FFF2-40B4-BE49-F238E27FC236}">
                <a16:creationId xmlns:a16="http://schemas.microsoft.com/office/drawing/2014/main" id="{3BD08B24-D35B-4CA3-B284-4DF41E51E8C9}"/>
              </a:ext>
            </a:extLst>
          </p:cNvPr>
          <p:cNvSpPr/>
          <p:nvPr/>
        </p:nvSpPr>
        <p:spPr>
          <a:xfrm>
            <a:off x="7491466" y="400049"/>
            <a:ext cx="44043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PSW — Problem Statement Worksheet: постановка задачи и рамки решения</a:t>
            </a:r>
            <a:endParaRPr lang="en-US" sz="1500" dirty="0"/>
          </a:p>
        </p:txBody>
      </p:sp>
      <p:sp>
        <p:nvSpPr>
          <p:cNvPr id="118" name="Shape 6">
            <a:extLst>
              <a:ext uri="{FF2B5EF4-FFF2-40B4-BE49-F238E27FC236}">
                <a16:creationId xmlns:a16="http://schemas.microsoft.com/office/drawing/2014/main" id="{92039881-CEEA-44B8-B1E2-4B3E4C7A8C9B}"/>
              </a:ext>
            </a:extLst>
          </p:cNvPr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111118"/>
          </a:solidFill>
          <a:ln w="12700">
            <a:solidFill>
              <a:srgbClr val="111118"/>
            </a:solidFill>
            <a:prstDash val="solid"/>
          </a:ln>
        </p:spPr>
      </p:sp>
      <p:sp>
        <p:nvSpPr>
          <p:cNvPr id="119" name="Text 7">
            <a:extLst>
              <a:ext uri="{FF2B5EF4-FFF2-40B4-BE49-F238E27FC236}">
                <a16:creationId xmlns:a16="http://schemas.microsoft.com/office/drawing/2014/main" id="{DA81B387-1CC2-42C1-9BBC-FF9ADD9117B7}"/>
              </a:ext>
            </a:extLst>
          </p:cNvPr>
          <p:cNvSpPr/>
          <p:nvPr/>
        </p:nvSpPr>
        <p:spPr>
          <a:xfrm>
            <a:off x="274320" y="6574536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ПРИЛОЖЕНИЯ К КЕЙСУ ОТП БАНК — CHANGELLENGE CUP IT 2026</a:t>
            </a:r>
            <a:endParaRPr lang="en-US" sz="800" dirty="0"/>
          </a:p>
        </p:txBody>
      </p:sp>
      <p:sp>
        <p:nvSpPr>
          <p:cNvPr id="120" name="Text 8">
            <a:extLst>
              <a:ext uri="{FF2B5EF4-FFF2-40B4-BE49-F238E27FC236}">
                <a16:creationId xmlns:a16="http://schemas.microsoft.com/office/drawing/2014/main" id="{9E20F20A-BE0C-4091-8E9E-7AF9D4F3C344}"/>
              </a:ext>
            </a:extLst>
          </p:cNvPr>
          <p:cNvSpPr/>
          <p:nvPr/>
        </p:nvSpPr>
        <p:spPr>
          <a:xfrm>
            <a:off x="8686800" y="657453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Приложение П1</a:t>
            </a:r>
            <a:endParaRPr lang="en-US" sz="800" dirty="0"/>
          </a:p>
        </p:txBody>
      </p:sp>
      <p:sp>
        <p:nvSpPr>
          <p:cNvPr id="121" name="Text 9">
            <a:extLst>
              <a:ext uri="{FF2B5EF4-FFF2-40B4-BE49-F238E27FC236}">
                <a16:creationId xmlns:a16="http://schemas.microsoft.com/office/drawing/2014/main" id="{95C52288-9426-4BD2-BCCB-4A5DB0A5A119}"/>
              </a:ext>
            </a:extLst>
          </p:cNvPr>
          <p:cNvSpPr/>
          <p:nvPr/>
        </p:nvSpPr>
        <p:spPr>
          <a:xfrm>
            <a:off x="11521440" y="657453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22" name="Shape 10">
            <a:extLst>
              <a:ext uri="{FF2B5EF4-FFF2-40B4-BE49-F238E27FC236}">
                <a16:creationId xmlns:a16="http://schemas.microsoft.com/office/drawing/2014/main" id="{F33BCF30-3085-4893-8C89-85AFC450958C}"/>
              </a:ext>
            </a:extLst>
          </p:cNvPr>
          <p:cNvSpPr/>
          <p:nvPr/>
        </p:nvSpPr>
        <p:spPr>
          <a:xfrm>
            <a:off x="320040" y="1143000"/>
            <a:ext cx="11521440" cy="512064"/>
          </a:xfrm>
          <a:prstGeom prst="rect">
            <a:avLst/>
          </a:prstGeom>
          <a:solidFill>
            <a:srgbClr val="1A20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123" name="Shape 11">
            <a:extLst>
              <a:ext uri="{FF2B5EF4-FFF2-40B4-BE49-F238E27FC236}">
                <a16:creationId xmlns:a16="http://schemas.microsoft.com/office/drawing/2014/main" id="{61520824-BB2B-4FCD-B4EB-8E7BD4FD5CAA}"/>
              </a:ext>
            </a:extLst>
          </p:cNvPr>
          <p:cNvSpPr/>
          <p:nvPr/>
        </p:nvSpPr>
        <p:spPr>
          <a:xfrm>
            <a:off x="320040" y="1143000"/>
            <a:ext cx="45720" cy="512064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124" name="Text 12">
            <a:extLst>
              <a:ext uri="{FF2B5EF4-FFF2-40B4-BE49-F238E27FC236}">
                <a16:creationId xmlns:a16="http://schemas.microsoft.com/office/drawing/2014/main" id="{FBA38175-E938-4971-891A-F26622BB95F1}"/>
              </a:ext>
            </a:extLst>
          </p:cNvPr>
          <p:cNvSpPr/>
          <p:nvPr/>
        </p:nvSpPr>
        <p:spPr>
          <a:xfrm>
            <a:off x="457200" y="1161288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Основной вопрос: Как переосмыслить витрину мобильного приложения ОТП Банка — структурировав её по жизненным ситуациям с механиками гиперперсонализации, чтобы создать измеримую бизнес-ценность (вовлечённость, видимость продуктов, конверсия)?</a:t>
            </a:r>
            <a:endParaRPr lang="en-US" sz="950" dirty="0"/>
          </a:p>
        </p:txBody>
      </p:sp>
      <p:sp>
        <p:nvSpPr>
          <p:cNvPr id="125" name="Shape 13">
            <a:extLst>
              <a:ext uri="{FF2B5EF4-FFF2-40B4-BE49-F238E27FC236}">
                <a16:creationId xmlns:a16="http://schemas.microsoft.com/office/drawing/2014/main" id="{08F11497-5762-4BBB-A14F-20F7F0EDD2B7}"/>
              </a:ext>
            </a:extLst>
          </p:cNvPr>
          <p:cNvSpPr/>
          <p:nvPr/>
        </p:nvSpPr>
        <p:spPr>
          <a:xfrm>
            <a:off x="320040" y="1810512"/>
            <a:ext cx="36576" cy="195580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126" name="Text 14">
            <a:extLst>
              <a:ext uri="{FF2B5EF4-FFF2-40B4-BE49-F238E27FC236}">
                <a16:creationId xmlns:a16="http://schemas.microsoft.com/office/drawing/2014/main" id="{B205932C-E234-4917-AEFF-85571A4C1FB8}"/>
              </a:ext>
            </a:extLst>
          </p:cNvPr>
          <p:cNvSpPr/>
          <p:nvPr/>
        </p:nvSpPr>
        <p:spPr>
          <a:xfrm>
            <a:off x="411480" y="177393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 и критерии успеха</a:t>
            </a:r>
            <a:endParaRPr lang="en-US" sz="1100" dirty="0"/>
          </a:p>
        </p:txBody>
      </p:sp>
      <p:sp>
        <p:nvSpPr>
          <p:cNvPr id="127" name="Shape 15">
            <a:extLst>
              <a:ext uri="{FF2B5EF4-FFF2-40B4-BE49-F238E27FC236}">
                <a16:creationId xmlns:a16="http://schemas.microsoft.com/office/drawing/2014/main" id="{07629DDE-8AEF-44B7-981E-03427D67EF47}"/>
              </a:ext>
            </a:extLst>
          </p:cNvPr>
          <p:cNvSpPr/>
          <p:nvPr/>
        </p:nvSpPr>
        <p:spPr>
          <a:xfrm>
            <a:off x="320040" y="2066544"/>
            <a:ext cx="3749040" cy="2011680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28" name="Text 16">
            <a:extLst>
              <a:ext uri="{FF2B5EF4-FFF2-40B4-BE49-F238E27FC236}">
                <a16:creationId xmlns:a16="http://schemas.microsoft.com/office/drawing/2014/main" id="{B9AE8503-AF11-4E67-92D5-68EB4AC0BCD6}"/>
              </a:ext>
            </a:extLst>
          </p:cNvPr>
          <p:cNvSpPr/>
          <p:nvPr/>
        </p:nvSpPr>
        <p:spPr>
          <a:xfrm>
            <a:off x="438912" y="2121408"/>
            <a:ext cx="914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Проблема:</a:t>
            </a:r>
            <a:endParaRPr lang="en-US" sz="1050" dirty="0"/>
          </a:p>
        </p:txBody>
      </p:sp>
      <p:sp>
        <p:nvSpPr>
          <p:cNvPr id="129" name="Text 17">
            <a:extLst>
              <a:ext uri="{FF2B5EF4-FFF2-40B4-BE49-F238E27FC236}">
                <a16:creationId xmlns:a16="http://schemas.microsoft.com/office/drawing/2014/main" id="{8BADDF20-18FD-4642-A6E6-BC6624B353CA}"/>
              </a:ext>
            </a:extLst>
          </p:cNvPr>
          <p:cNvSpPr/>
          <p:nvPr/>
        </p:nvSpPr>
        <p:spPr>
          <a:xfrm>
            <a:off x="1341501" y="2247877"/>
            <a:ext cx="25786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Банки используют продуктовую навигацию (Карты / Кредиты / Вклады) — клиент вынужден думать в терминах банка, а не своей жизни.</a:t>
            </a:r>
            <a:endParaRPr lang="en-US" sz="1050" dirty="0"/>
          </a:p>
        </p:txBody>
      </p:sp>
      <p:sp>
        <p:nvSpPr>
          <p:cNvPr id="130" name="Text 18">
            <a:extLst>
              <a:ext uri="{FF2B5EF4-FFF2-40B4-BE49-F238E27FC236}">
                <a16:creationId xmlns:a16="http://schemas.microsoft.com/office/drawing/2014/main" id="{26D05968-CA4A-4B3D-A2EA-4FA46D33E84B}"/>
              </a:ext>
            </a:extLst>
          </p:cNvPr>
          <p:cNvSpPr/>
          <p:nvPr/>
        </p:nvSpPr>
        <p:spPr>
          <a:xfrm>
            <a:off x="438912" y="2724912"/>
            <a:ext cx="914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have:</a:t>
            </a:r>
            <a:endParaRPr lang="en-US" sz="1050" dirty="0"/>
          </a:p>
        </p:txBody>
      </p:sp>
      <p:sp>
        <p:nvSpPr>
          <p:cNvPr id="131" name="Text 19">
            <a:extLst>
              <a:ext uri="{FF2B5EF4-FFF2-40B4-BE49-F238E27FC236}">
                <a16:creationId xmlns:a16="http://schemas.microsoft.com/office/drawing/2014/main" id="{C8ECC2AD-D73F-4C2F-BB30-16DE20FCD46E}"/>
              </a:ext>
            </a:extLst>
          </p:cNvPr>
          <p:cNvSpPr/>
          <p:nvPr/>
        </p:nvSpPr>
        <p:spPr>
          <a:xfrm>
            <a:off x="1368552" y="2907018"/>
            <a:ext cx="25786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Логика AS-IS/TO-BE · Концепт UI · Метрики (DAU, CR, PDR) · 3+ интервью · Прототип витрины</a:t>
            </a:r>
            <a:endParaRPr lang="en-US" sz="1050" dirty="0"/>
          </a:p>
        </p:txBody>
      </p:sp>
      <p:sp>
        <p:nvSpPr>
          <p:cNvPr id="132" name="Text 20">
            <a:extLst>
              <a:ext uri="{FF2B5EF4-FFF2-40B4-BE49-F238E27FC236}">
                <a16:creationId xmlns:a16="http://schemas.microsoft.com/office/drawing/2014/main" id="{5D26F350-5C2C-491C-8B83-C06EA6103928}"/>
              </a:ext>
            </a:extLst>
          </p:cNvPr>
          <p:cNvSpPr/>
          <p:nvPr/>
        </p:nvSpPr>
        <p:spPr>
          <a:xfrm>
            <a:off x="438912" y="3328416"/>
            <a:ext cx="914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 to have:</a:t>
            </a:r>
            <a:endParaRPr lang="en-US" sz="1050" dirty="0"/>
          </a:p>
        </p:txBody>
      </p:sp>
      <p:sp>
        <p:nvSpPr>
          <p:cNvPr id="133" name="Text 21">
            <a:extLst>
              <a:ext uri="{FF2B5EF4-FFF2-40B4-BE49-F238E27FC236}">
                <a16:creationId xmlns:a16="http://schemas.microsoft.com/office/drawing/2014/main" id="{02BB8129-C2BF-4D1C-A9B8-78EFFEBB9476}"/>
              </a:ext>
            </a:extLst>
          </p:cNvPr>
          <p:cNvSpPr/>
          <p:nvPr/>
        </p:nvSpPr>
        <p:spPr>
          <a:xfrm>
            <a:off x="1371600" y="3402754"/>
            <a:ext cx="25786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Конкурентный анализ · Сегментация · A/B-тест гипотеза с методологией</a:t>
            </a:r>
            <a:endParaRPr lang="en-US" sz="1050" dirty="0"/>
          </a:p>
        </p:txBody>
      </p:sp>
      <p:sp>
        <p:nvSpPr>
          <p:cNvPr id="134" name="Shape 22">
            <a:extLst>
              <a:ext uri="{FF2B5EF4-FFF2-40B4-BE49-F238E27FC236}">
                <a16:creationId xmlns:a16="http://schemas.microsoft.com/office/drawing/2014/main" id="{5D1FCCE4-2AE7-4F47-AE0C-AF8D74BD9917}"/>
              </a:ext>
            </a:extLst>
          </p:cNvPr>
          <p:cNvSpPr/>
          <p:nvPr/>
        </p:nvSpPr>
        <p:spPr>
          <a:xfrm>
            <a:off x="4251960" y="1810512"/>
            <a:ext cx="36576" cy="195580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135" name="Text 23">
            <a:extLst>
              <a:ext uri="{FF2B5EF4-FFF2-40B4-BE49-F238E27FC236}">
                <a16:creationId xmlns:a16="http://schemas.microsoft.com/office/drawing/2014/main" id="{7EA86173-DB52-461C-B78E-06316DF2A0C5}"/>
              </a:ext>
            </a:extLst>
          </p:cNvPr>
          <p:cNvSpPr/>
          <p:nvPr/>
        </p:nvSpPr>
        <p:spPr>
          <a:xfrm>
            <a:off x="4343400" y="177393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Пространство решений</a:t>
            </a:r>
            <a:endParaRPr lang="en-US" sz="1100" dirty="0"/>
          </a:p>
        </p:txBody>
      </p:sp>
      <p:sp>
        <p:nvSpPr>
          <p:cNvPr id="136" name="Shape 24">
            <a:extLst>
              <a:ext uri="{FF2B5EF4-FFF2-40B4-BE49-F238E27FC236}">
                <a16:creationId xmlns:a16="http://schemas.microsoft.com/office/drawing/2014/main" id="{3873AB2E-87C1-4986-A1B7-F8D53F9D13D5}"/>
              </a:ext>
            </a:extLst>
          </p:cNvPr>
          <p:cNvSpPr/>
          <p:nvPr/>
        </p:nvSpPr>
        <p:spPr>
          <a:xfrm>
            <a:off x="4251960" y="2066544"/>
            <a:ext cx="3749040" cy="2609414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37" name="Text 25">
            <a:extLst>
              <a:ext uri="{FF2B5EF4-FFF2-40B4-BE49-F238E27FC236}">
                <a16:creationId xmlns:a16="http://schemas.microsoft.com/office/drawing/2014/main" id="{7C0DA40B-C927-4563-B91C-9D067CAE8FB1}"/>
              </a:ext>
            </a:extLst>
          </p:cNvPr>
          <p:cNvSpPr/>
          <p:nvPr/>
        </p:nvSpPr>
        <p:spPr>
          <a:xfrm>
            <a:off x="4370832" y="2121408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рамках решения</a:t>
            </a:r>
            <a:endParaRPr lang="en-US" sz="1100" dirty="0"/>
          </a:p>
        </p:txBody>
      </p:sp>
      <p:sp>
        <p:nvSpPr>
          <p:cNvPr id="138" name="Shape 26">
            <a:extLst>
              <a:ext uri="{FF2B5EF4-FFF2-40B4-BE49-F238E27FC236}">
                <a16:creationId xmlns:a16="http://schemas.microsoft.com/office/drawing/2014/main" id="{15C9B09D-9C33-4C9D-93DF-5B4C02DCBE9F}"/>
              </a:ext>
            </a:extLst>
          </p:cNvPr>
          <p:cNvSpPr/>
          <p:nvPr/>
        </p:nvSpPr>
        <p:spPr>
          <a:xfrm>
            <a:off x="4398264" y="2391325"/>
            <a:ext cx="91440" cy="91440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139" name="Text 27">
            <a:extLst>
              <a:ext uri="{FF2B5EF4-FFF2-40B4-BE49-F238E27FC236}">
                <a16:creationId xmlns:a16="http://schemas.microsoft.com/office/drawing/2014/main" id="{E3305500-33AC-4984-B252-7D595F040304}"/>
              </a:ext>
            </a:extLst>
          </p:cNvPr>
          <p:cNvSpPr/>
          <p:nvPr/>
        </p:nvSpPr>
        <p:spPr>
          <a:xfrm>
            <a:off x="4535424" y="2340864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Реструктуризация главного экрана</a:t>
            </a:r>
            <a:endParaRPr lang="en-US" sz="1050" dirty="0"/>
          </a:p>
        </p:txBody>
      </p:sp>
      <p:sp>
        <p:nvSpPr>
          <p:cNvPr id="140" name="Shape 28">
            <a:extLst>
              <a:ext uri="{FF2B5EF4-FFF2-40B4-BE49-F238E27FC236}">
                <a16:creationId xmlns:a16="http://schemas.microsoft.com/office/drawing/2014/main" id="{E26699E0-24F0-402C-AC59-399C31CF72C3}"/>
              </a:ext>
            </a:extLst>
          </p:cNvPr>
          <p:cNvSpPr/>
          <p:nvPr/>
        </p:nvSpPr>
        <p:spPr>
          <a:xfrm>
            <a:off x="4398264" y="2629069"/>
            <a:ext cx="91440" cy="91440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141" name="Text 29">
            <a:extLst>
              <a:ext uri="{FF2B5EF4-FFF2-40B4-BE49-F238E27FC236}">
                <a16:creationId xmlns:a16="http://schemas.microsoft.com/office/drawing/2014/main" id="{5628406D-D2B6-4B37-9C50-F7EB300666BF}"/>
              </a:ext>
            </a:extLst>
          </p:cNvPr>
          <p:cNvSpPr/>
          <p:nvPr/>
        </p:nvSpPr>
        <p:spPr>
          <a:xfrm>
            <a:off x="4535424" y="2578608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Тематические разделы по жизненным ситуациям</a:t>
            </a:r>
            <a:endParaRPr lang="en-US" sz="1050" dirty="0"/>
          </a:p>
        </p:txBody>
      </p:sp>
      <p:sp>
        <p:nvSpPr>
          <p:cNvPr id="142" name="Shape 30">
            <a:extLst>
              <a:ext uri="{FF2B5EF4-FFF2-40B4-BE49-F238E27FC236}">
                <a16:creationId xmlns:a16="http://schemas.microsoft.com/office/drawing/2014/main" id="{97377F11-12B1-47FD-8EDB-8B898BCD04D8}"/>
              </a:ext>
            </a:extLst>
          </p:cNvPr>
          <p:cNvSpPr/>
          <p:nvPr/>
        </p:nvSpPr>
        <p:spPr>
          <a:xfrm>
            <a:off x="4398264" y="2866813"/>
            <a:ext cx="91440" cy="91440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143" name="Text 31">
            <a:extLst>
              <a:ext uri="{FF2B5EF4-FFF2-40B4-BE49-F238E27FC236}">
                <a16:creationId xmlns:a16="http://schemas.microsoft.com/office/drawing/2014/main" id="{BE9FA366-532F-458B-9F2E-69EF87289AE6}"/>
              </a:ext>
            </a:extLst>
          </p:cNvPr>
          <p:cNvSpPr/>
          <p:nvPr/>
        </p:nvSpPr>
        <p:spPr>
          <a:xfrm>
            <a:off x="4535424" y="2816352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Персонализированные блоки по транзакциям</a:t>
            </a:r>
            <a:endParaRPr lang="en-US" sz="1050" dirty="0"/>
          </a:p>
        </p:txBody>
      </p:sp>
      <p:sp>
        <p:nvSpPr>
          <p:cNvPr id="144" name="Shape 32">
            <a:extLst>
              <a:ext uri="{FF2B5EF4-FFF2-40B4-BE49-F238E27FC236}">
                <a16:creationId xmlns:a16="http://schemas.microsoft.com/office/drawing/2014/main" id="{EA40839D-F6B5-42CE-848C-521417837313}"/>
              </a:ext>
            </a:extLst>
          </p:cNvPr>
          <p:cNvSpPr/>
          <p:nvPr/>
        </p:nvSpPr>
        <p:spPr>
          <a:xfrm>
            <a:off x="4398264" y="3104557"/>
            <a:ext cx="91440" cy="91440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145" name="Text 33">
            <a:extLst>
              <a:ext uri="{FF2B5EF4-FFF2-40B4-BE49-F238E27FC236}">
                <a16:creationId xmlns:a16="http://schemas.microsoft.com/office/drawing/2014/main" id="{DBD7E922-FAC4-46E5-BF85-1165D5181121}"/>
              </a:ext>
            </a:extLst>
          </p:cNvPr>
          <p:cNvSpPr/>
          <p:nvPr/>
        </p:nvSpPr>
        <p:spPr>
          <a:xfrm>
            <a:off x="4535424" y="3054096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Новые механики продаж продуктов банка</a:t>
            </a:r>
            <a:endParaRPr lang="en-US" sz="1050" dirty="0"/>
          </a:p>
        </p:txBody>
      </p:sp>
      <p:sp>
        <p:nvSpPr>
          <p:cNvPr id="146" name="Shape 34">
            <a:extLst>
              <a:ext uri="{FF2B5EF4-FFF2-40B4-BE49-F238E27FC236}">
                <a16:creationId xmlns:a16="http://schemas.microsoft.com/office/drawing/2014/main" id="{4C1C5099-4368-4AD9-9FD0-4AF476A3F9A0}"/>
              </a:ext>
            </a:extLst>
          </p:cNvPr>
          <p:cNvSpPr/>
          <p:nvPr/>
        </p:nvSpPr>
        <p:spPr>
          <a:xfrm>
            <a:off x="4398264" y="3342301"/>
            <a:ext cx="91440" cy="91440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147" name="Text 35">
            <a:extLst>
              <a:ext uri="{FF2B5EF4-FFF2-40B4-BE49-F238E27FC236}">
                <a16:creationId xmlns:a16="http://schemas.microsoft.com/office/drawing/2014/main" id="{3AC47434-0418-45A8-BDBE-5AD021ECCE43}"/>
              </a:ext>
            </a:extLst>
          </p:cNvPr>
          <p:cNvSpPr/>
          <p:nvPr/>
        </p:nvSpPr>
        <p:spPr>
          <a:xfrm>
            <a:off x="4535424" y="3291840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Клиентский путь для 2–3 ключевых сценариев</a:t>
            </a:r>
            <a:endParaRPr lang="en-US" sz="1050" dirty="0"/>
          </a:p>
        </p:txBody>
      </p:sp>
      <p:sp>
        <p:nvSpPr>
          <p:cNvPr id="148" name="Text 36">
            <a:extLst>
              <a:ext uri="{FF2B5EF4-FFF2-40B4-BE49-F238E27FC236}">
                <a16:creationId xmlns:a16="http://schemas.microsoft.com/office/drawing/2014/main" id="{77802547-5222-4C67-8BD2-28320F573DA5}"/>
              </a:ext>
            </a:extLst>
          </p:cNvPr>
          <p:cNvSpPr/>
          <p:nvPr/>
        </p:nvSpPr>
        <p:spPr>
          <a:xfrm>
            <a:off x="4370832" y="360273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 рамок решения</a:t>
            </a:r>
            <a:endParaRPr lang="en-US" sz="1100" dirty="0"/>
          </a:p>
        </p:txBody>
      </p:sp>
      <p:sp>
        <p:nvSpPr>
          <p:cNvPr id="149" name="Shape 37">
            <a:extLst>
              <a:ext uri="{FF2B5EF4-FFF2-40B4-BE49-F238E27FC236}">
                <a16:creationId xmlns:a16="http://schemas.microsoft.com/office/drawing/2014/main" id="{6842C265-13BF-410B-B54F-96DA395CE348}"/>
              </a:ext>
            </a:extLst>
          </p:cNvPr>
          <p:cNvSpPr/>
          <p:nvPr/>
        </p:nvSpPr>
        <p:spPr>
          <a:xfrm>
            <a:off x="4361688" y="3856737"/>
            <a:ext cx="91440" cy="914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50" name="Text 38">
            <a:extLst>
              <a:ext uri="{FF2B5EF4-FFF2-40B4-BE49-F238E27FC236}">
                <a16:creationId xmlns:a16="http://schemas.microsoft.com/office/drawing/2014/main" id="{65BD510C-36EC-4540-8790-DCDDF940CB33}"/>
              </a:ext>
            </a:extLst>
          </p:cNvPr>
          <p:cNvSpPr/>
          <p:nvPr/>
        </p:nvSpPr>
        <p:spPr>
          <a:xfrm>
            <a:off x="4535424" y="3813048"/>
            <a:ext cx="3337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Чат-боты и AI-ассистенты</a:t>
            </a:r>
            <a:endParaRPr lang="en-US" sz="1050" dirty="0"/>
          </a:p>
        </p:txBody>
      </p:sp>
      <p:sp>
        <p:nvSpPr>
          <p:cNvPr id="151" name="Shape 39">
            <a:extLst>
              <a:ext uri="{FF2B5EF4-FFF2-40B4-BE49-F238E27FC236}">
                <a16:creationId xmlns:a16="http://schemas.microsoft.com/office/drawing/2014/main" id="{6697579E-58BE-4832-90C2-AAC5D2BCC563}"/>
              </a:ext>
            </a:extLst>
          </p:cNvPr>
          <p:cNvSpPr/>
          <p:nvPr/>
        </p:nvSpPr>
        <p:spPr>
          <a:xfrm>
            <a:off x="4370832" y="4067048"/>
            <a:ext cx="91440" cy="914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52" name="Text 40">
            <a:extLst>
              <a:ext uri="{FF2B5EF4-FFF2-40B4-BE49-F238E27FC236}">
                <a16:creationId xmlns:a16="http://schemas.microsoft.com/office/drawing/2014/main" id="{470AE6F9-78A3-44F6-8BE3-BBCB785DE0CB}"/>
              </a:ext>
            </a:extLst>
          </p:cNvPr>
          <p:cNvSpPr/>
          <p:nvPr/>
        </p:nvSpPr>
        <p:spPr>
          <a:xfrm>
            <a:off x="4535424" y="4023360"/>
            <a:ext cx="3337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Копирование суперапп-логики (Яндекс / Т-Банк)</a:t>
            </a:r>
            <a:endParaRPr lang="en-US" sz="1050" dirty="0"/>
          </a:p>
        </p:txBody>
      </p:sp>
      <p:sp>
        <p:nvSpPr>
          <p:cNvPr id="153" name="Shape 41">
            <a:extLst>
              <a:ext uri="{FF2B5EF4-FFF2-40B4-BE49-F238E27FC236}">
                <a16:creationId xmlns:a16="http://schemas.microsoft.com/office/drawing/2014/main" id="{3074CBFB-675C-40B6-AC6D-823D02AFA142}"/>
              </a:ext>
            </a:extLst>
          </p:cNvPr>
          <p:cNvSpPr/>
          <p:nvPr/>
        </p:nvSpPr>
        <p:spPr>
          <a:xfrm>
            <a:off x="4370832" y="4277359"/>
            <a:ext cx="91440" cy="914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54" name="Text 42">
            <a:extLst>
              <a:ext uri="{FF2B5EF4-FFF2-40B4-BE49-F238E27FC236}">
                <a16:creationId xmlns:a16="http://schemas.microsoft.com/office/drawing/2014/main" id="{39277BDA-B38B-4CF6-85B4-27B4D04A83A9}"/>
              </a:ext>
            </a:extLst>
          </p:cNvPr>
          <p:cNvSpPr/>
          <p:nvPr/>
        </p:nvSpPr>
        <p:spPr>
          <a:xfrm>
            <a:off x="4535424" y="4233672"/>
            <a:ext cx="3337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Маркетплейс сторонних товаров и услуг</a:t>
            </a:r>
            <a:endParaRPr lang="en-US" sz="1050" dirty="0"/>
          </a:p>
        </p:txBody>
      </p:sp>
      <p:sp>
        <p:nvSpPr>
          <p:cNvPr id="155" name="Shape 43">
            <a:extLst>
              <a:ext uri="{FF2B5EF4-FFF2-40B4-BE49-F238E27FC236}">
                <a16:creationId xmlns:a16="http://schemas.microsoft.com/office/drawing/2014/main" id="{E93A7A81-0B2B-4507-856E-E927589DB7C4}"/>
              </a:ext>
            </a:extLst>
          </p:cNvPr>
          <p:cNvSpPr/>
          <p:nvPr/>
        </p:nvSpPr>
        <p:spPr>
          <a:xfrm>
            <a:off x="8183880" y="1810512"/>
            <a:ext cx="36576" cy="195580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156" name="Text 44">
            <a:extLst>
              <a:ext uri="{FF2B5EF4-FFF2-40B4-BE49-F238E27FC236}">
                <a16:creationId xmlns:a16="http://schemas.microsoft.com/office/drawing/2014/main" id="{5FF25EF8-303E-46DD-95F9-F62C09ED71E7}"/>
              </a:ext>
            </a:extLst>
          </p:cNvPr>
          <p:cNvSpPr/>
          <p:nvPr/>
        </p:nvSpPr>
        <p:spPr>
          <a:xfrm>
            <a:off x="8275320" y="177393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Ограничения и стейкхолдеры</a:t>
            </a:r>
            <a:endParaRPr lang="en-US" sz="1100" dirty="0"/>
          </a:p>
        </p:txBody>
      </p:sp>
      <p:sp>
        <p:nvSpPr>
          <p:cNvPr id="157" name="Shape 45">
            <a:extLst>
              <a:ext uri="{FF2B5EF4-FFF2-40B4-BE49-F238E27FC236}">
                <a16:creationId xmlns:a16="http://schemas.microsoft.com/office/drawing/2014/main" id="{227E4BC6-B9A6-4C92-8417-12FD63FA424F}"/>
              </a:ext>
            </a:extLst>
          </p:cNvPr>
          <p:cNvSpPr/>
          <p:nvPr/>
        </p:nvSpPr>
        <p:spPr>
          <a:xfrm>
            <a:off x="8183880" y="2066543"/>
            <a:ext cx="3657600" cy="2609415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58" name="Shape 46">
            <a:extLst>
              <a:ext uri="{FF2B5EF4-FFF2-40B4-BE49-F238E27FC236}">
                <a16:creationId xmlns:a16="http://schemas.microsoft.com/office/drawing/2014/main" id="{86CC9913-2E83-4834-AEF4-CE31984B28E1}"/>
              </a:ext>
            </a:extLst>
          </p:cNvPr>
          <p:cNvSpPr/>
          <p:nvPr/>
        </p:nvSpPr>
        <p:spPr>
          <a:xfrm>
            <a:off x="8275320" y="2121408"/>
            <a:ext cx="256032" cy="292608"/>
          </a:xfrm>
          <a:prstGeom prst="rect">
            <a:avLst/>
          </a:prstGeom>
          <a:solidFill>
            <a:srgbClr val="1A20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159" name="Text 47">
            <a:extLst>
              <a:ext uri="{FF2B5EF4-FFF2-40B4-BE49-F238E27FC236}">
                <a16:creationId xmlns:a16="http://schemas.microsoft.com/office/drawing/2014/main" id="{6723CB2D-F1DC-4816-AEC1-58765EDAA5EC}"/>
              </a:ext>
            </a:extLst>
          </p:cNvPr>
          <p:cNvSpPr/>
          <p:nvPr/>
        </p:nvSpPr>
        <p:spPr>
          <a:xfrm>
            <a:off x="8275320" y="2121408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60" name="Text 48">
            <a:extLst>
              <a:ext uri="{FF2B5EF4-FFF2-40B4-BE49-F238E27FC236}">
                <a16:creationId xmlns:a16="http://schemas.microsoft.com/office/drawing/2014/main" id="{8A99A18A-56F5-4CDC-91D0-B658FA806C7D}"/>
              </a:ext>
            </a:extLst>
          </p:cNvPr>
          <p:cNvSpPr/>
          <p:nvPr/>
        </p:nvSpPr>
        <p:spPr>
          <a:xfrm>
            <a:off x="8595360" y="2130552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чат-бота</a:t>
            </a:r>
            <a:endParaRPr lang="en-US" sz="1050" dirty="0"/>
          </a:p>
        </p:txBody>
      </p:sp>
      <p:sp>
        <p:nvSpPr>
          <p:cNvPr id="161" name="Text 49">
            <a:extLst>
              <a:ext uri="{FF2B5EF4-FFF2-40B4-BE49-F238E27FC236}">
                <a16:creationId xmlns:a16="http://schemas.microsoft.com/office/drawing/2014/main" id="{4902B716-09F9-48D9-B804-F1DF454A7B38}"/>
              </a:ext>
            </a:extLst>
          </p:cNvPr>
          <p:cNvSpPr/>
          <p:nvPr/>
        </p:nvSpPr>
        <p:spPr>
          <a:xfrm>
            <a:off x="8595360" y="2304288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UX-структура вместо диалога</a:t>
            </a:r>
            <a:endParaRPr lang="en-US" sz="1000" dirty="0"/>
          </a:p>
        </p:txBody>
      </p:sp>
      <p:sp>
        <p:nvSpPr>
          <p:cNvPr id="162" name="Shape 50">
            <a:extLst>
              <a:ext uri="{FF2B5EF4-FFF2-40B4-BE49-F238E27FC236}">
                <a16:creationId xmlns:a16="http://schemas.microsoft.com/office/drawing/2014/main" id="{66EC5B46-A00D-4B73-92A6-FEB4A41E8CE4}"/>
              </a:ext>
            </a:extLst>
          </p:cNvPr>
          <p:cNvSpPr/>
          <p:nvPr/>
        </p:nvSpPr>
        <p:spPr>
          <a:xfrm>
            <a:off x="8275320" y="2542032"/>
            <a:ext cx="256032" cy="292608"/>
          </a:xfrm>
          <a:prstGeom prst="rect">
            <a:avLst/>
          </a:prstGeom>
          <a:solidFill>
            <a:srgbClr val="1A20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163" name="Text 51">
            <a:extLst>
              <a:ext uri="{FF2B5EF4-FFF2-40B4-BE49-F238E27FC236}">
                <a16:creationId xmlns:a16="http://schemas.microsoft.com/office/drawing/2014/main" id="{CE4253EC-CA95-43F2-AA85-12CED1C6344A}"/>
              </a:ext>
            </a:extLst>
          </p:cNvPr>
          <p:cNvSpPr/>
          <p:nvPr/>
        </p:nvSpPr>
        <p:spPr>
          <a:xfrm>
            <a:off x="8275320" y="2542032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64" name="Text 52">
            <a:extLst>
              <a:ext uri="{FF2B5EF4-FFF2-40B4-BE49-F238E27FC236}">
                <a16:creationId xmlns:a16="http://schemas.microsoft.com/office/drawing/2014/main" id="{3583D0F4-CA86-4624-BD29-70EE1215E6CD}"/>
              </a:ext>
            </a:extLst>
          </p:cNvPr>
          <p:cNvSpPr/>
          <p:nvPr/>
        </p:nvSpPr>
        <p:spPr>
          <a:xfrm>
            <a:off x="8595360" y="2551176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суперапп</a:t>
            </a:r>
            <a:endParaRPr lang="en-US" sz="1050" dirty="0"/>
          </a:p>
        </p:txBody>
      </p:sp>
      <p:sp>
        <p:nvSpPr>
          <p:cNvPr id="165" name="Text 53">
            <a:extLst>
              <a:ext uri="{FF2B5EF4-FFF2-40B4-BE49-F238E27FC236}">
                <a16:creationId xmlns:a16="http://schemas.microsoft.com/office/drawing/2014/main" id="{C04ACECD-6BA7-438B-9E80-2BFBCCD2B77A}"/>
              </a:ext>
            </a:extLst>
          </p:cNvPr>
          <p:cNvSpPr/>
          <p:nvPr/>
        </p:nvSpPr>
        <p:spPr>
          <a:xfrm>
            <a:off x="8595360" y="2724912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Оригинальная механика, не клон</a:t>
            </a:r>
            <a:endParaRPr lang="en-US" sz="1000" dirty="0"/>
          </a:p>
        </p:txBody>
      </p:sp>
      <p:sp>
        <p:nvSpPr>
          <p:cNvPr id="166" name="Shape 54">
            <a:extLst>
              <a:ext uri="{FF2B5EF4-FFF2-40B4-BE49-F238E27FC236}">
                <a16:creationId xmlns:a16="http://schemas.microsoft.com/office/drawing/2014/main" id="{E7723BBD-7B0B-4D44-A9F2-CE37A4C7E8F8}"/>
              </a:ext>
            </a:extLst>
          </p:cNvPr>
          <p:cNvSpPr/>
          <p:nvPr/>
        </p:nvSpPr>
        <p:spPr>
          <a:xfrm>
            <a:off x="8275320" y="2962656"/>
            <a:ext cx="256032" cy="292608"/>
          </a:xfrm>
          <a:prstGeom prst="rect">
            <a:avLst/>
          </a:prstGeom>
          <a:solidFill>
            <a:srgbClr val="1A20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167" name="Text 55">
            <a:extLst>
              <a:ext uri="{FF2B5EF4-FFF2-40B4-BE49-F238E27FC236}">
                <a16:creationId xmlns:a16="http://schemas.microsoft.com/office/drawing/2014/main" id="{DC63F66E-D091-490D-958E-DD30624B03B9}"/>
              </a:ext>
            </a:extLst>
          </p:cNvPr>
          <p:cNvSpPr/>
          <p:nvPr/>
        </p:nvSpPr>
        <p:spPr>
          <a:xfrm>
            <a:off x="8275320" y="2962656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68" name="Text 56">
            <a:extLst>
              <a:ext uri="{FF2B5EF4-FFF2-40B4-BE49-F238E27FC236}">
                <a16:creationId xmlns:a16="http://schemas.microsoft.com/office/drawing/2014/main" id="{AA0DA61E-186C-4E2D-8F07-BB365361051C}"/>
              </a:ext>
            </a:extLst>
          </p:cNvPr>
          <p:cNvSpPr/>
          <p:nvPr/>
        </p:nvSpPr>
        <p:spPr>
          <a:xfrm>
            <a:off x="8595360" y="297180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Реалии ОТП</a:t>
            </a:r>
            <a:endParaRPr lang="en-US" sz="1050" dirty="0"/>
          </a:p>
        </p:txBody>
      </p:sp>
      <p:sp>
        <p:nvSpPr>
          <p:cNvPr id="169" name="Text 57">
            <a:extLst>
              <a:ext uri="{FF2B5EF4-FFF2-40B4-BE49-F238E27FC236}">
                <a16:creationId xmlns:a16="http://schemas.microsoft.com/office/drawing/2014/main" id="{4B7E6931-0029-4A16-9659-56AE2E06B2F1}"/>
              </a:ext>
            </a:extLst>
          </p:cNvPr>
          <p:cNvSpPr/>
          <p:nvPr/>
        </p:nvSpPr>
        <p:spPr>
          <a:xfrm>
            <a:off x="8595360" y="3145536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Существующие продукты банка</a:t>
            </a:r>
            <a:endParaRPr lang="en-US" sz="1000" dirty="0"/>
          </a:p>
        </p:txBody>
      </p:sp>
      <p:sp>
        <p:nvSpPr>
          <p:cNvPr id="170" name="Shape 58">
            <a:extLst>
              <a:ext uri="{FF2B5EF4-FFF2-40B4-BE49-F238E27FC236}">
                <a16:creationId xmlns:a16="http://schemas.microsoft.com/office/drawing/2014/main" id="{D75E145E-849A-4FF2-8001-7966F494EED0}"/>
              </a:ext>
            </a:extLst>
          </p:cNvPr>
          <p:cNvSpPr/>
          <p:nvPr/>
        </p:nvSpPr>
        <p:spPr>
          <a:xfrm>
            <a:off x="8275320" y="3383280"/>
            <a:ext cx="256032" cy="292608"/>
          </a:xfrm>
          <a:prstGeom prst="rect">
            <a:avLst/>
          </a:prstGeom>
          <a:solidFill>
            <a:srgbClr val="1A20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171" name="Text 59">
            <a:extLst>
              <a:ext uri="{FF2B5EF4-FFF2-40B4-BE49-F238E27FC236}">
                <a16:creationId xmlns:a16="http://schemas.microsoft.com/office/drawing/2014/main" id="{FE6B250F-954D-4D0D-A444-FE9129F2E8ED}"/>
              </a:ext>
            </a:extLst>
          </p:cNvPr>
          <p:cNvSpPr/>
          <p:nvPr/>
        </p:nvSpPr>
        <p:spPr>
          <a:xfrm>
            <a:off x="8275320" y="3383280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72" name="Text 60">
            <a:extLst>
              <a:ext uri="{FF2B5EF4-FFF2-40B4-BE49-F238E27FC236}">
                <a16:creationId xmlns:a16="http://schemas.microsoft.com/office/drawing/2014/main" id="{ADADC1FE-4184-4878-9C8C-23DA61F9C79B}"/>
              </a:ext>
            </a:extLst>
          </p:cNvPr>
          <p:cNvSpPr/>
          <p:nvPr/>
        </p:nvSpPr>
        <p:spPr>
          <a:xfrm>
            <a:off x="8595360" y="339242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P&amp;L</a:t>
            </a:r>
            <a:endParaRPr lang="en-US" sz="1050" dirty="0"/>
          </a:p>
        </p:txBody>
      </p:sp>
      <p:sp>
        <p:nvSpPr>
          <p:cNvPr id="173" name="Text 61">
            <a:extLst>
              <a:ext uri="{FF2B5EF4-FFF2-40B4-BE49-F238E27FC236}">
                <a16:creationId xmlns:a16="http://schemas.microsoft.com/office/drawing/2014/main" id="{B7AF300D-D19D-44C8-9646-E6EDF23AD3E8}"/>
              </a:ext>
            </a:extLst>
          </p:cNvPr>
          <p:cNvSpPr/>
          <p:nvPr/>
        </p:nvSpPr>
        <p:spPr>
          <a:xfrm>
            <a:off x="8595360" y="3566160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Обоснование через метрики</a:t>
            </a:r>
            <a:endParaRPr lang="en-US" sz="1000" dirty="0"/>
          </a:p>
        </p:txBody>
      </p:sp>
      <p:sp>
        <p:nvSpPr>
          <p:cNvPr id="174" name="Text 62">
            <a:extLst>
              <a:ext uri="{FF2B5EF4-FFF2-40B4-BE49-F238E27FC236}">
                <a16:creationId xmlns:a16="http://schemas.microsoft.com/office/drawing/2014/main" id="{633E87E7-097F-4B5B-AD50-B8AB9901A6C1}"/>
              </a:ext>
            </a:extLst>
          </p:cNvPr>
          <p:cNvSpPr/>
          <p:nvPr/>
        </p:nvSpPr>
        <p:spPr>
          <a:xfrm>
            <a:off x="8275320" y="380390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Решает</a:t>
            </a:r>
            <a:endParaRPr lang="en-US" sz="1050" dirty="0"/>
          </a:p>
        </p:txBody>
      </p:sp>
      <p:sp>
        <p:nvSpPr>
          <p:cNvPr id="175" name="Text 63">
            <a:extLst>
              <a:ext uri="{FF2B5EF4-FFF2-40B4-BE49-F238E27FC236}">
                <a16:creationId xmlns:a16="http://schemas.microsoft.com/office/drawing/2014/main" id="{CA39FA7E-F043-46BF-BB0D-9005158A37D4}"/>
              </a:ext>
            </a:extLst>
          </p:cNvPr>
          <p:cNvSpPr/>
          <p:nvPr/>
        </p:nvSpPr>
        <p:spPr>
          <a:xfrm>
            <a:off x="8275320" y="3986784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 · UX-команда · Аналитики данных</a:t>
            </a:r>
            <a:endParaRPr lang="en-US" sz="1050" dirty="0"/>
          </a:p>
        </p:txBody>
      </p:sp>
      <p:sp>
        <p:nvSpPr>
          <p:cNvPr id="176" name="Text 64">
            <a:extLst>
              <a:ext uri="{FF2B5EF4-FFF2-40B4-BE49-F238E27FC236}">
                <a16:creationId xmlns:a16="http://schemas.microsoft.com/office/drawing/2014/main" id="{64AFF626-D048-4BDE-946C-0BF49D84CF53}"/>
              </a:ext>
            </a:extLst>
          </p:cNvPr>
          <p:cNvSpPr/>
          <p:nvPr/>
        </p:nvSpPr>
        <p:spPr>
          <a:xfrm>
            <a:off x="8275320" y="424281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Блокирует</a:t>
            </a:r>
            <a:endParaRPr lang="en-US" sz="1050" dirty="0"/>
          </a:p>
        </p:txBody>
      </p:sp>
      <p:sp>
        <p:nvSpPr>
          <p:cNvPr id="177" name="Text 65">
            <a:extLst>
              <a:ext uri="{FF2B5EF4-FFF2-40B4-BE49-F238E27FC236}">
                <a16:creationId xmlns:a16="http://schemas.microsoft.com/office/drawing/2014/main" id="{3A495237-C384-4A5D-B203-0356BD041824}"/>
              </a:ext>
            </a:extLst>
          </p:cNvPr>
          <p:cNvSpPr/>
          <p:nvPr/>
        </p:nvSpPr>
        <p:spPr>
          <a:xfrm>
            <a:off x="8275320" y="4425696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/ Юридический · IT (ограничения внедрения)</a:t>
            </a:r>
            <a:endParaRPr lang="en-US" sz="1050" dirty="0"/>
          </a:p>
        </p:txBody>
      </p:sp>
      <p:sp>
        <p:nvSpPr>
          <p:cNvPr id="178" name="Shape 66">
            <a:extLst>
              <a:ext uri="{FF2B5EF4-FFF2-40B4-BE49-F238E27FC236}">
                <a16:creationId xmlns:a16="http://schemas.microsoft.com/office/drawing/2014/main" id="{25FF990B-BE6A-4020-A8F5-D48E42309072}"/>
              </a:ext>
            </a:extLst>
          </p:cNvPr>
          <p:cNvSpPr/>
          <p:nvPr/>
        </p:nvSpPr>
        <p:spPr>
          <a:xfrm>
            <a:off x="259239" y="4574371"/>
            <a:ext cx="36576" cy="195580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179" name="Text 67">
            <a:extLst>
              <a:ext uri="{FF2B5EF4-FFF2-40B4-BE49-F238E27FC236}">
                <a16:creationId xmlns:a16="http://schemas.microsoft.com/office/drawing/2014/main" id="{EDDA016C-F266-45DF-A26B-3F253D6FF682}"/>
              </a:ext>
            </a:extLst>
          </p:cNvPr>
          <p:cNvSpPr/>
          <p:nvPr/>
        </p:nvSpPr>
        <p:spPr>
          <a:xfrm>
            <a:off x="350679" y="4537795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Источники информации</a:t>
            </a:r>
            <a:endParaRPr lang="en-US" sz="1100" dirty="0"/>
          </a:p>
        </p:txBody>
      </p:sp>
      <p:sp>
        <p:nvSpPr>
          <p:cNvPr id="180" name="Shape 68">
            <a:extLst>
              <a:ext uri="{FF2B5EF4-FFF2-40B4-BE49-F238E27FC236}">
                <a16:creationId xmlns:a16="http://schemas.microsoft.com/office/drawing/2014/main" id="{B65605DF-2451-407F-A58C-FFE90143231F}"/>
              </a:ext>
            </a:extLst>
          </p:cNvPr>
          <p:cNvSpPr/>
          <p:nvPr/>
        </p:nvSpPr>
        <p:spPr>
          <a:xfrm>
            <a:off x="237226" y="4930986"/>
            <a:ext cx="11521440" cy="980779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81" name="Text 69">
            <a:extLst>
              <a:ext uri="{FF2B5EF4-FFF2-40B4-BE49-F238E27FC236}">
                <a16:creationId xmlns:a16="http://schemas.microsoft.com/office/drawing/2014/main" id="{0F57B03D-182F-45D5-820C-C9AB325341BA}"/>
              </a:ext>
            </a:extLst>
          </p:cNvPr>
          <p:cNvSpPr/>
          <p:nvPr/>
        </p:nvSpPr>
        <p:spPr>
          <a:xfrm>
            <a:off x="356616" y="5104723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Первичные</a:t>
            </a:r>
            <a:endParaRPr lang="en-US" sz="1050" dirty="0"/>
          </a:p>
        </p:txBody>
      </p:sp>
      <p:sp>
        <p:nvSpPr>
          <p:cNvPr id="182" name="Text 70">
            <a:extLst>
              <a:ext uri="{FF2B5EF4-FFF2-40B4-BE49-F238E27FC236}">
                <a16:creationId xmlns:a16="http://schemas.microsoft.com/office/drawing/2014/main" id="{3EE02005-816B-441B-AED7-759E37E53DEA}"/>
              </a:ext>
            </a:extLst>
          </p:cNvPr>
          <p:cNvSpPr/>
          <p:nvPr/>
        </p:nvSpPr>
        <p:spPr>
          <a:xfrm>
            <a:off x="356616" y="5315035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глубинных интервью с пользователями · Наблюдение за навигацией в приложении ОТП</a:t>
            </a:r>
            <a:endParaRPr lang="en-US" sz="1050" dirty="0"/>
          </a:p>
        </p:txBody>
      </p:sp>
      <p:sp>
        <p:nvSpPr>
          <p:cNvPr id="183" name="Text 71">
            <a:extLst>
              <a:ext uri="{FF2B5EF4-FFF2-40B4-BE49-F238E27FC236}">
                <a16:creationId xmlns:a16="http://schemas.microsoft.com/office/drawing/2014/main" id="{708DAFE3-9E27-4BD9-84EF-3582E96F60AC}"/>
              </a:ext>
            </a:extLst>
          </p:cNvPr>
          <p:cNvSpPr/>
          <p:nvPr/>
        </p:nvSpPr>
        <p:spPr>
          <a:xfrm>
            <a:off x="4288536" y="5104723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Вторичные</a:t>
            </a:r>
            <a:endParaRPr lang="en-US" sz="1050" dirty="0"/>
          </a:p>
        </p:txBody>
      </p:sp>
      <p:sp>
        <p:nvSpPr>
          <p:cNvPr id="184" name="Text 72">
            <a:extLst>
              <a:ext uri="{FF2B5EF4-FFF2-40B4-BE49-F238E27FC236}">
                <a16:creationId xmlns:a16="http://schemas.microsoft.com/office/drawing/2014/main" id="{7E34C7B2-D3DC-4BF5-A48C-280353B10A5E}"/>
              </a:ext>
            </a:extLst>
          </p:cNvPr>
          <p:cNvSpPr/>
          <p:nvPr/>
        </p:nvSpPr>
        <p:spPr>
          <a:xfrm>
            <a:off x="4288536" y="5315035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UX-исследования (Markswebb, Usability.ru) · Отчёты ЦБ РФ о цифровизации · Отзывы в App Store / Google Play</a:t>
            </a:r>
            <a:endParaRPr lang="en-US" sz="1050" dirty="0"/>
          </a:p>
        </p:txBody>
      </p:sp>
      <p:sp>
        <p:nvSpPr>
          <p:cNvPr id="185" name="Text 73">
            <a:extLst>
              <a:ext uri="{FF2B5EF4-FFF2-40B4-BE49-F238E27FC236}">
                <a16:creationId xmlns:a16="http://schemas.microsoft.com/office/drawing/2014/main" id="{E3461942-6581-4B07-A806-4B8065721C9B}"/>
              </a:ext>
            </a:extLst>
          </p:cNvPr>
          <p:cNvSpPr/>
          <p:nvPr/>
        </p:nvSpPr>
        <p:spPr>
          <a:xfrm>
            <a:off x="8220456" y="5104723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Конкуренты</a:t>
            </a:r>
            <a:endParaRPr lang="en-US" sz="1050" dirty="0"/>
          </a:p>
        </p:txBody>
      </p:sp>
      <p:sp>
        <p:nvSpPr>
          <p:cNvPr id="186" name="Text 74">
            <a:extLst>
              <a:ext uri="{FF2B5EF4-FFF2-40B4-BE49-F238E27FC236}">
                <a16:creationId xmlns:a16="http://schemas.microsoft.com/office/drawing/2014/main" id="{405CD4D1-EC76-4733-8CBD-74582CE06A1B}"/>
              </a:ext>
            </a:extLst>
          </p:cNvPr>
          <p:cNvSpPr/>
          <p:nvPr/>
        </p:nvSpPr>
        <p:spPr>
          <a:xfrm>
            <a:off x="8220456" y="5315035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Сбербанк · Альфа-Банк · Россельхозбанк · Международные кейсы: Revolut, N26, Monzo</a:t>
            </a:r>
            <a:endParaRPr lang="en-US" sz="1050" dirty="0"/>
          </a:p>
        </p:txBody>
      </p:sp>
      <p:cxnSp>
        <p:nvCxnSpPr>
          <p:cNvPr id="187" name="Прямая соединительная линия 186">
            <a:extLst>
              <a:ext uri="{FF2B5EF4-FFF2-40B4-BE49-F238E27FC236}">
                <a16:creationId xmlns:a16="http://schemas.microsoft.com/office/drawing/2014/main" id="{55828838-C20C-4779-824E-1234364B9BD1}"/>
              </a:ext>
            </a:extLst>
          </p:cNvPr>
          <p:cNvCxnSpPr/>
          <p:nvPr/>
        </p:nvCxnSpPr>
        <p:spPr>
          <a:xfrm>
            <a:off x="4151240" y="5031063"/>
            <a:ext cx="0" cy="722884"/>
          </a:xfrm>
          <a:prstGeom prst="line">
            <a:avLst/>
          </a:prstGeom>
          <a:ln>
            <a:solidFill>
              <a:srgbClr val="C8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Прямая соединительная линия 187">
            <a:extLst>
              <a:ext uri="{FF2B5EF4-FFF2-40B4-BE49-F238E27FC236}">
                <a16:creationId xmlns:a16="http://schemas.microsoft.com/office/drawing/2014/main" id="{08FBFD1B-6F3C-4C69-8141-2D29C2F3E37B}"/>
              </a:ext>
            </a:extLst>
          </p:cNvPr>
          <p:cNvCxnSpPr/>
          <p:nvPr/>
        </p:nvCxnSpPr>
        <p:spPr>
          <a:xfrm>
            <a:off x="8118720" y="5031063"/>
            <a:ext cx="0" cy="722884"/>
          </a:xfrm>
          <a:prstGeom prst="line">
            <a:avLst/>
          </a:prstGeom>
          <a:ln>
            <a:solidFill>
              <a:srgbClr val="A468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9" name="Группа 188">
            <a:extLst>
              <a:ext uri="{FF2B5EF4-FFF2-40B4-BE49-F238E27FC236}">
                <a16:creationId xmlns:a16="http://schemas.microsoft.com/office/drawing/2014/main" id="{B324478A-9819-4AD4-9217-1CB8220E2999}"/>
              </a:ext>
            </a:extLst>
          </p:cNvPr>
          <p:cNvGrpSpPr/>
          <p:nvPr/>
        </p:nvGrpSpPr>
        <p:grpSpPr>
          <a:xfrm>
            <a:off x="164592" y="74549"/>
            <a:ext cx="1972216" cy="545846"/>
            <a:chOff x="402336" y="115760"/>
            <a:chExt cx="2238374" cy="568833"/>
          </a:xfrm>
        </p:grpSpPr>
        <p:sp>
          <p:nvSpPr>
            <p:cNvPr id="190" name="Прямоугольник 189">
              <a:extLst>
                <a:ext uri="{FF2B5EF4-FFF2-40B4-BE49-F238E27FC236}">
                  <a16:creationId xmlns:a16="http://schemas.microsoft.com/office/drawing/2014/main" id="{378C5B32-D915-48F9-B8A6-5CF9DE50A781}"/>
                </a:ext>
              </a:extLst>
            </p:cNvPr>
            <p:cNvSpPr/>
            <p:nvPr/>
          </p:nvSpPr>
          <p:spPr>
            <a:xfrm>
              <a:off x="402336" y="115760"/>
              <a:ext cx="2238374" cy="568833"/>
            </a:xfrm>
            <a:prstGeom prst="rect">
              <a:avLst/>
            </a:prstGeom>
            <a:solidFill>
              <a:srgbClr val="C8FF00"/>
            </a:solidFill>
            <a:ln>
              <a:noFill/>
            </a:ln>
            <a:effectLst>
              <a:softEdge rad="1651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91" name="Рисунок 190">
              <a:extLst>
                <a:ext uri="{FF2B5EF4-FFF2-40B4-BE49-F238E27FC236}">
                  <a16:creationId xmlns:a16="http://schemas.microsoft.com/office/drawing/2014/main" id="{F3725466-38AF-4F60-B7E8-BC5FC1CCDBE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35628" y="256365"/>
              <a:ext cx="1271588" cy="2551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465735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24128"/>
          </a:xfrm>
          <a:prstGeom prst="rect">
            <a:avLst/>
          </a:prstGeom>
          <a:solidFill>
            <a:srgbClr val="17171C"/>
          </a:solidFill>
          <a:ln w="12700">
            <a:solidFill>
              <a:srgbClr val="1717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40773" y="323415"/>
            <a:ext cx="6555053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ru-RU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ПРИЛОЖЕНИЕ 1:</a:t>
            </a:r>
            <a:endParaRPr lang="en-US" sz="1300" dirty="0"/>
          </a:p>
        </p:txBody>
      </p:sp>
      <p:sp>
        <p:nvSpPr>
          <p:cNvPr id="97" name="Shape 95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111118"/>
          </a:solidFill>
          <a:ln w="12700">
            <a:solidFill>
              <a:srgbClr val="111118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 flipV="1">
            <a:off x="10266929" y="6515100"/>
            <a:ext cx="1471507" cy="45719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11521440" y="657453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ru-RU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800" dirty="0"/>
          </a:p>
        </p:txBody>
      </p:sp>
      <p:grpSp>
        <p:nvGrpSpPr>
          <p:cNvPr id="108" name="Группа 107">
            <a:extLst>
              <a:ext uri="{FF2B5EF4-FFF2-40B4-BE49-F238E27FC236}">
                <a16:creationId xmlns:a16="http://schemas.microsoft.com/office/drawing/2014/main" id="{B7797176-3532-4BC2-A45A-7B1206F1B9C0}"/>
              </a:ext>
            </a:extLst>
          </p:cNvPr>
          <p:cNvGrpSpPr/>
          <p:nvPr/>
        </p:nvGrpSpPr>
        <p:grpSpPr>
          <a:xfrm>
            <a:off x="164592" y="66083"/>
            <a:ext cx="1972216" cy="545846"/>
            <a:chOff x="402336" y="115760"/>
            <a:chExt cx="2238374" cy="568833"/>
          </a:xfrm>
        </p:grpSpPr>
        <p:sp>
          <p:nvSpPr>
            <p:cNvPr id="109" name="Прямоугольник 108">
              <a:extLst>
                <a:ext uri="{FF2B5EF4-FFF2-40B4-BE49-F238E27FC236}">
                  <a16:creationId xmlns:a16="http://schemas.microsoft.com/office/drawing/2014/main" id="{6FB7663A-72BC-4BD7-B2A3-FAA62FB9DDFA}"/>
                </a:ext>
              </a:extLst>
            </p:cNvPr>
            <p:cNvSpPr/>
            <p:nvPr/>
          </p:nvSpPr>
          <p:spPr>
            <a:xfrm>
              <a:off x="402336" y="115760"/>
              <a:ext cx="2238374" cy="568833"/>
            </a:xfrm>
            <a:prstGeom prst="rect">
              <a:avLst/>
            </a:prstGeom>
            <a:solidFill>
              <a:srgbClr val="C8FF00"/>
            </a:solidFill>
            <a:ln>
              <a:noFill/>
            </a:ln>
            <a:effectLst>
              <a:softEdge rad="1651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10" name="Рисунок 109">
              <a:extLst>
                <a:ext uri="{FF2B5EF4-FFF2-40B4-BE49-F238E27FC236}">
                  <a16:creationId xmlns:a16="http://schemas.microsoft.com/office/drawing/2014/main" id="{391D4447-4A62-42F7-8786-BCC9B20C55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35628" y="256365"/>
              <a:ext cx="1271588" cy="255128"/>
            </a:xfrm>
            <a:prstGeom prst="rect">
              <a:avLst/>
            </a:prstGeom>
          </p:spPr>
        </p:pic>
      </p:grpSp>
      <p:sp>
        <p:nvSpPr>
          <p:cNvPr id="112" name="Shape 0">
            <a:extLst>
              <a:ext uri="{FF2B5EF4-FFF2-40B4-BE49-F238E27FC236}">
                <a16:creationId xmlns:a16="http://schemas.microsoft.com/office/drawing/2014/main" id="{1FAB15A3-F4FD-4486-AFBE-DD7D91549457}"/>
              </a:ext>
            </a:extLst>
          </p:cNvPr>
          <p:cNvSpPr/>
          <p:nvPr/>
        </p:nvSpPr>
        <p:spPr>
          <a:xfrm>
            <a:off x="0" y="0"/>
            <a:ext cx="12161520" cy="1024128"/>
          </a:xfrm>
          <a:prstGeom prst="rect">
            <a:avLst/>
          </a:prstGeom>
          <a:solidFill>
            <a:srgbClr val="17171C"/>
          </a:solidFill>
          <a:ln w="12700">
            <a:solidFill>
              <a:srgbClr val="17171C"/>
            </a:solidFill>
            <a:prstDash val="solid"/>
          </a:ln>
        </p:spPr>
      </p:sp>
      <p:sp>
        <p:nvSpPr>
          <p:cNvPr id="115" name="Shape 3">
            <a:extLst>
              <a:ext uri="{FF2B5EF4-FFF2-40B4-BE49-F238E27FC236}">
                <a16:creationId xmlns:a16="http://schemas.microsoft.com/office/drawing/2014/main" id="{9CFDA7C0-BE97-46A5-941C-02A8098DF759}"/>
              </a:ext>
            </a:extLst>
          </p:cNvPr>
          <p:cNvSpPr/>
          <p:nvPr/>
        </p:nvSpPr>
        <p:spPr>
          <a:xfrm>
            <a:off x="2220277" y="132597"/>
            <a:ext cx="2011680" cy="397925"/>
          </a:xfrm>
          <a:prstGeom prst="rect">
            <a:avLst/>
          </a:prstGeom>
          <a:solidFill>
            <a:srgbClr val="1A20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116" name="Text 4">
            <a:extLst>
              <a:ext uri="{FF2B5EF4-FFF2-40B4-BE49-F238E27FC236}">
                <a16:creationId xmlns:a16="http://schemas.microsoft.com/office/drawing/2014/main" id="{51E82DDB-5EB7-4CAD-9E6F-D3E5FAB15ECC}"/>
              </a:ext>
            </a:extLst>
          </p:cNvPr>
          <p:cNvSpPr/>
          <p:nvPr/>
        </p:nvSpPr>
        <p:spPr>
          <a:xfrm>
            <a:off x="2220277" y="132597"/>
            <a:ext cx="2011680" cy="4311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ПРИЛОЖЕНИЕ П</a:t>
            </a:r>
            <a:r>
              <a:rPr lang="ru-RU" sz="11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8" name="Shape 6">
            <a:extLst>
              <a:ext uri="{FF2B5EF4-FFF2-40B4-BE49-F238E27FC236}">
                <a16:creationId xmlns:a16="http://schemas.microsoft.com/office/drawing/2014/main" id="{92039881-CEEA-44B8-B1E2-4B3E4C7A8C9B}"/>
              </a:ext>
            </a:extLst>
          </p:cNvPr>
          <p:cNvSpPr/>
          <p:nvPr/>
        </p:nvSpPr>
        <p:spPr>
          <a:xfrm>
            <a:off x="15240" y="6565392"/>
            <a:ext cx="12161520" cy="292608"/>
          </a:xfrm>
          <a:prstGeom prst="rect">
            <a:avLst/>
          </a:prstGeom>
          <a:solidFill>
            <a:srgbClr val="111118"/>
          </a:solidFill>
          <a:ln w="12700">
            <a:solidFill>
              <a:srgbClr val="111118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119" name="Text 7">
            <a:extLst>
              <a:ext uri="{FF2B5EF4-FFF2-40B4-BE49-F238E27FC236}">
                <a16:creationId xmlns:a16="http://schemas.microsoft.com/office/drawing/2014/main" id="{DA81B387-1CC2-42C1-9BBC-FF9ADD9117B7}"/>
              </a:ext>
            </a:extLst>
          </p:cNvPr>
          <p:cNvSpPr/>
          <p:nvPr/>
        </p:nvSpPr>
        <p:spPr>
          <a:xfrm>
            <a:off x="274320" y="6574536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ПРИЛОЖЕНИЯ К КЕЙСУ ОТП БАНК — CHANGELLENGE CUP IT 2026</a:t>
            </a:r>
            <a:endParaRPr lang="en-US" sz="800" dirty="0"/>
          </a:p>
        </p:txBody>
      </p:sp>
      <p:sp>
        <p:nvSpPr>
          <p:cNvPr id="120" name="Text 8">
            <a:extLst>
              <a:ext uri="{FF2B5EF4-FFF2-40B4-BE49-F238E27FC236}">
                <a16:creationId xmlns:a16="http://schemas.microsoft.com/office/drawing/2014/main" id="{9E20F20A-BE0C-4091-8E9E-7AF9D4F3C344}"/>
              </a:ext>
            </a:extLst>
          </p:cNvPr>
          <p:cNvSpPr/>
          <p:nvPr/>
        </p:nvSpPr>
        <p:spPr>
          <a:xfrm>
            <a:off x="8686800" y="657453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Приложение П2</a:t>
            </a:r>
            <a:endParaRPr lang="en-US" sz="800" dirty="0"/>
          </a:p>
        </p:txBody>
      </p:sp>
      <p:sp>
        <p:nvSpPr>
          <p:cNvPr id="121" name="Text 9">
            <a:extLst>
              <a:ext uri="{FF2B5EF4-FFF2-40B4-BE49-F238E27FC236}">
                <a16:creationId xmlns:a16="http://schemas.microsoft.com/office/drawing/2014/main" id="{95C52288-9426-4BD2-BCCB-4A5DB0A5A119}"/>
              </a:ext>
            </a:extLst>
          </p:cNvPr>
          <p:cNvSpPr/>
          <p:nvPr/>
        </p:nvSpPr>
        <p:spPr>
          <a:xfrm>
            <a:off x="11521440" y="657453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grpSp>
        <p:nvGrpSpPr>
          <p:cNvPr id="189" name="Группа 188">
            <a:extLst>
              <a:ext uri="{FF2B5EF4-FFF2-40B4-BE49-F238E27FC236}">
                <a16:creationId xmlns:a16="http://schemas.microsoft.com/office/drawing/2014/main" id="{B324478A-9819-4AD4-9217-1CB8220E2999}"/>
              </a:ext>
            </a:extLst>
          </p:cNvPr>
          <p:cNvGrpSpPr/>
          <p:nvPr/>
        </p:nvGrpSpPr>
        <p:grpSpPr>
          <a:xfrm>
            <a:off x="164592" y="74549"/>
            <a:ext cx="1972216" cy="545846"/>
            <a:chOff x="402336" y="115760"/>
            <a:chExt cx="2238374" cy="568833"/>
          </a:xfrm>
        </p:grpSpPr>
        <p:sp>
          <p:nvSpPr>
            <p:cNvPr id="190" name="Прямоугольник 189">
              <a:extLst>
                <a:ext uri="{FF2B5EF4-FFF2-40B4-BE49-F238E27FC236}">
                  <a16:creationId xmlns:a16="http://schemas.microsoft.com/office/drawing/2014/main" id="{378C5B32-D915-48F9-B8A6-5CF9DE50A781}"/>
                </a:ext>
              </a:extLst>
            </p:cNvPr>
            <p:cNvSpPr/>
            <p:nvPr/>
          </p:nvSpPr>
          <p:spPr>
            <a:xfrm>
              <a:off x="402336" y="115760"/>
              <a:ext cx="2238374" cy="568833"/>
            </a:xfrm>
            <a:prstGeom prst="rect">
              <a:avLst/>
            </a:prstGeom>
            <a:solidFill>
              <a:srgbClr val="C8FF00"/>
            </a:solidFill>
            <a:ln>
              <a:noFill/>
            </a:ln>
            <a:effectLst>
              <a:softEdge rad="1651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91" name="Рисунок 190">
              <a:extLst>
                <a:ext uri="{FF2B5EF4-FFF2-40B4-BE49-F238E27FC236}">
                  <a16:creationId xmlns:a16="http://schemas.microsoft.com/office/drawing/2014/main" id="{F3725466-38AF-4F60-B7E8-BC5FC1CCDBE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35628" y="256365"/>
              <a:ext cx="1271588" cy="255128"/>
            </a:xfrm>
            <a:prstGeom prst="rect">
              <a:avLst/>
            </a:prstGeom>
          </p:spPr>
        </p:pic>
      </p:grpSp>
      <p:sp>
        <p:nvSpPr>
          <p:cNvPr id="93" name="Text 5">
            <a:extLst>
              <a:ext uri="{FF2B5EF4-FFF2-40B4-BE49-F238E27FC236}">
                <a16:creationId xmlns:a16="http://schemas.microsoft.com/office/drawing/2014/main" id="{3B7E0FE7-020D-4AE6-A00B-3028F058303D}"/>
              </a:ext>
            </a:extLst>
          </p:cNvPr>
          <p:cNvSpPr/>
          <p:nvPr/>
        </p:nvSpPr>
        <p:spPr>
          <a:xfrm>
            <a:off x="7477581" y="329184"/>
            <a:ext cx="4412827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Гайд глубинных интервью и ключевые инсайты — 5 блоков вопросов, 6 выводов для витрины</a:t>
            </a:r>
            <a:endParaRPr lang="en-US" sz="1500" dirty="0"/>
          </a:p>
        </p:txBody>
      </p:sp>
      <p:sp>
        <p:nvSpPr>
          <p:cNvPr id="99" name="Text 9">
            <a:extLst>
              <a:ext uri="{FF2B5EF4-FFF2-40B4-BE49-F238E27FC236}">
                <a16:creationId xmlns:a16="http://schemas.microsoft.com/office/drawing/2014/main" id="{71FB4428-56AD-4A04-9BBC-893351149698}"/>
              </a:ext>
            </a:extLst>
          </p:cNvPr>
          <p:cNvSpPr/>
          <p:nvPr/>
        </p:nvSpPr>
        <p:spPr>
          <a:xfrm>
            <a:off x="11521440" y="657453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800" dirty="0"/>
          </a:p>
        </p:txBody>
      </p:sp>
      <p:sp>
        <p:nvSpPr>
          <p:cNvPr id="100" name="Shape 10">
            <a:extLst>
              <a:ext uri="{FF2B5EF4-FFF2-40B4-BE49-F238E27FC236}">
                <a16:creationId xmlns:a16="http://schemas.microsoft.com/office/drawing/2014/main" id="{605AD244-F7BE-4793-973B-05CBB4D34317}"/>
              </a:ext>
            </a:extLst>
          </p:cNvPr>
          <p:cNvSpPr/>
          <p:nvPr/>
        </p:nvSpPr>
        <p:spPr>
          <a:xfrm>
            <a:off x="320040" y="1170432"/>
            <a:ext cx="36576" cy="195580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101" name="Text 11">
            <a:extLst>
              <a:ext uri="{FF2B5EF4-FFF2-40B4-BE49-F238E27FC236}">
                <a16:creationId xmlns:a16="http://schemas.microsoft.com/office/drawing/2014/main" id="{DBDA1F7C-BB39-4236-A67B-D92C42DCEB6D}"/>
              </a:ext>
            </a:extLst>
          </p:cNvPr>
          <p:cNvSpPr/>
          <p:nvPr/>
        </p:nvSpPr>
        <p:spPr>
          <a:xfrm>
            <a:off x="411480" y="113385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гайда (30–40 мин, </a:t>
            </a:r>
            <a:r>
              <a:rPr lang="ru-RU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респондент</a:t>
            </a:r>
            <a:r>
              <a:rPr lang="ru-RU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100" dirty="0"/>
          </a:p>
        </p:txBody>
      </p:sp>
      <p:sp>
        <p:nvSpPr>
          <p:cNvPr id="102" name="Shape 12">
            <a:extLst>
              <a:ext uri="{FF2B5EF4-FFF2-40B4-BE49-F238E27FC236}">
                <a16:creationId xmlns:a16="http://schemas.microsoft.com/office/drawing/2014/main" id="{DBE3BF04-BA4C-405B-A9D2-BF8DCEAC5624}"/>
              </a:ext>
            </a:extLst>
          </p:cNvPr>
          <p:cNvSpPr/>
          <p:nvPr/>
        </p:nvSpPr>
        <p:spPr>
          <a:xfrm>
            <a:off x="320040" y="1444752"/>
            <a:ext cx="5577840" cy="822960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03" name="Shape 13">
            <a:extLst>
              <a:ext uri="{FF2B5EF4-FFF2-40B4-BE49-F238E27FC236}">
                <a16:creationId xmlns:a16="http://schemas.microsoft.com/office/drawing/2014/main" id="{E84E8DD7-00E8-493B-8881-A84DA2B1F694}"/>
              </a:ext>
            </a:extLst>
          </p:cNvPr>
          <p:cNvSpPr/>
          <p:nvPr/>
        </p:nvSpPr>
        <p:spPr>
          <a:xfrm>
            <a:off x="320040" y="1444752"/>
            <a:ext cx="347472" cy="822960"/>
          </a:xfrm>
          <a:prstGeom prst="rect">
            <a:avLst/>
          </a:prstGeom>
          <a:solidFill>
            <a:srgbClr val="23232C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04" name="Text 14">
            <a:extLst>
              <a:ext uri="{FF2B5EF4-FFF2-40B4-BE49-F238E27FC236}">
                <a16:creationId xmlns:a16="http://schemas.microsoft.com/office/drawing/2014/main" id="{1E24FF9B-1851-42FD-AF70-439420C0AC38}"/>
              </a:ext>
            </a:extLst>
          </p:cNvPr>
          <p:cNvSpPr/>
          <p:nvPr/>
        </p:nvSpPr>
        <p:spPr>
          <a:xfrm>
            <a:off x="320040" y="1444752"/>
            <a:ext cx="3474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106" name="Text 15">
            <a:extLst>
              <a:ext uri="{FF2B5EF4-FFF2-40B4-BE49-F238E27FC236}">
                <a16:creationId xmlns:a16="http://schemas.microsoft.com/office/drawing/2014/main" id="{C72D731C-3924-43C3-9752-01AA4256365C}"/>
              </a:ext>
            </a:extLst>
          </p:cNvPr>
          <p:cNvSpPr/>
          <p:nvPr/>
        </p:nvSpPr>
        <p:spPr>
          <a:xfrm>
            <a:off x="749808" y="1481328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Вступление (2–3 мин)</a:t>
            </a:r>
            <a:endParaRPr lang="en-US" sz="1100" dirty="0"/>
          </a:p>
        </p:txBody>
      </p:sp>
      <p:sp>
        <p:nvSpPr>
          <p:cNvPr id="111" name="Text 16">
            <a:extLst>
              <a:ext uri="{FF2B5EF4-FFF2-40B4-BE49-F238E27FC236}">
                <a16:creationId xmlns:a16="http://schemas.microsoft.com/office/drawing/2014/main" id="{6EE6A1E1-87EA-41C8-A30E-FCB5F2D79D03}"/>
              </a:ext>
            </a:extLst>
          </p:cNvPr>
          <p:cNvSpPr/>
          <p:nvPr/>
        </p:nvSpPr>
        <p:spPr>
          <a:xfrm>
            <a:off x="749808" y="17373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Представление, цель исследования, получение согласия на запись. Уточнить: возраст, банковские приложения.</a:t>
            </a:r>
            <a:endParaRPr lang="en-US" sz="1050" dirty="0"/>
          </a:p>
        </p:txBody>
      </p:sp>
      <p:sp>
        <p:nvSpPr>
          <p:cNvPr id="113" name="Shape 17">
            <a:extLst>
              <a:ext uri="{FF2B5EF4-FFF2-40B4-BE49-F238E27FC236}">
                <a16:creationId xmlns:a16="http://schemas.microsoft.com/office/drawing/2014/main" id="{151F2A66-E762-4172-8E97-3013C43AAB71}"/>
              </a:ext>
            </a:extLst>
          </p:cNvPr>
          <p:cNvSpPr/>
          <p:nvPr/>
        </p:nvSpPr>
        <p:spPr>
          <a:xfrm>
            <a:off x="320040" y="2340864"/>
            <a:ext cx="5577840" cy="822960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14" name="Shape 18">
            <a:extLst>
              <a:ext uri="{FF2B5EF4-FFF2-40B4-BE49-F238E27FC236}">
                <a16:creationId xmlns:a16="http://schemas.microsoft.com/office/drawing/2014/main" id="{F5533143-0771-41E5-9F52-E9170D136207}"/>
              </a:ext>
            </a:extLst>
          </p:cNvPr>
          <p:cNvSpPr/>
          <p:nvPr/>
        </p:nvSpPr>
        <p:spPr>
          <a:xfrm>
            <a:off x="320040" y="2340864"/>
            <a:ext cx="347472" cy="822960"/>
          </a:xfrm>
          <a:prstGeom prst="rect">
            <a:avLst/>
          </a:prstGeom>
          <a:solidFill>
            <a:srgbClr val="23232C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92" name="Text 19">
            <a:extLst>
              <a:ext uri="{FF2B5EF4-FFF2-40B4-BE49-F238E27FC236}">
                <a16:creationId xmlns:a16="http://schemas.microsoft.com/office/drawing/2014/main" id="{57945847-377D-43D4-9FC2-D04AB5B0699D}"/>
              </a:ext>
            </a:extLst>
          </p:cNvPr>
          <p:cNvSpPr/>
          <p:nvPr/>
        </p:nvSpPr>
        <p:spPr>
          <a:xfrm>
            <a:off x="320040" y="2340864"/>
            <a:ext cx="3474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93" name="Text 20">
            <a:extLst>
              <a:ext uri="{FF2B5EF4-FFF2-40B4-BE49-F238E27FC236}">
                <a16:creationId xmlns:a16="http://schemas.microsoft.com/office/drawing/2014/main" id="{7EF31B1B-C44C-4AFC-9B16-755E069CF9A5}"/>
              </a:ext>
            </a:extLst>
          </p:cNvPr>
          <p:cNvSpPr/>
          <p:nvPr/>
        </p:nvSpPr>
        <p:spPr>
          <a:xfrm>
            <a:off x="749808" y="2377440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Текущие паттерны (7–8 мин)</a:t>
            </a:r>
            <a:endParaRPr lang="en-US" sz="1100" dirty="0"/>
          </a:p>
        </p:txBody>
      </p:sp>
      <p:sp>
        <p:nvSpPr>
          <p:cNvPr id="194" name="Text 21">
            <a:extLst>
              <a:ext uri="{FF2B5EF4-FFF2-40B4-BE49-F238E27FC236}">
                <a16:creationId xmlns:a16="http://schemas.microsoft.com/office/drawing/2014/main" id="{02419DBE-C565-45AA-88C8-BF370A666DD7}"/>
              </a:ext>
            </a:extLst>
          </p:cNvPr>
          <p:cNvSpPr/>
          <p:nvPr/>
        </p:nvSpPr>
        <p:spPr>
          <a:xfrm>
            <a:off x="749808" y="2633472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часто открывает? </a:t>
            </a:r>
            <a:r>
              <a:rPr lang="en-US" sz="105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Последний</a:t>
            </a: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</a:t>
            </a: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что делал? Что не использует и почему? Как находит разделы?</a:t>
            </a:r>
            <a:endParaRPr lang="en-US" sz="1050" dirty="0"/>
          </a:p>
        </p:txBody>
      </p:sp>
      <p:sp>
        <p:nvSpPr>
          <p:cNvPr id="195" name="Shape 22">
            <a:extLst>
              <a:ext uri="{FF2B5EF4-FFF2-40B4-BE49-F238E27FC236}">
                <a16:creationId xmlns:a16="http://schemas.microsoft.com/office/drawing/2014/main" id="{A297191C-6E0F-4032-B2D7-0FAC371229BE}"/>
              </a:ext>
            </a:extLst>
          </p:cNvPr>
          <p:cNvSpPr/>
          <p:nvPr/>
        </p:nvSpPr>
        <p:spPr>
          <a:xfrm>
            <a:off x="320040" y="3236976"/>
            <a:ext cx="5577840" cy="822960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96" name="Shape 23">
            <a:extLst>
              <a:ext uri="{FF2B5EF4-FFF2-40B4-BE49-F238E27FC236}">
                <a16:creationId xmlns:a16="http://schemas.microsoft.com/office/drawing/2014/main" id="{157189C1-44BB-4B00-A0ED-E68673D34257}"/>
              </a:ext>
            </a:extLst>
          </p:cNvPr>
          <p:cNvSpPr/>
          <p:nvPr/>
        </p:nvSpPr>
        <p:spPr>
          <a:xfrm>
            <a:off x="320040" y="3236976"/>
            <a:ext cx="347472" cy="822960"/>
          </a:xfrm>
          <a:prstGeom prst="rect">
            <a:avLst/>
          </a:prstGeom>
          <a:solidFill>
            <a:srgbClr val="23232C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97" name="Text 24">
            <a:extLst>
              <a:ext uri="{FF2B5EF4-FFF2-40B4-BE49-F238E27FC236}">
                <a16:creationId xmlns:a16="http://schemas.microsoft.com/office/drawing/2014/main" id="{2ED3765C-6F45-462C-9E80-13CEFFF46D81}"/>
              </a:ext>
            </a:extLst>
          </p:cNvPr>
          <p:cNvSpPr/>
          <p:nvPr/>
        </p:nvSpPr>
        <p:spPr>
          <a:xfrm>
            <a:off x="320040" y="3236976"/>
            <a:ext cx="3474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98" name="Text 25">
            <a:extLst>
              <a:ext uri="{FF2B5EF4-FFF2-40B4-BE49-F238E27FC236}">
                <a16:creationId xmlns:a16="http://schemas.microsoft.com/office/drawing/2014/main" id="{3D69B35A-F705-4883-999C-4670D964335B}"/>
              </a:ext>
            </a:extLst>
          </p:cNvPr>
          <p:cNvSpPr/>
          <p:nvPr/>
        </p:nvSpPr>
        <p:spPr>
          <a:xfrm>
            <a:off x="749808" y="3273552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Боли навигации (8–10 мин)</a:t>
            </a:r>
            <a:endParaRPr lang="en-US" sz="1100" dirty="0"/>
          </a:p>
        </p:txBody>
      </p:sp>
      <p:sp>
        <p:nvSpPr>
          <p:cNvPr id="199" name="Text 26">
            <a:extLst>
              <a:ext uri="{FF2B5EF4-FFF2-40B4-BE49-F238E27FC236}">
                <a16:creationId xmlns:a16="http://schemas.microsoft.com/office/drawing/2014/main" id="{6B1A2F3D-05F8-4574-BFA1-D5037B210734}"/>
              </a:ext>
            </a:extLst>
          </p:cNvPr>
          <p:cNvSpPr/>
          <p:nvPr/>
        </p:nvSpPr>
        <p:spPr>
          <a:xfrm>
            <a:off x="749808" y="3529584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мог найти функцию? Что раздражает? Случайно нашёл что-то полезное? Оцени главный экран.</a:t>
            </a:r>
            <a:endParaRPr lang="en-US" sz="1050" dirty="0"/>
          </a:p>
        </p:txBody>
      </p:sp>
      <p:sp>
        <p:nvSpPr>
          <p:cNvPr id="200" name="Shape 27">
            <a:extLst>
              <a:ext uri="{FF2B5EF4-FFF2-40B4-BE49-F238E27FC236}">
                <a16:creationId xmlns:a16="http://schemas.microsoft.com/office/drawing/2014/main" id="{8F9AF730-B503-4B30-909F-7695A2BA8E98}"/>
              </a:ext>
            </a:extLst>
          </p:cNvPr>
          <p:cNvSpPr/>
          <p:nvPr/>
        </p:nvSpPr>
        <p:spPr>
          <a:xfrm>
            <a:off x="320040" y="4133088"/>
            <a:ext cx="5577840" cy="822960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01" name="Shape 28">
            <a:extLst>
              <a:ext uri="{FF2B5EF4-FFF2-40B4-BE49-F238E27FC236}">
                <a16:creationId xmlns:a16="http://schemas.microsoft.com/office/drawing/2014/main" id="{4F1D0B9C-48A8-4DF5-994A-1EB134B5CA58}"/>
              </a:ext>
            </a:extLst>
          </p:cNvPr>
          <p:cNvSpPr/>
          <p:nvPr/>
        </p:nvSpPr>
        <p:spPr>
          <a:xfrm>
            <a:off x="320040" y="4133088"/>
            <a:ext cx="347472" cy="822960"/>
          </a:xfrm>
          <a:prstGeom prst="rect">
            <a:avLst/>
          </a:prstGeom>
          <a:solidFill>
            <a:srgbClr val="23232C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02" name="Text 29">
            <a:extLst>
              <a:ext uri="{FF2B5EF4-FFF2-40B4-BE49-F238E27FC236}">
                <a16:creationId xmlns:a16="http://schemas.microsoft.com/office/drawing/2014/main" id="{AB2581E9-0170-4BA5-AA52-EBFAC0C8C5D3}"/>
              </a:ext>
            </a:extLst>
          </p:cNvPr>
          <p:cNvSpPr/>
          <p:nvPr/>
        </p:nvSpPr>
        <p:spPr>
          <a:xfrm>
            <a:off x="320040" y="4133088"/>
            <a:ext cx="3474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3" name="Text 30">
            <a:extLst>
              <a:ext uri="{FF2B5EF4-FFF2-40B4-BE49-F238E27FC236}">
                <a16:creationId xmlns:a16="http://schemas.microsoft.com/office/drawing/2014/main" id="{5D0584FB-CBA1-49AC-91D5-73BC9D65AC68}"/>
              </a:ext>
            </a:extLst>
          </p:cNvPr>
          <p:cNvSpPr/>
          <p:nvPr/>
        </p:nvSpPr>
        <p:spPr>
          <a:xfrm>
            <a:off x="749808" y="4169664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Жизненные ситуации (8–10 мин)</a:t>
            </a:r>
            <a:endParaRPr lang="en-US" sz="1100" dirty="0"/>
          </a:p>
        </p:txBody>
      </p:sp>
      <p:sp>
        <p:nvSpPr>
          <p:cNvPr id="204" name="Text 31">
            <a:extLst>
              <a:ext uri="{FF2B5EF4-FFF2-40B4-BE49-F238E27FC236}">
                <a16:creationId xmlns:a16="http://schemas.microsoft.com/office/drawing/2014/main" id="{0F84F3B1-4E30-4BE0-96F4-4DF3A9C5949F}"/>
              </a:ext>
            </a:extLst>
          </p:cNvPr>
          <p:cNvSpPr/>
          <p:nvPr/>
        </p:nvSpPr>
        <p:spPr>
          <a:xfrm>
            <a:off x="749808" y="4425696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Планируешь </a:t>
            </a:r>
            <a:r>
              <a:rPr lang="en-US" sz="105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большую</a:t>
            </a: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покупку</a:t>
            </a:r>
            <a:r>
              <a:rPr lang="ru-RU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05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</a:t>
            </a: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приложение</a:t>
            </a: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могло помочь? Что хотел бы видеть на главном? Персонализация</a:t>
            </a:r>
            <a:r>
              <a:rPr lang="ru-RU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удобно или навязчиво?</a:t>
            </a:r>
            <a:endParaRPr lang="en-US" sz="1050" dirty="0"/>
          </a:p>
        </p:txBody>
      </p:sp>
      <p:sp>
        <p:nvSpPr>
          <p:cNvPr id="205" name="Shape 32">
            <a:extLst>
              <a:ext uri="{FF2B5EF4-FFF2-40B4-BE49-F238E27FC236}">
                <a16:creationId xmlns:a16="http://schemas.microsoft.com/office/drawing/2014/main" id="{87C6B84E-B60C-4F7B-943B-DE4A38884269}"/>
              </a:ext>
            </a:extLst>
          </p:cNvPr>
          <p:cNvSpPr/>
          <p:nvPr/>
        </p:nvSpPr>
        <p:spPr>
          <a:xfrm>
            <a:off x="320040" y="5029200"/>
            <a:ext cx="5577840" cy="822960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06" name="Shape 33">
            <a:extLst>
              <a:ext uri="{FF2B5EF4-FFF2-40B4-BE49-F238E27FC236}">
                <a16:creationId xmlns:a16="http://schemas.microsoft.com/office/drawing/2014/main" id="{144ED1BB-C1E9-4F22-A9FB-790F0E13AB05}"/>
              </a:ext>
            </a:extLst>
          </p:cNvPr>
          <p:cNvSpPr/>
          <p:nvPr/>
        </p:nvSpPr>
        <p:spPr>
          <a:xfrm>
            <a:off x="320040" y="5029200"/>
            <a:ext cx="347472" cy="822960"/>
          </a:xfrm>
          <a:prstGeom prst="rect">
            <a:avLst/>
          </a:prstGeom>
          <a:solidFill>
            <a:srgbClr val="23232C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07" name="Text 34">
            <a:extLst>
              <a:ext uri="{FF2B5EF4-FFF2-40B4-BE49-F238E27FC236}">
                <a16:creationId xmlns:a16="http://schemas.microsoft.com/office/drawing/2014/main" id="{A7168EB7-5CCC-4D10-AD59-B02FBFC90B89}"/>
              </a:ext>
            </a:extLst>
          </p:cNvPr>
          <p:cNvSpPr/>
          <p:nvPr/>
        </p:nvSpPr>
        <p:spPr>
          <a:xfrm>
            <a:off x="320040" y="5029200"/>
            <a:ext cx="3474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8" name="Text 35">
            <a:extLst>
              <a:ext uri="{FF2B5EF4-FFF2-40B4-BE49-F238E27FC236}">
                <a16:creationId xmlns:a16="http://schemas.microsoft.com/office/drawing/2014/main" id="{C6D56AC5-B23F-4F4F-B2FF-8216725963F5}"/>
              </a:ext>
            </a:extLst>
          </p:cNvPr>
          <p:cNvSpPr/>
          <p:nvPr/>
        </p:nvSpPr>
        <p:spPr>
          <a:xfrm>
            <a:off x="749808" y="5065776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гипотез (5–7 мин)</a:t>
            </a:r>
            <a:endParaRPr lang="en-US" sz="1100" dirty="0"/>
          </a:p>
        </p:txBody>
      </p:sp>
      <p:sp>
        <p:nvSpPr>
          <p:cNvPr id="209" name="Text 36">
            <a:extLst>
              <a:ext uri="{FF2B5EF4-FFF2-40B4-BE49-F238E27FC236}">
                <a16:creationId xmlns:a16="http://schemas.microsoft.com/office/drawing/2014/main" id="{8A498D65-F027-48A9-B60A-6A960F9C344F}"/>
              </a:ext>
            </a:extLst>
          </p:cNvPr>
          <p:cNvSpPr/>
          <p:nvPr/>
        </p:nvSpPr>
        <p:spPr>
          <a:xfrm>
            <a:off x="749808" y="532180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нужные функции vs страх пропустить. Напоминания </a:t>
            </a:r>
            <a:r>
              <a:rPr lang="en-US" sz="105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</a:t>
            </a: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тратам</a:t>
            </a:r>
            <a:r>
              <a:rPr lang="ru-RU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помощь или вмешательство? </a:t>
            </a:r>
            <a:endParaRPr lang="en-US" sz="1050" dirty="0"/>
          </a:p>
        </p:txBody>
      </p:sp>
      <p:sp>
        <p:nvSpPr>
          <p:cNvPr id="210" name="Shape 37">
            <a:extLst>
              <a:ext uri="{FF2B5EF4-FFF2-40B4-BE49-F238E27FC236}">
                <a16:creationId xmlns:a16="http://schemas.microsoft.com/office/drawing/2014/main" id="{311F2EAC-B8AE-486B-A271-B094A91CA1D2}"/>
              </a:ext>
            </a:extLst>
          </p:cNvPr>
          <p:cNvSpPr/>
          <p:nvPr/>
        </p:nvSpPr>
        <p:spPr>
          <a:xfrm>
            <a:off x="6080760" y="1170432"/>
            <a:ext cx="36576" cy="195580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211" name="Text 38">
            <a:extLst>
              <a:ext uri="{FF2B5EF4-FFF2-40B4-BE49-F238E27FC236}">
                <a16:creationId xmlns:a16="http://schemas.microsoft.com/office/drawing/2014/main" id="{5046D8FD-3DB4-4BC2-B849-B06B80BA47B0}"/>
              </a:ext>
            </a:extLst>
          </p:cNvPr>
          <p:cNvSpPr/>
          <p:nvPr/>
        </p:nvSpPr>
        <p:spPr>
          <a:xfrm>
            <a:off x="6172200" y="1133856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инсайты из интервью</a:t>
            </a:r>
            <a:endParaRPr lang="en-US" sz="1100" dirty="0"/>
          </a:p>
        </p:txBody>
      </p:sp>
      <p:sp>
        <p:nvSpPr>
          <p:cNvPr id="212" name="Shape 39">
            <a:extLst>
              <a:ext uri="{FF2B5EF4-FFF2-40B4-BE49-F238E27FC236}">
                <a16:creationId xmlns:a16="http://schemas.microsoft.com/office/drawing/2014/main" id="{96555379-E8AD-4E35-BDD7-7A1C46AC271F}"/>
              </a:ext>
            </a:extLst>
          </p:cNvPr>
          <p:cNvSpPr/>
          <p:nvPr/>
        </p:nvSpPr>
        <p:spPr>
          <a:xfrm>
            <a:off x="6080760" y="1463040"/>
            <a:ext cx="2834640" cy="841248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13" name="Shape 40">
            <a:extLst>
              <a:ext uri="{FF2B5EF4-FFF2-40B4-BE49-F238E27FC236}">
                <a16:creationId xmlns:a16="http://schemas.microsoft.com/office/drawing/2014/main" id="{81F8977F-9568-4C5E-91BC-DA4C91EB611D}"/>
              </a:ext>
            </a:extLst>
          </p:cNvPr>
          <p:cNvSpPr/>
          <p:nvPr/>
        </p:nvSpPr>
        <p:spPr>
          <a:xfrm>
            <a:off x="6080760" y="1463040"/>
            <a:ext cx="2834640" cy="3657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14" name="Text 41">
            <a:extLst>
              <a:ext uri="{FF2B5EF4-FFF2-40B4-BE49-F238E27FC236}">
                <a16:creationId xmlns:a16="http://schemas.microsoft.com/office/drawing/2014/main" id="{15B39E33-50E9-4D83-87E0-F1F6F39B246F}"/>
              </a:ext>
            </a:extLst>
          </p:cNvPr>
          <p:cNvSpPr/>
          <p:nvPr/>
        </p:nvSpPr>
        <p:spPr>
          <a:xfrm>
            <a:off x="6382089" y="149961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Минимализм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быстрый доступ</a:t>
            </a:r>
            <a:endParaRPr lang="en-US" sz="1100" dirty="0"/>
          </a:p>
        </p:txBody>
      </p:sp>
      <p:sp>
        <p:nvSpPr>
          <p:cNvPr id="215" name="Text 42">
            <a:extLst>
              <a:ext uri="{FF2B5EF4-FFF2-40B4-BE49-F238E27FC236}">
                <a16:creationId xmlns:a16="http://schemas.microsoft.com/office/drawing/2014/main" id="{3C432BFE-EB67-4521-8522-9F3A45A7218B}"/>
              </a:ext>
            </a:extLst>
          </p:cNvPr>
          <p:cNvSpPr/>
          <p:nvPr/>
        </p:nvSpPr>
        <p:spPr>
          <a:xfrm>
            <a:off x="6202162" y="1732635"/>
            <a:ext cx="25786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Пользователям удобнее видеть </a:t>
            </a:r>
            <a:r>
              <a:rPr lang="en-US" sz="10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меньше</a:t>
            </a: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кнопок</a:t>
            </a:r>
            <a:r>
              <a:rPr lang="ru-RU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иметь быстрый доступ только к персонально </a:t>
            </a:r>
            <a:r>
              <a:rPr lang="en-US" sz="10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нужным</a:t>
            </a: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функциям</a:t>
            </a:r>
            <a:r>
              <a:rPr lang="ru-RU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216" name="Shape 43">
            <a:extLst>
              <a:ext uri="{FF2B5EF4-FFF2-40B4-BE49-F238E27FC236}">
                <a16:creationId xmlns:a16="http://schemas.microsoft.com/office/drawing/2014/main" id="{D66EABDF-D027-4D9B-BE05-3FA3B4C2A579}"/>
              </a:ext>
            </a:extLst>
          </p:cNvPr>
          <p:cNvSpPr/>
          <p:nvPr/>
        </p:nvSpPr>
        <p:spPr>
          <a:xfrm>
            <a:off x="9006840" y="1463040"/>
            <a:ext cx="2834640" cy="841248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17" name="Shape 44">
            <a:extLst>
              <a:ext uri="{FF2B5EF4-FFF2-40B4-BE49-F238E27FC236}">
                <a16:creationId xmlns:a16="http://schemas.microsoft.com/office/drawing/2014/main" id="{18FB342D-CB81-4AE7-B83B-34F6C9D96405}"/>
              </a:ext>
            </a:extLst>
          </p:cNvPr>
          <p:cNvSpPr/>
          <p:nvPr/>
        </p:nvSpPr>
        <p:spPr>
          <a:xfrm>
            <a:off x="9006840" y="1463040"/>
            <a:ext cx="2834640" cy="3657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18" name="Text 45">
            <a:extLst>
              <a:ext uri="{FF2B5EF4-FFF2-40B4-BE49-F238E27FC236}">
                <a16:creationId xmlns:a16="http://schemas.microsoft.com/office/drawing/2014/main" id="{4CE07887-C1E9-481C-BE5C-F4EA5F4D45B5}"/>
              </a:ext>
            </a:extLst>
          </p:cNvPr>
          <p:cNvSpPr/>
          <p:nvPr/>
        </p:nvSpPr>
        <p:spPr>
          <a:xfrm>
            <a:off x="9036430" y="153660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</a:t>
            </a:r>
            <a:r>
              <a:rPr lang="en-US" sz="11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Контекстные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подсказки работают</a:t>
            </a:r>
            <a:endParaRPr lang="en-US" sz="1100" dirty="0"/>
          </a:p>
        </p:txBody>
      </p:sp>
      <p:sp>
        <p:nvSpPr>
          <p:cNvPr id="219" name="Text 46">
            <a:extLst>
              <a:ext uri="{FF2B5EF4-FFF2-40B4-BE49-F238E27FC236}">
                <a16:creationId xmlns:a16="http://schemas.microsoft.com/office/drawing/2014/main" id="{522795A9-9094-462D-BF36-8CB2CFC69740}"/>
              </a:ext>
            </a:extLst>
          </p:cNvPr>
          <p:cNvSpPr/>
          <p:nvPr/>
        </p:nvSpPr>
        <p:spPr>
          <a:xfrm>
            <a:off x="9158350" y="1742696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Предложения</a:t>
            </a: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воспринимаются</a:t>
            </a: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позитивно, если банк анализирует </a:t>
            </a:r>
            <a:r>
              <a:rPr lang="en-US" sz="10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реальные</a:t>
            </a: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расходы</a:t>
            </a:r>
            <a:r>
              <a:rPr lang="ru-RU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220" name="Shape 47">
            <a:extLst>
              <a:ext uri="{FF2B5EF4-FFF2-40B4-BE49-F238E27FC236}">
                <a16:creationId xmlns:a16="http://schemas.microsoft.com/office/drawing/2014/main" id="{8BD646CF-474E-4074-8767-53A0F86EBF65}"/>
              </a:ext>
            </a:extLst>
          </p:cNvPr>
          <p:cNvSpPr/>
          <p:nvPr/>
        </p:nvSpPr>
        <p:spPr>
          <a:xfrm>
            <a:off x="6074146" y="2382013"/>
            <a:ext cx="2834640" cy="969264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21" name="Shape 48">
            <a:extLst>
              <a:ext uri="{FF2B5EF4-FFF2-40B4-BE49-F238E27FC236}">
                <a16:creationId xmlns:a16="http://schemas.microsoft.com/office/drawing/2014/main" id="{C67705F7-52CA-4222-90F3-5B21DE38F83B}"/>
              </a:ext>
            </a:extLst>
          </p:cNvPr>
          <p:cNvSpPr/>
          <p:nvPr/>
        </p:nvSpPr>
        <p:spPr>
          <a:xfrm>
            <a:off x="6074146" y="2382013"/>
            <a:ext cx="2834640" cy="3657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22" name="Text 49">
            <a:extLst>
              <a:ext uri="{FF2B5EF4-FFF2-40B4-BE49-F238E27FC236}">
                <a16:creationId xmlns:a16="http://schemas.microsoft.com/office/drawing/2014/main" id="{36B30794-189D-4A4B-A8A7-997D23C7F8E9}"/>
              </a:ext>
            </a:extLst>
          </p:cNvPr>
          <p:cNvSpPr/>
          <p:nvPr/>
        </p:nvSpPr>
        <p:spPr>
          <a:xfrm>
            <a:off x="6165586" y="2455165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Страх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перемен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</p:txBody>
      </p:sp>
      <p:sp>
        <p:nvSpPr>
          <p:cNvPr id="223" name="Text 50">
            <a:extLst>
              <a:ext uri="{FF2B5EF4-FFF2-40B4-BE49-F238E27FC236}">
                <a16:creationId xmlns:a16="http://schemas.microsoft.com/office/drawing/2014/main" id="{C5C8E782-CB1B-4AEE-A1F5-BABDDC69AF72}"/>
              </a:ext>
            </a:extLst>
          </p:cNvPr>
          <p:cNvSpPr/>
          <p:nvPr/>
        </p:nvSpPr>
        <p:spPr>
          <a:xfrm>
            <a:off x="6188446" y="2693769"/>
            <a:ext cx="252121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пользователей </a:t>
            </a:r>
            <a:r>
              <a:rPr lang="en-US" sz="10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боится</a:t>
            </a: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радикальных</a:t>
            </a:r>
            <a:r>
              <a:rPr lang="ru-RU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изменений. </a:t>
            </a:r>
            <a:r>
              <a:rPr lang="en-US" sz="10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Важно</a:t>
            </a: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оставить привычную навигацию как опцию.</a:t>
            </a:r>
            <a:endParaRPr lang="en-US" sz="1000" dirty="0"/>
          </a:p>
        </p:txBody>
      </p:sp>
      <p:sp>
        <p:nvSpPr>
          <p:cNvPr id="224" name="Shape 51">
            <a:extLst>
              <a:ext uri="{FF2B5EF4-FFF2-40B4-BE49-F238E27FC236}">
                <a16:creationId xmlns:a16="http://schemas.microsoft.com/office/drawing/2014/main" id="{C4877F01-480E-4062-A863-94B2C7EBA7C2}"/>
              </a:ext>
            </a:extLst>
          </p:cNvPr>
          <p:cNvSpPr/>
          <p:nvPr/>
        </p:nvSpPr>
        <p:spPr>
          <a:xfrm>
            <a:off x="9000226" y="2382013"/>
            <a:ext cx="2834640" cy="969264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25" name="Shape 52">
            <a:extLst>
              <a:ext uri="{FF2B5EF4-FFF2-40B4-BE49-F238E27FC236}">
                <a16:creationId xmlns:a16="http://schemas.microsoft.com/office/drawing/2014/main" id="{7E2213AD-B840-4B2E-856E-CEDAD4AFE84A}"/>
              </a:ext>
            </a:extLst>
          </p:cNvPr>
          <p:cNvSpPr/>
          <p:nvPr/>
        </p:nvSpPr>
        <p:spPr>
          <a:xfrm>
            <a:off x="9000226" y="2382013"/>
            <a:ext cx="2834640" cy="3657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26" name="Text 53">
            <a:extLst>
              <a:ext uri="{FF2B5EF4-FFF2-40B4-BE49-F238E27FC236}">
                <a16:creationId xmlns:a16="http://schemas.microsoft.com/office/drawing/2014/main" id="{66341F9F-5888-47DD-BA50-B1D66547F86E}"/>
              </a:ext>
            </a:extLst>
          </p:cNvPr>
          <p:cNvSpPr/>
          <p:nvPr/>
        </p:nvSpPr>
        <p:spPr>
          <a:xfrm>
            <a:off x="9091666" y="2455165"/>
            <a:ext cx="235052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u-RU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</a:t>
            </a:r>
            <a:r>
              <a:rPr lang="en-US" sz="11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Переводы</a:t>
            </a:r>
            <a:endParaRPr lang="en-US" sz="1100" dirty="0"/>
          </a:p>
        </p:txBody>
      </p:sp>
      <p:sp>
        <p:nvSpPr>
          <p:cNvPr id="227" name="Text 54">
            <a:extLst>
              <a:ext uri="{FF2B5EF4-FFF2-40B4-BE49-F238E27FC236}">
                <a16:creationId xmlns:a16="http://schemas.microsoft.com/office/drawing/2014/main" id="{140AD2D4-3F41-4C4C-8999-2E00C701B149}"/>
              </a:ext>
            </a:extLst>
          </p:cNvPr>
          <p:cNvSpPr/>
          <p:nvPr/>
        </p:nvSpPr>
        <p:spPr>
          <a:xfrm>
            <a:off x="9091666" y="2729485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Самый частый и повторяющийся сценарий. Блок «Переводы» должен быть на самом видном месте главного экрана.</a:t>
            </a:r>
            <a:endParaRPr lang="en-US" sz="1000" dirty="0"/>
          </a:p>
        </p:txBody>
      </p:sp>
      <p:sp>
        <p:nvSpPr>
          <p:cNvPr id="228" name="Shape 55">
            <a:extLst>
              <a:ext uri="{FF2B5EF4-FFF2-40B4-BE49-F238E27FC236}">
                <a16:creationId xmlns:a16="http://schemas.microsoft.com/office/drawing/2014/main" id="{F887E370-839B-4A5C-BA6C-06E974DECCA3}"/>
              </a:ext>
            </a:extLst>
          </p:cNvPr>
          <p:cNvSpPr/>
          <p:nvPr/>
        </p:nvSpPr>
        <p:spPr>
          <a:xfrm>
            <a:off x="6074146" y="3461005"/>
            <a:ext cx="2834640" cy="969264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29" name="Shape 56">
            <a:extLst>
              <a:ext uri="{FF2B5EF4-FFF2-40B4-BE49-F238E27FC236}">
                <a16:creationId xmlns:a16="http://schemas.microsoft.com/office/drawing/2014/main" id="{1495FFC1-F7D3-4531-8C18-9588DFD88AFF}"/>
              </a:ext>
            </a:extLst>
          </p:cNvPr>
          <p:cNvSpPr/>
          <p:nvPr/>
        </p:nvSpPr>
        <p:spPr>
          <a:xfrm>
            <a:off x="6074146" y="3461005"/>
            <a:ext cx="2834640" cy="3657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30" name="Text 57">
            <a:extLst>
              <a:ext uri="{FF2B5EF4-FFF2-40B4-BE49-F238E27FC236}">
                <a16:creationId xmlns:a16="http://schemas.microsoft.com/office/drawing/2014/main" id="{2890D53B-F217-46EB-8CA8-C8861C18AC9A}"/>
              </a:ext>
            </a:extLst>
          </p:cNvPr>
          <p:cNvSpPr/>
          <p:nvPr/>
        </p:nvSpPr>
        <p:spPr>
          <a:xfrm>
            <a:off x="6165586" y="3534157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Индикаторы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работы сервисов</a:t>
            </a:r>
            <a:endParaRPr lang="en-US" sz="1100" dirty="0"/>
          </a:p>
        </p:txBody>
      </p:sp>
      <p:sp>
        <p:nvSpPr>
          <p:cNvPr id="231" name="Text 58">
            <a:extLst>
              <a:ext uri="{FF2B5EF4-FFF2-40B4-BE49-F238E27FC236}">
                <a16:creationId xmlns:a16="http://schemas.microsoft.com/office/drawing/2014/main" id="{275F29AD-B41B-4779-820B-33F360042CF5}"/>
              </a:ext>
            </a:extLst>
          </p:cNvPr>
          <p:cNvSpPr/>
          <p:nvPr/>
        </p:nvSpPr>
        <p:spPr>
          <a:xfrm>
            <a:off x="6165586" y="3808477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Ключевая боль — внезапная недоступность услуг снижает доверие к приложению. Статус сервисов нужен на главном.</a:t>
            </a:r>
            <a:endParaRPr lang="en-US" sz="1000" dirty="0"/>
          </a:p>
        </p:txBody>
      </p:sp>
      <p:sp>
        <p:nvSpPr>
          <p:cNvPr id="232" name="Shape 59">
            <a:extLst>
              <a:ext uri="{FF2B5EF4-FFF2-40B4-BE49-F238E27FC236}">
                <a16:creationId xmlns:a16="http://schemas.microsoft.com/office/drawing/2014/main" id="{C2DE8169-A6A1-4241-808F-B1E87D4C7A46}"/>
              </a:ext>
            </a:extLst>
          </p:cNvPr>
          <p:cNvSpPr/>
          <p:nvPr/>
        </p:nvSpPr>
        <p:spPr>
          <a:xfrm>
            <a:off x="9000226" y="3461005"/>
            <a:ext cx="2834640" cy="969264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33" name="Shape 60">
            <a:extLst>
              <a:ext uri="{FF2B5EF4-FFF2-40B4-BE49-F238E27FC236}">
                <a16:creationId xmlns:a16="http://schemas.microsoft.com/office/drawing/2014/main" id="{FBF54269-C2DA-46AF-ABD9-299936E19648}"/>
              </a:ext>
            </a:extLst>
          </p:cNvPr>
          <p:cNvSpPr/>
          <p:nvPr/>
        </p:nvSpPr>
        <p:spPr>
          <a:xfrm>
            <a:off x="9000226" y="3461005"/>
            <a:ext cx="2834640" cy="3657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34" name="Text 61">
            <a:extLst>
              <a:ext uri="{FF2B5EF4-FFF2-40B4-BE49-F238E27FC236}">
                <a16:creationId xmlns:a16="http://schemas.microsoft.com/office/drawing/2014/main" id="{4447779C-2B50-43AB-8792-24869A96D251}"/>
              </a:ext>
            </a:extLst>
          </p:cNvPr>
          <p:cNvSpPr/>
          <p:nvPr/>
        </p:nvSpPr>
        <p:spPr>
          <a:xfrm>
            <a:off x="9091666" y="3534157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Персонализация без ощущения слежки</a:t>
            </a:r>
            <a:endParaRPr lang="en-US" sz="1100" dirty="0"/>
          </a:p>
        </p:txBody>
      </p:sp>
      <p:sp>
        <p:nvSpPr>
          <p:cNvPr id="235" name="Text 62">
            <a:extLst>
              <a:ext uri="{FF2B5EF4-FFF2-40B4-BE49-F238E27FC236}">
                <a16:creationId xmlns:a16="http://schemas.microsoft.com/office/drawing/2014/main" id="{CA9FCEB1-0195-4D1D-B91A-3F82783B2E74}"/>
              </a:ext>
            </a:extLst>
          </p:cNvPr>
          <p:cNvSpPr/>
          <p:nvPr/>
        </p:nvSpPr>
        <p:spPr>
          <a:xfrm>
            <a:off x="9100979" y="3800040"/>
            <a:ext cx="265837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Пользователи ценят помощь в накоплениях и напоминания, если это подаётся как поддержка, а не реклама. </a:t>
            </a:r>
            <a:endParaRPr lang="en-US" sz="1000" dirty="0"/>
          </a:p>
        </p:txBody>
      </p:sp>
      <p:sp>
        <p:nvSpPr>
          <p:cNvPr id="236" name="Shape 63">
            <a:extLst>
              <a:ext uri="{FF2B5EF4-FFF2-40B4-BE49-F238E27FC236}">
                <a16:creationId xmlns:a16="http://schemas.microsoft.com/office/drawing/2014/main" id="{E8E3A77A-6375-490C-8FCD-0B56170D4EB9}"/>
              </a:ext>
            </a:extLst>
          </p:cNvPr>
          <p:cNvSpPr/>
          <p:nvPr/>
        </p:nvSpPr>
        <p:spPr>
          <a:xfrm>
            <a:off x="6069711" y="4485133"/>
            <a:ext cx="36576" cy="195580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237" name="Text 64">
            <a:extLst>
              <a:ext uri="{FF2B5EF4-FFF2-40B4-BE49-F238E27FC236}">
                <a16:creationId xmlns:a16="http://schemas.microsoft.com/office/drawing/2014/main" id="{FB5B6962-DD38-4E96-B0C5-F4354F42FA98}"/>
              </a:ext>
            </a:extLst>
          </p:cNvPr>
          <p:cNvSpPr/>
          <p:nvPr/>
        </p:nvSpPr>
        <p:spPr>
          <a:xfrm>
            <a:off x="6161151" y="4430976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Верификация гипотез</a:t>
            </a:r>
            <a:endParaRPr lang="en-US" sz="1100" dirty="0"/>
          </a:p>
        </p:txBody>
      </p:sp>
      <p:sp>
        <p:nvSpPr>
          <p:cNvPr id="238" name="Shape 65">
            <a:extLst>
              <a:ext uri="{FF2B5EF4-FFF2-40B4-BE49-F238E27FC236}">
                <a16:creationId xmlns:a16="http://schemas.microsoft.com/office/drawing/2014/main" id="{A371DA3A-EE7C-428E-864B-3ED64D1E8E5E}"/>
              </a:ext>
            </a:extLst>
          </p:cNvPr>
          <p:cNvSpPr/>
          <p:nvPr/>
        </p:nvSpPr>
        <p:spPr>
          <a:xfrm>
            <a:off x="6080760" y="4753355"/>
            <a:ext cx="5760720" cy="409959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39" name="Shape 66">
            <a:extLst>
              <a:ext uri="{FF2B5EF4-FFF2-40B4-BE49-F238E27FC236}">
                <a16:creationId xmlns:a16="http://schemas.microsoft.com/office/drawing/2014/main" id="{1E77740D-B20E-451B-ACCB-A34F84B1B377}"/>
              </a:ext>
            </a:extLst>
          </p:cNvPr>
          <p:cNvSpPr/>
          <p:nvPr/>
        </p:nvSpPr>
        <p:spPr>
          <a:xfrm>
            <a:off x="6080759" y="4753355"/>
            <a:ext cx="45719" cy="409959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240" name="Text 67">
            <a:extLst>
              <a:ext uri="{FF2B5EF4-FFF2-40B4-BE49-F238E27FC236}">
                <a16:creationId xmlns:a16="http://schemas.microsoft.com/office/drawing/2014/main" id="{607BDCC9-B3BD-4EC1-B937-924EC6AE867E}"/>
              </a:ext>
            </a:extLst>
          </p:cNvPr>
          <p:cNvSpPr/>
          <p:nvPr/>
        </p:nvSpPr>
        <p:spPr>
          <a:xfrm>
            <a:off x="6199632" y="4771643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Г1: Группировка по жизненным ситуациям</a:t>
            </a:r>
            <a:endParaRPr lang="en-US" sz="1050" dirty="0"/>
          </a:p>
        </p:txBody>
      </p:sp>
      <p:sp>
        <p:nvSpPr>
          <p:cNvPr id="241" name="Text 68">
            <a:extLst>
              <a:ext uri="{FF2B5EF4-FFF2-40B4-BE49-F238E27FC236}">
                <a16:creationId xmlns:a16="http://schemas.microsoft.com/office/drawing/2014/main" id="{137A2597-D697-4793-A771-1F91E61BEBB2}"/>
              </a:ext>
            </a:extLst>
          </p:cNvPr>
          <p:cNvSpPr/>
          <p:nvPr/>
        </p:nvSpPr>
        <p:spPr>
          <a:xfrm>
            <a:off x="6199632" y="4972811"/>
            <a:ext cx="3675888" cy="160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Пользователи мыслят ситуациями, а не продуктами банка</a:t>
            </a:r>
            <a:endParaRPr lang="en-US" sz="1000" dirty="0"/>
          </a:p>
        </p:txBody>
      </p:sp>
      <p:sp>
        <p:nvSpPr>
          <p:cNvPr id="242" name="Text 69">
            <a:extLst>
              <a:ext uri="{FF2B5EF4-FFF2-40B4-BE49-F238E27FC236}">
                <a16:creationId xmlns:a16="http://schemas.microsoft.com/office/drawing/2014/main" id="{EB78E3B6-6F52-4A13-B29E-6DAFDBE71C28}"/>
              </a:ext>
            </a:extLst>
          </p:cNvPr>
          <p:cNvSpPr/>
          <p:nvPr/>
        </p:nvSpPr>
        <p:spPr>
          <a:xfrm>
            <a:off x="9464040" y="4808219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Подтверждена</a:t>
            </a:r>
            <a:endParaRPr lang="en-US" sz="1000" dirty="0"/>
          </a:p>
        </p:txBody>
      </p:sp>
      <p:sp>
        <p:nvSpPr>
          <p:cNvPr id="243" name="Shape 70">
            <a:extLst>
              <a:ext uri="{FF2B5EF4-FFF2-40B4-BE49-F238E27FC236}">
                <a16:creationId xmlns:a16="http://schemas.microsoft.com/office/drawing/2014/main" id="{F6E64930-4705-4A67-9161-5683A8661198}"/>
              </a:ext>
            </a:extLst>
          </p:cNvPr>
          <p:cNvSpPr/>
          <p:nvPr/>
        </p:nvSpPr>
        <p:spPr>
          <a:xfrm>
            <a:off x="6080760" y="5190081"/>
            <a:ext cx="5760720" cy="409959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44" name="Shape 71">
            <a:extLst>
              <a:ext uri="{FF2B5EF4-FFF2-40B4-BE49-F238E27FC236}">
                <a16:creationId xmlns:a16="http://schemas.microsoft.com/office/drawing/2014/main" id="{DC404E9E-787A-47EB-866E-ABB3838A3865}"/>
              </a:ext>
            </a:extLst>
          </p:cNvPr>
          <p:cNvSpPr/>
          <p:nvPr/>
        </p:nvSpPr>
        <p:spPr>
          <a:xfrm>
            <a:off x="6080759" y="5188205"/>
            <a:ext cx="45719" cy="411835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245" name="Text 72">
            <a:extLst>
              <a:ext uri="{FF2B5EF4-FFF2-40B4-BE49-F238E27FC236}">
                <a16:creationId xmlns:a16="http://schemas.microsoft.com/office/drawing/2014/main" id="{7C9FC3C8-6FE5-4843-8D40-6991A14B4163}"/>
              </a:ext>
            </a:extLst>
          </p:cNvPr>
          <p:cNvSpPr/>
          <p:nvPr/>
        </p:nvSpPr>
        <p:spPr>
          <a:xfrm>
            <a:off x="6199632" y="5208369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Г2: Персонализация по транзакциям → CR</a:t>
            </a:r>
            <a:endParaRPr lang="en-US" sz="1050" dirty="0"/>
          </a:p>
        </p:txBody>
      </p:sp>
      <p:sp>
        <p:nvSpPr>
          <p:cNvPr id="246" name="Text 73">
            <a:extLst>
              <a:ext uri="{FF2B5EF4-FFF2-40B4-BE49-F238E27FC236}">
                <a16:creationId xmlns:a16="http://schemas.microsoft.com/office/drawing/2014/main" id="{83A9BB82-2AF3-44CF-910E-E10DC34924CD}"/>
              </a:ext>
            </a:extLst>
          </p:cNvPr>
          <p:cNvSpPr/>
          <p:nvPr/>
        </p:nvSpPr>
        <p:spPr>
          <a:xfrm>
            <a:off x="6199631" y="5409536"/>
            <a:ext cx="3881449" cy="1730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Контекстные предложения воспринимаются как помощь</a:t>
            </a:r>
            <a:endParaRPr lang="en-US" sz="1000" dirty="0"/>
          </a:p>
        </p:txBody>
      </p:sp>
      <p:sp>
        <p:nvSpPr>
          <p:cNvPr id="247" name="Text 74">
            <a:extLst>
              <a:ext uri="{FF2B5EF4-FFF2-40B4-BE49-F238E27FC236}">
                <a16:creationId xmlns:a16="http://schemas.microsoft.com/office/drawing/2014/main" id="{EF09AB7B-6A42-4C51-B86D-254FF7692BE9}"/>
              </a:ext>
            </a:extLst>
          </p:cNvPr>
          <p:cNvSpPr/>
          <p:nvPr/>
        </p:nvSpPr>
        <p:spPr>
          <a:xfrm>
            <a:off x="9464040" y="5244945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Подтверждена</a:t>
            </a:r>
            <a:endParaRPr lang="en-US" sz="1000" dirty="0"/>
          </a:p>
        </p:txBody>
      </p:sp>
      <p:sp>
        <p:nvSpPr>
          <p:cNvPr id="248" name="Shape 75">
            <a:extLst>
              <a:ext uri="{FF2B5EF4-FFF2-40B4-BE49-F238E27FC236}">
                <a16:creationId xmlns:a16="http://schemas.microsoft.com/office/drawing/2014/main" id="{FBC698F3-890A-4ACE-91DE-56B205E55D2A}"/>
              </a:ext>
            </a:extLst>
          </p:cNvPr>
          <p:cNvSpPr/>
          <p:nvPr/>
        </p:nvSpPr>
        <p:spPr>
          <a:xfrm>
            <a:off x="6080760" y="6071616"/>
            <a:ext cx="5760720" cy="438912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49" name="Shape 76">
            <a:extLst>
              <a:ext uri="{FF2B5EF4-FFF2-40B4-BE49-F238E27FC236}">
                <a16:creationId xmlns:a16="http://schemas.microsoft.com/office/drawing/2014/main" id="{5EDF2751-FF03-4FBA-83B5-2ABBD6F535A4}"/>
              </a:ext>
            </a:extLst>
          </p:cNvPr>
          <p:cNvSpPr/>
          <p:nvPr/>
        </p:nvSpPr>
        <p:spPr>
          <a:xfrm>
            <a:off x="6080760" y="6071616"/>
            <a:ext cx="54864" cy="43891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50" name="Text 77">
            <a:extLst>
              <a:ext uri="{FF2B5EF4-FFF2-40B4-BE49-F238E27FC236}">
                <a16:creationId xmlns:a16="http://schemas.microsoft.com/office/drawing/2014/main" id="{5D37193F-42FD-45E9-9D5B-E7883A700F40}"/>
              </a:ext>
            </a:extLst>
          </p:cNvPr>
          <p:cNvSpPr/>
          <p:nvPr/>
        </p:nvSpPr>
        <p:spPr>
          <a:xfrm>
            <a:off x="6199632" y="608990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Г4: Тематические разделы снижают нагрузку</a:t>
            </a:r>
            <a:endParaRPr lang="en-US" sz="1050" dirty="0"/>
          </a:p>
        </p:txBody>
      </p:sp>
      <p:sp>
        <p:nvSpPr>
          <p:cNvPr id="251" name="Text 78">
            <a:extLst>
              <a:ext uri="{FF2B5EF4-FFF2-40B4-BE49-F238E27FC236}">
                <a16:creationId xmlns:a16="http://schemas.microsoft.com/office/drawing/2014/main" id="{BA97506B-631E-48D4-AC66-E3F2BCCF0B5E}"/>
              </a:ext>
            </a:extLst>
          </p:cNvPr>
          <p:cNvSpPr/>
          <p:nvPr/>
        </p:nvSpPr>
        <p:spPr>
          <a:xfrm>
            <a:off x="6199631" y="6291071"/>
            <a:ext cx="4129702" cy="1828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Радикальная смена структуры </a:t>
            </a:r>
            <a:r>
              <a:rPr lang="en-US" sz="10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создаёт</a:t>
            </a: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страх</a:t>
            </a:r>
            <a:r>
              <a:rPr lang="ru-RU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нужен плавный переход</a:t>
            </a:r>
            <a:endParaRPr lang="en-US" sz="1000" dirty="0"/>
          </a:p>
        </p:txBody>
      </p:sp>
      <p:sp>
        <p:nvSpPr>
          <p:cNvPr id="252" name="Text 79">
            <a:extLst>
              <a:ext uri="{FF2B5EF4-FFF2-40B4-BE49-F238E27FC236}">
                <a16:creationId xmlns:a16="http://schemas.microsoft.com/office/drawing/2014/main" id="{63B735D5-57A9-41C9-A12F-5F746790BB9D}"/>
              </a:ext>
            </a:extLst>
          </p:cNvPr>
          <p:cNvSpPr/>
          <p:nvPr/>
        </p:nvSpPr>
        <p:spPr>
          <a:xfrm>
            <a:off x="9464040" y="612648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Опровергнута</a:t>
            </a:r>
            <a:endParaRPr lang="en-US" sz="1000" dirty="0"/>
          </a:p>
        </p:txBody>
      </p:sp>
      <p:sp>
        <p:nvSpPr>
          <p:cNvPr id="253" name="Shape 70">
            <a:extLst>
              <a:ext uri="{FF2B5EF4-FFF2-40B4-BE49-F238E27FC236}">
                <a16:creationId xmlns:a16="http://schemas.microsoft.com/office/drawing/2014/main" id="{9D2EAE0E-6965-4B01-8994-5F1A8B1F4381}"/>
              </a:ext>
            </a:extLst>
          </p:cNvPr>
          <p:cNvSpPr/>
          <p:nvPr/>
        </p:nvSpPr>
        <p:spPr>
          <a:xfrm>
            <a:off x="6080760" y="5627367"/>
            <a:ext cx="5760720" cy="409959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54" name="Shape 71">
            <a:extLst>
              <a:ext uri="{FF2B5EF4-FFF2-40B4-BE49-F238E27FC236}">
                <a16:creationId xmlns:a16="http://schemas.microsoft.com/office/drawing/2014/main" id="{7E6CB7F6-2EFB-4C0D-B74E-BD693EABF741}"/>
              </a:ext>
            </a:extLst>
          </p:cNvPr>
          <p:cNvSpPr/>
          <p:nvPr/>
        </p:nvSpPr>
        <p:spPr>
          <a:xfrm>
            <a:off x="6080759" y="5625491"/>
            <a:ext cx="45719" cy="411835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255" name="Text 72">
            <a:extLst>
              <a:ext uri="{FF2B5EF4-FFF2-40B4-BE49-F238E27FC236}">
                <a16:creationId xmlns:a16="http://schemas.microsoft.com/office/drawing/2014/main" id="{E8928E37-7B24-4927-9DB2-81B6E3DEACA1}"/>
              </a:ext>
            </a:extLst>
          </p:cNvPr>
          <p:cNvSpPr/>
          <p:nvPr/>
        </p:nvSpPr>
        <p:spPr>
          <a:xfrm>
            <a:off x="6189283" y="5671945"/>
            <a:ext cx="4654635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Г3: </a:t>
            </a:r>
            <a:r>
              <a:rPr lang="ru-RU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Прозрачность финансов</a:t>
            </a:r>
            <a:endParaRPr lang="en-US" sz="1050" dirty="0"/>
          </a:p>
        </p:txBody>
      </p:sp>
      <p:sp>
        <p:nvSpPr>
          <p:cNvPr id="256" name="Text 73">
            <a:extLst>
              <a:ext uri="{FF2B5EF4-FFF2-40B4-BE49-F238E27FC236}">
                <a16:creationId xmlns:a16="http://schemas.microsoft.com/office/drawing/2014/main" id="{38B70AFE-44A3-47E1-943B-EC6810F2334A}"/>
              </a:ext>
            </a:extLst>
          </p:cNvPr>
          <p:cNvSpPr/>
          <p:nvPr/>
        </p:nvSpPr>
        <p:spPr>
          <a:xfrm>
            <a:off x="6188446" y="5863797"/>
            <a:ext cx="3892635" cy="1333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Видимость и прогнозирование повышают мотивацию </a:t>
            </a:r>
            <a:endParaRPr lang="en-US" sz="1000" dirty="0"/>
          </a:p>
        </p:txBody>
      </p:sp>
      <p:sp>
        <p:nvSpPr>
          <p:cNvPr id="257" name="Text 74">
            <a:extLst>
              <a:ext uri="{FF2B5EF4-FFF2-40B4-BE49-F238E27FC236}">
                <a16:creationId xmlns:a16="http://schemas.microsoft.com/office/drawing/2014/main" id="{5B91662D-09D7-42D6-A49F-2B579A640D02}"/>
              </a:ext>
            </a:extLst>
          </p:cNvPr>
          <p:cNvSpPr/>
          <p:nvPr/>
        </p:nvSpPr>
        <p:spPr>
          <a:xfrm>
            <a:off x="9464040" y="5682231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Подтверждена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7764774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24128"/>
          </a:xfrm>
          <a:prstGeom prst="rect">
            <a:avLst/>
          </a:prstGeom>
          <a:solidFill>
            <a:srgbClr val="17171C"/>
          </a:solidFill>
          <a:ln w="12700">
            <a:solidFill>
              <a:srgbClr val="1717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40773" y="323415"/>
            <a:ext cx="6555053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ru-RU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ПРИЛОЖЕНИЕ 1:</a:t>
            </a:r>
            <a:endParaRPr lang="en-US" sz="1300" dirty="0"/>
          </a:p>
        </p:txBody>
      </p:sp>
      <p:grpSp>
        <p:nvGrpSpPr>
          <p:cNvPr id="108" name="Группа 107">
            <a:extLst>
              <a:ext uri="{FF2B5EF4-FFF2-40B4-BE49-F238E27FC236}">
                <a16:creationId xmlns:a16="http://schemas.microsoft.com/office/drawing/2014/main" id="{B7797176-3532-4BC2-A45A-7B1206F1B9C0}"/>
              </a:ext>
            </a:extLst>
          </p:cNvPr>
          <p:cNvGrpSpPr/>
          <p:nvPr/>
        </p:nvGrpSpPr>
        <p:grpSpPr>
          <a:xfrm>
            <a:off x="164592" y="66083"/>
            <a:ext cx="1972216" cy="545846"/>
            <a:chOff x="402336" y="115760"/>
            <a:chExt cx="2238374" cy="568833"/>
          </a:xfrm>
        </p:grpSpPr>
        <p:sp>
          <p:nvSpPr>
            <p:cNvPr id="109" name="Прямоугольник 108">
              <a:extLst>
                <a:ext uri="{FF2B5EF4-FFF2-40B4-BE49-F238E27FC236}">
                  <a16:creationId xmlns:a16="http://schemas.microsoft.com/office/drawing/2014/main" id="{6FB7663A-72BC-4BD7-B2A3-FAA62FB9DDFA}"/>
                </a:ext>
              </a:extLst>
            </p:cNvPr>
            <p:cNvSpPr/>
            <p:nvPr/>
          </p:nvSpPr>
          <p:spPr>
            <a:xfrm>
              <a:off x="402336" y="115760"/>
              <a:ext cx="2238374" cy="568833"/>
            </a:xfrm>
            <a:prstGeom prst="rect">
              <a:avLst/>
            </a:prstGeom>
            <a:solidFill>
              <a:srgbClr val="C8FF00"/>
            </a:solidFill>
            <a:ln>
              <a:noFill/>
            </a:ln>
            <a:effectLst>
              <a:softEdge rad="1651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10" name="Рисунок 109">
              <a:extLst>
                <a:ext uri="{FF2B5EF4-FFF2-40B4-BE49-F238E27FC236}">
                  <a16:creationId xmlns:a16="http://schemas.microsoft.com/office/drawing/2014/main" id="{391D4447-4A62-42F7-8786-BCC9B20C55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35628" y="256365"/>
              <a:ext cx="1271588" cy="255128"/>
            </a:xfrm>
            <a:prstGeom prst="rect">
              <a:avLst/>
            </a:prstGeom>
          </p:spPr>
        </p:pic>
      </p:grpSp>
      <p:sp>
        <p:nvSpPr>
          <p:cNvPr id="112" name="Shape 0">
            <a:extLst>
              <a:ext uri="{FF2B5EF4-FFF2-40B4-BE49-F238E27FC236}">
                <a16:creationId xmlns:a16="http://schemas.microsoft.com/office/drawing/2014/main" id="{1FAB15A3-F4FD-4486-AFBE-DD7D91549457}"/>
              </a:ext>
            </a:extLst>
          </p:cNvPr>
          <p:cNvSpPr/>
          <p:nvPr/>
        </p:nvSpPr>
        <p:spPr>
          <a:xfrm>
            <a:off x="0" y="0"/>
            <a:ext cx="12161520" cy="1024128"/>
          </a:xfrm>
          <a:prstGeom prst="rect">
            <a:avLst/>
          </a:prstGeom>
          <a:solidFill>
            <a:srgbClr val="17171C"/>
          </a:solidFill>
          <a:ln w="12700">
            <a:solidFill>
              <a:srgbClr val="17171C"/>
            </a:solidFill>
            <a:prstDash val="solid"/>
          </a:ln>
        </p:spPr>
      </p:sp>
      <p:sp>
        <p:nvSpPr>
          <p:cNvPr id="115" name="Shape 3">
            <a:extLst>
              <a:ext uri="{FF2B5EF4-FFF2-40B4-BE49-F238E27FC236}">
                <a16:creationId xmlns:a16="http://schemas.microsoft.com/office/drawing/2014/main" id="{9CFDA7C0-BE97-46A5-941C-02A8098DF759}"/>
              </a:ext>
            </a:extLst>
          </p:cNvPr>
          <p:cNvSpPr/>
          <p:nvPr/>
        </p:nvSpPr>
        <p:spPr>
          <a:xfrm>
            <a:off x="2220277" y="132597"/>
            <a:ext cx="2011680" cy="397925"/>
          </a:xfrm>
          <a:prstGeom prst="rect">
            <a:avLst/>
          </a:prstGeom>
          <a:solidFill>
            <a:srgbClr val="1A20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116" name="Text 4">
            <a:extLst>
              <a:ext uri="{FF2B5EF4-FFF2-40B4-BE49-F238E27FC236}">
                <a16:creationId xmlns:a16="http://schemas.microsoft.com/office/drawing/2014/main" id="{51E82DDB-5EB7-4CAD-9E6F-D3E5FAB15ECC}"/>
              </a:ext>
            </a:extLst>
          </p:cNvPr>
          <p:cNvSpPr/>
          <p:nvPr/>
        </p:nvSpPr>
        <p:spPr>
          <a:xfrm>
            <a:off x="2220277" y="132597"/>
            <a:ext cx="2011680" cy="4311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ПРИЛОЖЕНИЕ П</a:t>
            </a:r>
            <a:r>
              <a:rPr lang="ru-RU" sz="11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grpSp>
        <p:nvGrpSpPr>
          <p:cNvPr id="189" name="Группа 188">
            <a:extLst>
              <a:ext uri="{FF2B5EF4-FFF2-40B4-BE49-F238E27FC236}">
                <a16:creationId xmlns:a16="http://schemas.microsoft.com/office/drawing/2014/main" id="{B324478A-9819-4AD4-9217-1CB8220E2999}"/>
              </a:ext>
            </a:extLst>
          </p:cNvPr>
          <p:cNvGrpSpPr/>
          <p:nvPr/>
        </p:nvGrpSpPr>
        <p:grpSpPr>
          <a:xfrm>
            <a:off x="164592" y="74549"/>
            <a:ext cx="1972216" cy="545846"/>
            <a:chOff x="402336" y="115760"/>
            <a:chExt cx="2238374" cy="568833"/>
          </a:xfrm>
        </p:grpSpPr>
        <p:sp>
          <p:nvSpPr>
            <p:cNvPr id="190" name="Прямоугольник 189">
              <a:extLst>
                <a:ext uri="{FF2B5EF4-FFF2-40B4-BE49-F238E27FC236}">
                  <a16:creationId xmlns:a16="http://schemas.microsoft.com/office/drawing/2014/main" id="{378C5B32-D915-48F9-B8A6-5CF9DE50A781}"/>
                </a:ext>
              </a:extLst>
            </p:cNvPr>
            <p:cNvSpPr/>
            <p:nvPr/>
          </p:nvSpPr>
          <p:spPr>
            <a:xfrm>
              <a:off x="402336" y="115760"/>
              <a:ext cx="2238374" cy="568833"/>
            </a:xfrm>
            <a:prstGeom prst="rect">
              <a:avLst/>
            </a:prstGeom>
            <a:solidFill>
              <a:srgbClr val="C8FF00"/>
            </a:solidFill>
            <a:ln>
              <a:noFill/>
            </a:ln>
            <a:effectLst>
              <a:softEdge rad="1651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91" name="Рисунок 190">
              <a:extLst>
                <a:ext uri="{FF2B5EF4-FFF2-40B4-BE49-F238E27FC236}">
                  <a16:creationId xmlns:a16="http://schemas.microsoft.com/office/drawing/2014/main" id="{F3725466-38AF-4F60-B7E8-BC5FC1CCDBE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35628" y="256365"/>
              <a:ext cx="1271588" cy="255128"/>
            </a:xfrm>
            <a:prstGeom prst="rect">
              <a:avLst/>
            </a:prstGeom>
          </p:spPr>
        </p:pic>
      </p:grpSp>
      <p:sp>
        <p:nvSpPr>
          <p:cNvPr id="98" name="Shape 6">
            <a:extLst>
              <a:ext uri="{FF2B5EF4-FFF2-40B4-BE49-F238E27FC236}">
                <a16:creationId xmlns:a16="http://schemas.microsoft.com/office/drawing/2014/main" id="{A0F68446-3779-4A2B-8832-AEFB83406076}"/>
              </a:ext>
            </a:extLst>
          </p:cNvPr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111118"/>
          </a:solidFill>
          <a:ln w="12700">
            <a:solidFill>
              <a:srgbClr val="111118"/>
            </a:solidFill>
            <a:prstDash val="solid"/>
          </a:ln>
        </p:spPr>
      </p:sp>
      <p:sp>
        <p:nvSpPr>
          <p:cNvPr id="117" name="Text 7">
            <a:extLst>
              <a:ext uri="{FF2B5EF4-FFF2-40B4-BE49-F238E27FC236}">
                <a16:creationId xmlns:a16="http://schemas.microsoft.com/office/drawing/2014/main" id="{0AE52B01-1CDA-49E5-B968-89AB91BE2F2F}"/>
              </a:ext>
            </a:extLst>
          </p:cNvPr>
          <p:cNvSpPr/>
          <p:nvPr/>
        </p:nvSpPr>
        <p:spPr>
          <a:xfrm>
            <a:off x="274320" y="6574536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ПРИЛОЖЕНИЯ К КЕЙСУ ОТП БАНК — CHANGELLENGE CUP IT 2026</a:t>
            </a:r>
            <a:endParaRPr lang="en-US" sz="800" dirty="0"/>
          </a:p>
        </p:txBody>
      </p:sp>
      <p:sp>
        <p:nvSpPr>
          <p:cNvPr id="122" name="Text 8">
            <a:extLst>
              <a:ext uri="{FF2B5EF4-FFF2-40B4-BE49-F238E27FC236}">
                <a16:creationId xmlns:a16="http://schemas.microsoft.com/office/drawing/2014/main" id="{F20532E2-E4E1-46D5-BD04-538621CC78BB}"/>
              </a:ext>
            </a:extLst>
          </p:cNvPr>
          <p:cNvSpPr/>
          <p:nvPr/>
        </p:nvSpPr>
        <p:spPr>
          <a:xfrm>
            <a:off x="8686800" y="657453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Приложение П3</a:t>
            </a:r>
            <a:endParaRPr lang="en-US" sz="800" dirty="0"/>
          </a:p>
        </p:txBody>
      </p:sp>
      <p:sp>
        <p:nvSpPr>
          <p:cNvPr id="123" name="Text 9">
            <a:extLst>
              <a:ext uri="{FF2B5EF4-FFF2-40B4-BE49-F238E27FC236}">
                <a16:creationId xmlns:a16="http://schemas.microsoft.com/office/drawing/2014/main" id="{E7A0349F-1D43-4D29-ABEF-409D67473B40}"/>
              </a:ext>
            </a:extLst>
          </p:cNvPr>
          <p:cNvSpPr/>
          <p:nvPr/>
        </p:nvSpPr>
        <p:spPr>
          <a:xfrm>
            <a:off x="11521440" y="657453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24" name="Shape 10">
            <a:extLst>
              <a:ext uri="{FF2B5EF4-FFF2-40B4-BE49-F238E27FC236}">
                <a16:creationId xmlns:a16="http://schemas.microsoft.com/office/drawing/2014/main" id="{E2F60619-6A65-4DD4-90E0-CC3D24640A8D}"/>
              </a:ext>
            </a:extLst>
          </p:cNvPr>
          <p:cNvSpPr/>
          <p:nvPr/>
        </p:nvSpPr>
        <p:spPr>
          <a:xfrm>
            <a:off x="320040" y="1170432"/>
            <a:ext cx="36576" cy="195580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125" name="Text 11">
            <a:extLst>
              <a:ext uri="{FF2B5EF4-FFF2-40B4-BE49-F238E27FC236}">
                <a16:creationId xmlns:a16="http://schemas.microsoft.com/office/drawing/2014/main" id="{43C695C4-8659-49F6-836B-C493E91C9899}"/>
              </a:ext>
            </a:extLst>
          </p:cNvPr>
          <p:cNvSpPr/>
          <p:nvPr/>
        </p:nvSpPr>
        <p:spPr>
          <a:xfrm>
            <a:off x="411480" y="1133856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Сравнительная матрица: персонализация витрин (оценка по 5-балльной шкале)</a:t>
            </a:r>
            <a:endParaRPr lang="en-US" sz="1100" dirty="0"/>
          </a:p>
        </p:txBody>
      </p:sp>
      <p:sp>
        <p:nvSpPr>
          <p:cNvPr id="126" name="Shape 12">
            <a:extLst>
              <a:ext uri="{FF2B5EF4-FFF2-40B4-BE49-F238E27FC236}">
                <a16:creationId xmlns:a16="http://schemas.microsoft.com/office/drawing/2014/main" id="{1D45443C-C8BA-4720-A640-20963504D780}"/>
              </a:ext>
            </a:extLst>
          </p:cNvPr>
          <p:cNvSpPr/>
          <p:nvPr/>
        </p:nvSpPr>
        <p:spPr>
          <a:xfrm>
            <a:off x="320040" y="1426464"/>
            <a:ext cx="7315200" cy="274320"/>
          </a:xfrm>
          <a:prstGeom prst="rect">
            <a:avLst/>
          </a:prstGeom>
          <a:solidFill>
            <a:srgbClr val="23232C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27" name="Text 13">
            <a:extLst>
              <a:ext uri="{FF2B5EF4-FFF2-40B4-BE49-F238E27FC236}">
                <a16:creationId xmlns:a16="http://schemas.microsoft.com/office/drawing/2014/main" id="{26B4DC7F-922F-4B69-9F09-9F81F83D16BA}"/>
              </a:ext>
            </a:extLst>
          </p:cNvPr>
          <p:cNvSpPr/>
          <p:nvPr/>
        </p:nvSpPr>
        <p:spPr>
          <a:xfrm>
            <a:off x="411480" y="1444752"/>
            <a:ext cx="7132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Критерий</a:t>
            </a:r>
            <a:endParaRPr lang="en-US" sz="1050" dirty="0"/>
          </a:p>
        </p:txBody>
      </p:sp>
      <p:sp>
        <p:nvSpPr>
          <p:cNvPr id="128" name="Shape 14">
            <a:extLst>
              <a:ext uri="{FF2B5EF4-FFF2-40B4-BE49-F238E27FC236}">
                <a16:creationId xmlns:a16="http://schemas.microsoft.com/office/drawing/2014/main" id="{C5C54804-31E8-43B9-B44F-64C3E776A832}"/>
              </a:ext>
            </a:extLst>
          </p:cNvPr>
          <p:cNvSpPr/>
          <p:nvPr/>
        </p:nvSpPr>
        <p:spPr>
          <a:xfrm>
            <a:off x="7772400" y="1426464"/>
            <a:ext cx="987552" cy="274320"/>
          </a:xfrm>
          <a:prstGeom prst="rect">
            <a:avLst/>
          </a:prstGeom>
          <a:solidFill>
            <a:srgbClr val="23232C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29" name="Text 15">
            <a:extLst>
              <a:ext uri="{FF2B5EF4-FFF2-40B4-BE49-F238E27FC236}">
                <a16:creationId xmlns:a16="http://schemas.microsoft.com/office/drawing/2014/main" id="{3203178B-CC2C-4F7C-92E6-06CD2BB75076}"/>
              </a:ext>
            </a:extLst>
          </p:cNvPr>
          <p:cNvSpPr/>
          <p:nvPr/>
        </p:nvSpPr>
        <p:spPr>
          <a:xfrm>
            <a:off x="7772400" y="1444752"/>
            <a:ext cx="987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Альфа</a:t>
            </a:r>
            <a:endParaRPr lang="en-US" sz="1050" dirty="0"/>
          </a:p>
        </p:txBody>
      </p:sp>
      <p:sp>
        <p:nvSpPr>
          <p:cNvPr id="130" name="Shape 16">
            <a:extLst>
              <a:ext uri="{FF2B5EF4-FFF2-40B4-BE49-F238E27FC236}">
                <a16:creationId xmlns:a16="http://schemas.microsoft.com/office/drawing/2014/main" id="{24570373-09BB-4B98-A0C9-415640F8469D}"/>
              </a:ext>
            </a:extLst>
          </p:cNvPr>
          <p:cNvSpPr/>
          <p:nvPr/>
        </p:nvSpPr>
        <p:spPr>
          <a:xfrm>
            <a:off x="8851392" y="1426464"/>
            <a:ext cx="987552" cy="274320"/>
          </a:xfrm>
          <a:prstGeom prst="rect">
            <a:avLst/>
          </a:prstGeom>
          <a:solidFill>
            <a:srgbClr val="23232C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31" name="Text 17">
            <a:extLst>
              <a:ext uri="{FF2B5EF4-FFF2-40B4-BE49-F238E27FC236}">
                <a16:creationId xmlns:a16="http://schemas.microsoft.com/office/drawing/2014/main" id="{EF9668AB-2BF3-4834-88B2-33DA03E0FB31}"/>
              </a:ext>
            </a:extLst>
          </p:cNvPr>
          <p:cNvSpPr/>
          <p:nvPr/>
        </p:nvSpPr>
        <p:spPr>
          <a:xfrm>
            <a:off x="8851392" y="1444752"/>
            <a:ext cx="987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Сбер</a:t>
            </a:r>
            <a:endParaRPr lang="en-US" sz="1050" dirty="0"/>
          </a:p>
        </p:txBody>
      </p:sp>
      <p:sp>
        <p:nvSpPr>
          <p:cNvPr id="132" name="Shape 18">
            <a:extLst>
              <a:ext uri="{FF2B5EF4-FFF2-40B4-BE49-F238E27FC236}">
                <a16:creationId xmlns:a16="http://schemas.microsoft.com/office/drawing/2014/main" id="{1AD2DF54-7C57-4D5F-B255-BDA1A0706DC6}"/>
              </a:ext>
            </a:extLst>
          </p:cNvPr>
          <p:cNvSpPr/>
          <p:nvPr/>
        </p:nvSpPr>
        <p:spPr>
          <a:xfrm>
            <a:off x="9930384" y="1426464"/>
            <a:ext cx="987552" cy="274320"/>
          </a:xfrm>
          <a:prstGeom prst="rect">
            <a:avLst/>
          </a:prstGeom>
          <a:solidFill>
            <a:srgbClr val="23232C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33" name="Text 19">
            <a:extLst>
              <a:ext uri="{FF2B5EF4-FFF2-40B4-BE49-F238E27FC236}">
                <a16:creationId xmlns:a16="http://schemas.microsoft.com/office/drawing/2014/main" id="{71DA3258-9903-4EA6-A840-F3DA84F32684}"/>
              </a:ext>
            </a:extLst>
          </p:cNvPr>
          <p:cNvSpPr/>
          <p:nvPr/>
        </p:nvSpPr>
        <p:spPr>
          <a:xfrm>
            <a:off x="9930384" y="1444752"/>
            <a:ext cx="987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РСХБ</a:t>
            </a:r>
            <a:endParaRPr lang="en-US" sz="800" dirty="0"/>
          </a:p>
        </p:txBody>
      </p:sp>
      <p:sp>
        <p:nvSpPr>
          <p:cNvPr id="134" name="Shape 20">
            <a:extLst>
              <a:ext uri="{FF2B5EF4-FFF2-40B4-BE49-F238E27FC236}">
                <a16:creationId xmlns:a16="http://schemas.microsoft.com/office/drawing/2014/main" id="{FD921623-4C24-470D-876A-267B27278555}"/>
              </a:ext>
            </a:extLst>
          </p:cNvPr>
          <p:cNvSpPr/>
          <p:nvPr/>
        </p:nvSpPr>
        <p:spPr>
          <a:xfrm>
            <a:off x="11009376" y="1426464"/>
            <a:ext cx="987552" cy="274320"/>
          </a:xfrm>
          <a:prstGeom prst="rect">
            <a:avLst/>
          </a:prstGeom>
          <a:solidFill>
            <a:srgbClr val="23232C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35" name="Text 21">
            <a:extLst>
              <a:ext uri="{FF2B5EF4-FFF2-40B4-BE49-F238E27FC236}">
                <a16:creationId xmlns:a16="http://schemas.microsoft.com/office/drawing/2014/main" id="{44A235D6-C20F-4A1A-B7FA-5AE2BF3BB75F}"/>
              </a:ext>
            </a:extLst>
          </p:cNvPr>
          <p:cNvSpPr/>
          <p:nvPr/>
        </p:nvSpPr>
        <p:spPr>
          <a:xfrm>
            <a:off x="11009376" y="1444752"/>
            <a:ext cx="987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ОТП сейчас</a:t>
            </a:r>
            <a:endParaRPr lang="en-US" sz="1050" dirty="0"/>
          </a:p>
        </p:txBody>
      </p:sp>
      <p:sp>
        <p:nvSpPr>
          <p:cNvPr id="136" name="Shape 22">
            <a:extLst>
              <a:ext uri="{FF2B5EF4-FFF2-40B4-BE49-F238E27FC236}">
                <a16:creationId xmlns:a16="http://schemas.microsoft.com/office/drawing/2014/main" id="{D4D684F6-C328-4D08-9F17-72EBA8ED5CC9}"/>
              </a:ext>
            </a:extLst>
          </p:cNvPr>
          <p:cNvSpPr/>
          <p:nvPr/>
        </p:nvSpPr>
        <p:spPr>
          <a:xfrm>
            <a:off x="320040" y="1737360"/>
            <a:ext cx="7315200" cy="402336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37" name="Text 23">
            <a:extLst>
              <a:ext uri="{FF2B5EF4-FFF2-40B4-BE49-F238E27FC236}">
                <a16:creationId xmlns:a16="http://schemas.microsoft.com/office/drawing/2014/main" id="{1D8FB06C-90FE-4B41-8171-5FA50F8ED870}"/>
              </a:ext>
            </a:extLst>
          </p:cNvPr>
          <p:cNvSpPr/>
          <p:nvPr/>
        </p:nvSpPr>
        <p:spPr>
          <a:xfrm>
            <a:off x="411480" y="1737360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Контекстная персонализация главного</a:t>
            </a:r>
            <a:endParaRPr lang="en-US" sz="1050" dirty="0"/>
          </a:p>
        </p:txBody>
      </p:sp>
      <p:sp>
        <p:nvSpPr>
          <p:cNvPr id="138" name="Shape 24">
            <a:extLst>
              <a:ext uri="{FF2B5EF4-FFF2-40B4-BE49-F238E27FC236}">
                <a16:creationId xmlns:a16="http://schemas.microsoft.com/office/drawing/2014/main" id="{6D95360C-EFEE-4506-9BF5-2C0DDE0D1D2E}"/>
              </a:ext>
            </a:extLst>
          </p:cNvPr>
          <p:cNvSpPr/>
          <p:nvPr/>
        </p:nvSpPr>
        <p:spPr>
          <a:xfrm>
            <a:off x="7772400" y="1737360"/>
            <a:ext cx="987552" cy="402336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39" name="Text 25">
            <a:extLst>
              <a:ext uri="{FF2B5EF4-FFF2-40B4-BE49-F238E27FC236}">
                <a16:creationId xmlns:a16="http://schemas.microsoft.com/office/drawing/2014/main" id="{F0276CAB-4ABC-4190-8323-F5F3C5E51453}"/>
              </a:ext>
            </a:extLst>
          </p:cNvPr>
          <p:cNvSpPr/>
          <p:nvPr/>
        </p:nvSpPr>
        <p:spPr>
          <a:xfrm>
            <a:off x="7772400" y="1737360"/>
            <a:ext cx="9875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★★★☆☆</a:t>
            </a:r>
            <a:endParaRPr lang="en-US" sz="900" dirty="0"/>
          </a:p>
        </p:txBody>
      </p:sp>
      <p:sp>
        <p:nvSpPr>
          <p:cNvPr id="140" name="Shape 26">
            <a:extLst>
              <a:ext uri="{FF2B5EF4-FFF2-40B4-BE49-F238E27FC236}">
                <a16:creationId xmlns:a16="http://schemas.microsoft.com/office/drawing/2014/main" id="{26EC561D-F160-4B62-BBDE-F7B54DD23F23}"/>
              </a:ext>
            </a:extLst>
          </p:cNvPr>
          <p:cNvSpPr/>
          <p:nvPr/>
        </p:nvSpPr>
        <p:spPr>
          <a:xfrm>
            <a:off x="8851392" y="1737360"/>
            <a:ext cx="987552" cy="402336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41" name="Text 27">
            <a:extLst>
              <a:ext uri="{FF2B5EF4-FFF2-40B4-BE49-F238E27FC236}">
                <a16:creationId xmlns:a16="http://schemas.microsoft.com/office/drawing/2014/main" id="{619248EA-1473-4B4C-9CA1-52CD6AE196FA}"/>
              </a:ext>
            </a:extLst>
          </p:cNvPr>
          <p:cNvSpPr/>
          <p:nvPr/>
        </p:nvSpPr>
        <p:spPr>
          <a:xfrm>
            <a:off x="8851392" y="1737360"/>
            <a:ext cx="9875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900" dirty="0"/>
          </a:p>
        </p:txBody>
      </p:sp>
      <p:sp>
        <p:nvSpPr>
          <p:cNvPr id="142" name="Shape 28">
            <a:extLst>
              <a:ext uri="{FF2B5EF4-FFF2-40B4-BE49-F238E27FC236}">
                <a16:creationId xmlns:a16="http://schemas.microsoft.com/office/drawing/2014/main" id="{BCC4DF32-012B-4605-8503-9D89F1F54698}"/>
              </a:ext>
            </a:extLst>
          </p:cNvPr>
          <p:cNvSpPr/>
          <p:nvPr/>
        </p:nvSpPr>
        <p:spPr>
          <a:xfrm>
            <a:off x="9930384" y="1737360"/>
            <a:ext cx="987552" cy="402336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43" name="Text 29">
            <a:extLst>
              <a:ext uri="{FF2B5EF4-FFF2-40B4-BE49-F238E27FC236}">
                <a16:creationId xmlns:a16="http://schemas.microsoft.com/office/drawing/2014/main" id="{E30558AF-DCD4-4ACB-B5BE-58E631DD780E}"/>
              </a:ext>
            </a:extLst>
          </p:cNvPr>
          <p:cNvSpPr/>
          <p:nvPr/>
        </p:nvSpPr>
        <p:spPr>
          <a:xfrm>
            <a:off x="9930384" y="1737360"/>
            <a:ext cx="9875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★★☆☆☆</a:t>
            </a:r>
            <a:endParaRPr lang="en-US" sz="900" dirty="0"/>
          </a:p>
        </p:txBody>
      </p:sp>
      <p:sp>
        <p:nvSpPr>
          <p:cNvPr id="144" name="Shape 30">
            <a:extLst>
              <a:ext uri="{FF2B5EF4-FFF2-40B4-BE49-F238E27FC236}">
                <a16:creationId xmlns:a16="http://schemas.microsoft.com/office/drawing/2014/main" id="{9EC8A948-FC3F-44AE-BB8F-0D13F7C857A0}"/>
              </a:ext>
            </a:extLst>
          </p:cNvPr>
          <p:cNvSpPr/>
          <p:nvPr/>
        </p:nvSpPr>
        <p:spPr>
          <a:xfrm>
            <a:off x="11009376" y="1737360"/>
            <a:ext cx="987552" cy="402336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45" name="Text 31">
            <a:extLst>
              <a:ext uri="{FF2B5EF4-FFF2-40B4-BE49-F238E27FC236}">
                <a16:creationId xmlns:a16="http://schemas.microsoft.com/office/drawing/2014/main" id="{CE4CF323-9FCF-4A66-93AA-4DF835E8FDD5}"/>
              </a:ext>
            </a:extLst>
          </p:cNvPr>
          <p:cNvSpPr/>
          <p:nvPr/>
        </p:nvSpPr>
        <p:spPr>
          <a:xfrm>
            <a:off x="11009376" y="1737360"/>
            <a:ext cx="9875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★☆☆☆☆</a:t>
            </a:r>
            <a:endParaRPr lang="en-US" sz="900" dirty="0"/>
          </a:p>
        </p:txBody>
      </p:sp>
      <p:sp>
        <p:nvSpPr>
          <p:cNvPr id="146" name="Shape 32">
            <a:extLst>
              <a:ext uri="{FF2B5EF4-FFF2-40B4-BE49-F238E27FC236}">
                <a16:creationId xmlns:a16="http://schemas.microsoft.com/office/drawing/2014/main" id="{F45AA6DB-A714-4A67-8B8D-020EB1D037D6}"/>
              </a:ext>
            </a:extLst>
          </p:cNvPr>
          <p:cNvSpPr/>
          <p:nvPr/>
        </p:nvSpPr>
        <p:spPr>
          <a:xfrm>
            <a:off x="320040" y="2176272"/>
            <a:ext cx="7315200" cy="402336"/>
          </a:xfrm>
          <a:prstGeom prst="rect">
            <a:avLst/>
          </a:prstGeom>
          <a:solidFill>
            <a:srgbClr val="23232C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47" name="Text 33">
            <a:extLst>
              <a:ext uri="{FF2B5EF4-FFF2-40B4-BE49-F238E27FC236}">
                <a16:creationId xmlns:a16="http://schemas.microsoft.com/office/drawing/2014/main" id="{F45985F1-1436-49E1-AD1B-EFD6E910AA20}"/>
              </a:ext>
            </a:extLst>
          </p:cNvPr>
          <p:cNvSpPr/>
          <p:nvPr/>
        </p:nvSpPr>
        <p:spPr>
          <a:xfrm>
            <a:off x="411480" y="2176272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Группировка по жизненным ситуациям</a:t>
            </a:r>
            <a:endParaRPr lang="en-US" sz="1050" dirty="0"/>
          </a:p>
        </p:txBody>
      </p:sp>
      <p:sp>
        <p:nvSpPr>
          <p:cNvPr id="148" name="Shape 34">
            <a:extLst>
              <a:ext uri="{FF2B5EF4-FFF2-40B4-BE49-F238E27FC236}">
                <a16:creationId xmlns:a16="http://schemas.microsoft.com/office/drawing/2014/main" id="{B6679F57-2E6D-4BD3-9F24-78C08D801170}"/>
              </a:ext>
            </a:extLst>
          </p:cNvPr>
          <p:cNvSpPr/>
          <p:nvPr/>
        </p:nvSpPr>
        <p:spPr>
          <a:xfrm>
            <a:off x="7772400" y="2176272"/>
            <a:ext cx="987552" cy="402336"/>
          </a:xfrm>
          <a:prstGeom prst="rect">
            <a:avLst/>
          </a:prstGeom>
          <a:solidFill>
            <a:srgbClr val="23232C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49" name="Text 35">
            <a:extLst>
              <a:ext uri="{FF2B5EF4-FFF2-40B4-BE49-F238E27FC236}">
                <a16:creationId xmlns:a16="http://schemas.microsoft.com/office/drawing/2014/main" id="{DC12628C-0D09-48FC-A80D-140C4C6A6776}"/>
              </a:ext>
            </a:extLst>
          </p:cNvPr>
          <p:cNvSpPr/>
          <p:nvPr/>
        </p:nvSpPr>
        <p:spPr>
          <a:xfrm>
            <a:off x="7772400" y="2176272"/>
            <a:ext cx="9875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★★☆☆☆</a:t>
            </a:r>
            <a:endParaRPr lang="en-US" sz="900" dirty="0"/>
          </a:p>
        </p:txBody>
      </p:sp>
      <p:sp>
        <p:nvSpPr>
          <p:cNvPr id="150" name="Shape 36">
            <a:extLst>
              <a:ext uri="{FF2B5EF4-FFF2-40B4-BE49-F238E27FC236}">
                <a16:creationId xmlns:a16="http://schemas.microsoft.com/office/drawing/2014/main" id="{05F60BBB-D0DC-43FF-AA4E-D155AC0575FF}"/>
              </a:ext>
            </a:extLst>
          </p:cNvPr>
          <p:cNvSpPr/>
          <p:nvPr/>
        </p:nvSpPr>
        <p:spPr>
          <a:xfrm>
            <a:off x="8851392" y="2176272"/>
            <a:ext cx="987552" cy="402336"/>
          </a:xfrm>
          <a:prstGeom prst="rect">
            <a:avLst/>
          </a:prstGeom>
          <a:solidFill>
            <a:srgbClr val="23232C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51" name="Text 37">
            <a:extLst>
              <a:ext uri="{FF2B5EF4-FFF2-40B4-BE49-F238E27FC236}">
                <a16:creationId xmlns:a16="http://schemas.microsoft.com/office/drawing/2014/main" id="{4E6651A2-DC69-4B25-AB46-EB755030EC63}"/>
              </a:ext>
            </a:extLst>
          </p:cNvPr>
          <p:cNvSpPr/>
          <p:nvPr/>
        </p:nvSpPr>
        <p:spPr>
          <a:xfrm>
            <a:off x="8851392" y="2176272"/>
            <a:ext cx="9875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★★☆☆☆</a:t>
            </a:r>
            <a:endParaRPr lang="en-US" sz="900" dirty="0"/>
          </a:p>
        </p:txBody>
      </p:sp>
      <p:sp>
        <p:nvSpPr>
          <p:cNvPr id="152" name="Shape 38">
            <a:extLst>
              <a:ext uri="{FF2B5EF4-FFF2-40B4-BE49-F238E27FC236}">
                <a16:creationId xmlns:a16="http://schemas.microsoft.com/office/drawing/2014/main" id="{78644D0A-EB51-4FC9-B991-900421B8A2AC}"/>
              </a:ext>
            </a:extLst>
          </p:cNvPr>
          <p:cNvSpPr/>
          <p:nvPr/>
        </p:nvSpPr>
        <p:spPr>
          <a:xfrm>
            <a:off x="9930384" y="2176272"/>
            <a:ext cx="987552" cy="402336"/>
          </a:xfrm>
          <a:prstGeom prst="rect">
            <a:avLst/>
          </a:prstGeom>
          <a:solidFill>
            <a:srgbClr val="23232C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53" name="Text 39">
            <a:extLst>
              <a:ext uri="{FF2B5EF4-FFF2-40B4-BE49-F238E27FC236}">
                <a16:creationId xmlns:a16="http://schemas.microsoft.com/office/drawing/2014/main" id="{8118F987-A8A3-49CF-B963-DCC3EAD876CF}"/>
              </a:ext>
            </a:extLst>
          </p:cNvPr>
          <p:cNvSpPr/>
          <p:nvPr/>
        </p:nvSpPr>
        <p:spPr>
          <a:xfrm>
            <a:off x="9930384" y="2176272"/>
            <a:ext cx="9875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★☆☆☆☆</a:t>
            </a:r>
            <a:endParaRPr lang="en-US" sz="900" dirty="0"/>
          </a:p>
        </p:txBody>
      </p:sp>
      <p:sp>
        <p:nvSpPr>
          <p:cNvPr id="154" name="Shape 40">
            <a:extLst>
              <a:ext uri="{FF2B5EF4-FFF2-40B4-BE49-F238E27FC236}">
                <a16:creationId xmlns:a16="http://schemas.microsoft.com/office/drawing/2014/main" id="{CD9252D2-A90F-4CC6-A5B4-21F43273378A}"/>
              </a:ext>
            </a:extLst>
          </p:cNvPr>
          <p:cNvSpPr/>
          <p:nvPr/>
        </p:nvSpPr>
        <p:spPr>
          <a:xfrm>
            <a:off x="11009376" y="2176272"/>
            <a:ext cx="987552" cy="402336"/>
          </a:xfrm>
          <a:prstGeom prst="rect">
            <a:avLst/>
          </a:prstGeom>
          <a:solidFill>
            <a:srgbClr val="23232C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55" name="Text 41">
            <a:extLst>
              <a:ext uri="{FF2B5EF4-FFF2-40B4-BE49-F238E27FC236}">
                <a16:creationId xmlns:a16="http://schemas.microsoft.com/office/drawing/2014/main" id="{40B3B34D-FD6C-440D-9BB4-FD1B7E02EADA}"/>
              </a:ext>
            </a:extLst>
          </p:cNvPr>
          <p:cNvSpPr/>
          <p:nvPr/>
        </p:nvSpPr>
        <p:spPr>
          <a:xfrm>
            <a:off x="11009376" y="2176272"/>
            <a:ext cx="9875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★☆☆☆☆</a:t>
            </a:r>
            <a:endParaRPr lang="en-US" sz="900" dirty="0"/>
          </a:p>
        </p:txBody>
      </p:sp>
      <p:sp>
        <p:nvSpPr>
          <p:cNvPr id="156" name="Shape 42">
            <a:extLst>
              <a:ext uri="{FF2B5EF4-FFF2-40B4-BE49-F238E27FC236}">
                <a16:creationId xmlns:a16="http://schemas.microsoft.com/office/drawing/2014/main" id="{6361DAA2-A89B-41F2-8F90-2040924731A4}"/>
              </a:ext>
            </a:extLst>
          </p:cNvPr>
          <p:cNvSpPr/>
          <p:nvPr/>
        </p:nvSpPr>
        <p:spPr>
          <a:xfrm>
            <a:off x="320040" y="2615184"/>
            <a:ext cx="7315200" cy="402336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57" name="Text 43">
            <a:extLst>
              <a:ext uri="{FF2B5EF4-FFF2-40B4-BE49-F238E27FC236}">
                <a16:creationId xmlns:a16="http://schemas.microsoft.com/office/drawing/2014/main" id="{9322FAD4-940C-4621-961C-128DB3FF564B}"/>
              </a:ext>
            </a:extLst>
          </p:cNvPr>
          <p:cNvSpPr/>
          <p:nvPr/>
        </p:nvSpPr>
        <p:spPr>
          <a:xfrm>
            <a:off x="411480" y="2615184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Персонализация офферов продуктов</a:t>
            </a:r>
            <a:endParaRPr lang="en-US" sz="1050" dirty="0"/>
          </a:p>
        </p:txBody>
      </p:sp>
      <p:sp>
        <p:nvSpPr>
          <p:cNvPr id="158" name="Shape 44">
            <a:extLst>
              <a:ext uri="{FF2B5EF4-FFF2-40B4-BE49-F238E27FC236}">
                <a16:creationId xmlns:a16="http://schemas.microsoft.com/office/drawing/2014/main" id="{CFC82411-7E90-4CF4-BD2E-B60A0FE3AE43}"/>
              </a:ext>
            </a:extLst>
          </p:cNvPr>
          <p:cNvSpPr/>
          <p:nvPr/>
        </p:nvSpPr>
        <p:spPr>
          <a:xfrm>
            <a:off x="7772400" y="2615184"/>
            <a:ext cx="987552" cy="402336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59" name="Text 45">
            <a:extLst>
              <a:ext uri="{FF2B5EF4-FFF2-40B4-BE49-F238E27FC236}">
                <a16:creationId xmlns:a16="http://schemas.microsoft.com/office/drawing/2014/main" id="{38192498-1BD6-4771-BCDD-8B726545AC0A}"/>
              </a:ext>
            </a:extLst>
          </p:cNvPr>
          <p:cNvSpPr/>
          <p:nvPr/>
        </p:nvSpPr>
        <p:spPr>
          <a:xfrm>
            <a:off x="7772400" y="2615184"/>
            <a:ext cx="9875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★★★☆☆</a:t>
            </a:r>
            <a:endParaRPr lang="en-US" sz="900" dirty="0"/>
          </a:p>
        </p:txBody>
      </p:sp>
      <p:sp>
        <p:nvSpPr>
          <p:cNvPr id="160" name="Shape 46">
            <a:extLst>
              <a:ext uri="{FF2B5EF4-FFF2-40B4-BE49-F238E27FC236}">
                <a16:creationId xmlns:a16="http://schemas.microsoft.com/office/drawing/2014/main" id="{68A8457D-E2AB-4FDA-B202-1DBE1410C7A5}"/>
              </a:ext>
            </a:extLst>
          </p:cNvPr>
          <p:cNvSpPr/>
          <p:nvPr/>
        </p:nvSpPr>
        <p:spPr>
          <a:xfrm>
            <a:off x="8851392" y="2615184"/>
            <a:ext cx="987552" cy="402336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61" name="Text 47">
            <a:extLst>
              <a:ext uri="{FF2B5EF4-FFF2-40B4-BE49-F238E27FC236}">
                <a16:creationId xmlns:a16="http://schemas.microsoft.com/office/drawing/2014/main" id="{4590818A-169C-46D2-AA37-F55A4BB1AB97}"/>
              </a:ext>
            </a:extLst>
          </p:cNvPr>
          <p:cNvSpPr/>
          <p:nvPr/>
        </p:nvSpPr>
        <p:spPr>
          <a:xfrm>
            <a:off x="8851392" y="2615184"/>
            <a:ext cx="9875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★★★★☆</a:t>
            </a:r>
            <a:endParaRPr lang="en-US" sz="900" dirty="0"/>
          </a:p>
        </p:txBody>
      </p:sp>
      <p:sp>
        <p:nvSpPr>
          <p:cNvPr id="162" name="Shape 48">
            <a:extLst>
              <a:ext uri="{FF2B5EF4-FFF2-40B4-BE49-F238E27FC236}">
                <a16:creationId xmlns:a16="http://schemas.microsoft.com/office/drawing/2014/main" id="{1775205F-FE69-400A-9C5C-33499DC976A7}"/>
              </a:ext>
            </a:extLst>
          </p:cNvPr>
          <p:cNvSpPr/>
          <p:nvPr/>
        </p:nvSpPr>
        <p:spPr>
          <a:xfrm>
            <a:off x="9930384" y="2615184"/>
            <a:ext cx="987552" cy="402336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63" name="Text 49">
            <a:extLst>
              <a:ext uri="{FF2B5EF4-FFF2-40B4-BE49-F238E27FC236}">
                <a16:creationId xmlns:a16="http://schemas.microsoft.com/office/drawing/2014/main" id="{21DEB3AC-7856-455F-B242-F464036E65F7}"/>
              </a:ext>
            </a:extLst>
          </p:cNvPr>
          <p:cNvSpPr/>
          <p:nvPr/>
        </p:nvSpPr>
        <p:spPr>
          <a:xfrm>
            <a:off x="9930384" y="2615184"/>
            <a:ext cx="9875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★★★☆☆</a:t>
            </a:r>
            <a:endParaRPr lang="en-US" sz="900" dirty="0"/>
          </a:p>
        </p:txBody>
      </p:sp>
      <p:sp>
        <p:nvSpPr>
          <p:cNvPr id="164" name="Shape 50">
            <a:extLst>
              <a:ext uri="{FF2B5EF4-FFF2-40B4-BE49-F238E27FC236}">
                <a16:creationId xmlns:a16="http://schemas.microsoft.com/office/drawing/2014/main" id="{C1EBB0B8-EDB1-42C3-842A-0DFA5DFA9A8A}"/>
              </a:ext>
            </a:extLst>
          </p:cNvPr>
          <p:cNvSpPr/>
          <p:nvPr/>
        </p:nvSpPr>
        <p:spPr>
          <a:xfrm>
            <a:off x="11009376" y="2615184"/>
            <a:ext cx="987552" cy="402336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65" name="Text 51">
            <a:extLst>
              <a:ext uri="{FF2B5EF4-FFF2-40B4-BE49-F238E27FC236}">
                <a16:creationId xmlns:a16="http://schemas.microsoft.com/office/drawing/2014/main" id="{0C21AE80-2D99-46DE-A779-2B5A59554711}"/>
              </a:ext>
            </a:extLst>
          </p:cNvPr>
          <p:cNvSpPr/>
          <p:nvPr/>
        </p:nvSpPr>
        <p:spPr>
          <a:xfrm>
            <a:off x="11009376" y="2615184"/>
            <a:ext cx="9875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★★☆☆☆</a:t>
            </a:r>
            <a:endParaRPr lang="en-US" sz="900" dirty="0"/>
          </a:p>
        </p:txBody>
      </p:sp>
      <p:sp>
        <p:nvSpPr>
          <p:cNvPr id="166" name="Shape 52">
            <a:extLst>
              <a:ext uri="{FF2B5EF4-FFF2-40B4-BE49-F238E27FC236}">
                <a16:creationId xmlns:a16="http://schemas.microsoft.com/office/drawing/2014/main" id="{CE5688DC-D6A9-455F-874C-26647912823A}"/>
              </a:ext>
            </a:extLst>
          </p:cNvPr>
          <p:cNvSpPr/>
          <p:nvPr/>
        </p:nvSpPr>
        <p:spPr>
          <a:xfrm>
            <a:off x="320040" y="3054096"/>
            <a:ext cx="7315200" cy="402336"/>
          </a:xfrm>
          <a:prstGeom prst="rect">
            <a:avLst/>
          </a:prstGeom>
          <a:solidFill>
            <a:srgbClr val="23232C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67" name="Text 53">
            <a:extLst>
              <a:ext uri="{FF2B5EF4-FFF2-40B4-BE49-F238E27FC236}">
                <a16:creationId xmlns:a16="http://schemas.microsoft.com/office/drawing/2014/main" id="{F375CEAF-826B-407A-8969-821AFC6A7FD2}"/>
              </a:ext>
            </a:extLst>
          </p:cNvPr>
          <p:cNvSpPr/>
          <p:nvPr/>
        </p:nvSpPr>
        <p:spPr>
          <a:xfrm>
            <a:off x="411480" y="3054096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Геймификация и задания</a:t>
            </a:r>
            <a:endParaRPr lang="en-US" sz="1050" dirty="0"/>
          </a:p>
        </p:txBody>
      </p:sp>
      <p:sp>
        <p:nvSpPr>
          <p:cNvPr id="168" name="Shape 54">
            <a:extLst>
              <a:ext uri="{FF2B5EF4-FFF2-40B4-BE49-F238E27FC236}">
                <a16:creationId xmlns:a16="http://schemas.microsoft.com/office/drawing/2014/main" id="{7066E22A-9DCB-4EDF-AF4A-C416D14B01B9}"/>
              </a:ext>
            </a:extLst>
          </p:cNvPr>
          <p:cNvSpPr/>
          <p:nvPr/>
        </p:nvSpPr>
        <p:spPr>
          <a:xfrm>
            <a:off x="7772400" y="3054096"/>
            <a:ext cx="987552" cy="402336"/>
          </a:xfrm>
          <a:prstGeom prst="rect">
            <a:avLst/>
          </a:prstGeom>
          <a:solidFill>
            <a:srgbClr val="23232C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69" name="Text 55">
            <a:extLst>
              <a:ext uri="{FF2B5EF4-FFF2-40B4-BE49-F238E27FC236}">
                <a16:creationId xmlns:a16="http://schemas.microsoft.com/office/drawing/2014/main" id="{ECA85971-71CD-4196-96C0-0F421785BAD3}"/>
              </a:ext>
            </a:extLst>
          </p:cNvPr>
          <p:cNvSpPr/>
          <p:nvPr/>
        </p:nvSpPr>
        <p:spPr>
          <a:xfrm>
            <a:off x="7772400" y="3054096"/>
            <a:ext cx="9875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★★★★☆</a:t>
            </a:r>
            <a:endParaRPr lang="en-US" sz="900" dirty="0"/>
          </a:p>
        </p:txBody>
      </p:sp>
      <p:sp>
        <p:nvSpPr>
          <p:cNvPr id="170" name="Shape 56">
            <a:extLst>
              <a:ext uri="{FF2B5EF4-FFF2-40B4-BE49-F238E27FC236}">
                <a16:creationId xmlns:a16="http://schemas.microsoft.com/office/drawing/2014/main" id="{0191CAFE-9847-4931-AE54-A5D37366994E}"/>
              </a:ext>
            </a:extLst>
          </p:cNvPr>
          <p:cNvSpPr/>
          <p:nvPr/>
        </p:nvSpPr>
        <p:spPr>
          <a:xfrm>
            <a:off x="8851392" y="3054096"/>
            <a:ext cx="987552" cy="402336"/>
          </a:xfrm>
          <a:prstGeom prst="rect">
            <a:avLst/>
          </a:prstGeom>
          <a:solidFill>
            <a:srgbClr val="23232C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71" name="Text 57">
            <a:extLst>
              <a:ext uri="{FF2B5EF4-FFF2-40B4-BE49-F238E27FC236}">
                <a16:creationId xmlns:a16="http://schemas.microsoft.com/office/drawing/2014/main" id="{54340781-AAB3-4063-9BBE-BC45F770DCE9}"/>
              </a:ext>
            </a:extLst>
          </p:cNvPr>
          <p:cNvSpPr/>
          <p:nvPr/>
        </p:nvSpPr>
        <p:spPr>
          <a:xfrm>
            <a:off x="8851392" y="3054096"/>
            <a:ext cx="9875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★★☆☆☆</a:t>
            </a:r>
            <a:endParaRPr lang="en-US" sz="900" dirty="0"/>
          </a:p>
        </p:txBody>
      </p:sp>
      <p:sp>
        <p:nvSpPr>
          <p:cNvPr id="172" name="Shape 58">
            <a:extLst>
              <a:ext uri="{FF2B5EF4-FFF2-40B4-BE49-F238E27FC236}">
                <a16:creationId xmlns:a16="http://schemas.microsoft.com/office/drawing/2014/main" id="{5D8B85F5-EBBE-4F36-A919-A7A96E003881}"/>
              </a:ext>
            </a:extLst>
          </p:cNvPr>
          <p:cNvSpPr/>
          <p:nvPr/>
        </p:nvSpPr>
        <p:spPr>
          <a:xfrm>
            <a:off x="9930384" y="3054096"/>
            <a:ext cx="987552" cy="402336"/>
          </a:xfrm>
          <a:prstGeom prst="rect">
            <a:avLst/>
          </a:prstGeom>
          <a:solidFill>
            <a:srgbClr val="23232C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73" name="Text 59">
            <a:extLst>
              <a:ext uri="{FF2B5EF4-FFF2-40B4-BE49-F238E27FC236}">
                <a16:creationId xmlns:a16="http://schemas.microsoft.com/office/drawing/2014/main" id="{F7EB78CB-B5E0-4082-8629-4B33C1EB49B5}"/>
              </a:ext>
            </a:extLst>
          </p:cNvPr>
          <p:cNvSpPr/>
          <p:nvPr/>
        </p:nvSpPr>
        <p:spPr>
          <a:xfrm>
            <a:off x="9930384" y="3054096"/>
            <a:ext cx="9875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★☆☆☆☆</a:t>
            </a:r>
            <a:endParaRPr lang="en-US" sz="900" dirty="0"/>
          </a:p>
        </p:txBody>
      </p:sp>
      <p:sp>
        <p:nvSpPr>
          <p:cNvPr id="174" name="Shape 60">
            <a:extLst>
              <a:ext uri="{FF2B5EF4-FFF2-40B4-BE49-F238E27FC236}">
                <a16:creationId xmlns:a16="http://schemas.microsoft.com/office/drawing/2014/main" id="{11628F2F-205B-45C6-9464-F01D78F54EB0}"/>
              </a:ext>
            </a:extLst>
          </p:cNvPr>
          <p:cNvSpPr/>
          <p:nvPr/>
        </p:nvSpPr>
        <p:spPr>
          <a:xfrm>
            <a:off x="11009376" y="3054096"/>
            <a:ext cx="987552" cy="402336"/>
          </a:xfrm>
          <a:prstGeom prst="rect">
            <a:avLst/>
          </a:prstGeom>
          <a:solidFill>
            <a:srgbClr val="23232C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75" name="Text 61">
            <a:extLst>
              <a:ext uri="{FF2B5EF4-FFF2-40B4-BE49-F238E27FC236}">
                <a16:creationId xmlns:a16="http://schemas.microsoft.com/office/drawing/2014/main" id="{4B4BCFCE-39A8-4352-AE88-F5CE03582700}"/>
              </a:ext>
            </a:extLst>
          </p:cNvPr>
          <p:cNvSpPr/>
          <p:nvPr/>
        </p:nvSpPr>
        <p:spPr>
          <a:xfrm>
            <a:off x="11009376" y="3054096"/>
            <a:ext cx="9875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★☆☆☆☆</a:t>
            </a:r>
            <a:endParaRPr lang="en-US" sz="900" dirty="0"/>
          </a:p>
        </p:txBody>
      </p:sp>
      <p:sp>
        <p:nvSpPr>
          <p:cNvPr id="176" name="Shape 62">
            <a:extLst>
              <a:ext uri="{FF2B5EF4-FFF2-40B4-BE49-F238E27FC236}">
                <a16:creationId xmlns:a16="http://schemas.microsoft.com/office/drawing/2014/main" id="{4A0AAA01-1DAA-4D4D-9657-F69CB0658F51}"/>
              </a:ext>
            </a:extLst>
          </p:cNvPr>
          <p:cNvSpPr/>
          <p:nvPr/>
        </p:nvSpPr>
        <p:spPr>
          <a:xfrm>
            <a:off x="320040" y="3493008"/>
            <a:ext cx="7315200" cy="402336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77" name="Text 63">
            <a:extLst>
              <a:ext uri="{FF2B5EF4-FFF2-40B4-BE49-F238E27FC236}">
                <a16:creationId xmlns:a16="http://schemas.microsoft.com/office/drawing/2014/main" id="{01809793-6BF7-4A67-B816-C68A199EE6F4}"/>
              </a:ext>
            </a:extLst>
          </p:cNvPr>
          <p:cNvSpPr/>
          <p:nvPr/>
        </p:nvSpPr>
        <p:spPr>
          <a:xfrm>
            <a:off x="411480" y="349300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Кастомизация главного пользователем</a:t>
            </a:r>
            <a:endParaRPr lang="en-US" sz="1050" dirty="0"/>
          </a:p>
        </p:txBody>
      </p:sp>
      <p:sp>
        <p:nvSpPr>
          <p:cNvPr id="178" name="Shape 64">
            <a:extLst>
              <a:ext uri="{FF2B5EF4-FFF2-40B4-BE49-F238E27FC236}">
                <a16:creationId xmlns:a16="http://schemas.microsoft.com/office/drawing/2014/main" id="{028210B1-4434-43A8-B660-B16EA5019BE0}"/>
              </a:ext>
            </a:extLst>
          </p:cNvPr>
          <p:cNvSpPr/>
          <p:nvPr/>
        </p:nvSpPr>
        <p:spPr>
          <a:xfrm>
            <a:off x="7772400" y="3493008"/>
            <a:ext cx="987552" cy="402336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79" name="Text 65">
            <a:extLst>
              <a:ext uri="{FF2B5EF4-FFF2-40B4-BE49-F238E27FC236}">
                <a16:creationId xmlns:a16="http://schemas.microsoft.com/office/drawing/2014/main" id="{035481A4-39D0-4A37-9F9B-146093661168}"/>
              </a:ext>
            </a:extLst>
          </p:cNvPr>
          <p:cNvSpPr/>
          <p:nvPr/>
        </p:nvSpPr>
        <p:spPr>
          <a:xfrm>
            <a:off x="7772400" y="3493008"/>
            <a:ext cx="9875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★★☆☆☆</a:t>
            </a:r>
            <a:endParaRPr lang="en-US" sz="900" dirty="0"/>
          </a:p>
        </p:txBody>
      </p:sp>
      <p:sp>
        <p:nvSpPr>
          <p:cNvPr id="180" name="Shape 66">
            <a:extLst>
              <a:ext uri="{FF2B5EF4-FFF2-40B4-BE49-F238E27FC236}">
                <a16:creationId xmlns:a16="http://schemas.microsoft.com/office/drawing/2014/main" id="{6980FFF8-F187-45EF-BA8E-7241A1E3DA50}"/>
              </a:ext>
            </a:extLst>
          </p:cNvPr>
          <p:cNvSpPr/>
          <p:nvPr/>
        </p:nvSpPr>
        <p:spPr>
          <a:xfrm>
            <a:off x="8851392" y="3493008"/>
            <a:ext cx="987552" cy="402336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81" name="Text 67">
            <a:extLst>
              <a:ext uri="{FF2B5EF4-FFF2-40B4-BE49-F238E27FC236}">
                <a16:creationId xmlns:a16="http://schemas.microsoft.com/office/drawing/2014/main" id="{DB1A8CB4-9394-429E-BE5B-C067481685E4}"/>
              </a:ext>
            </a:extLst>
          </p:cNvPr>
          <p:cNvSpPr/>
          <p:nvPr/>
        </p:nvSpPr>
        <p:spPr>
          <a:xfrm>
            <a:off x="8851392" y="3493008"/>
            <a:ext cx="9875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★★☆☆☆</a:t>
            </a:r>
            <a:endParaRPr lang="en-US" sz="900" dirty="0"/>
          </a:p>
        </p:txBody>
      </p:sp>
      <p:sp>
        <p:nvSpPr>
          <p:cNvPr id="182" name="Shape 68">
            <a:extLst>
              <a:ext uri="{FF2B5EF4-FFF2-40B4-BE49-F238E27FC236}">
                <a16:creationId xmlns:a16="http://schemas.microsoft.com/office/drawing/2014/main" id="{C22B237C-96F1-4539-AA56-7976CD7D9094}"/>
              </a:ext>
            </a:extLst>
          </p:cNvPr>
          <p:cNvSpPr/>
          <p:nvPr/>
        </p:nvSpPr>
        <p:spPr>
          <a:xfrm>
            <a:off x="9930384" y="3493008"/>
            <a:ext cx="987552" cy="402336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83" name="Text 69">
            <a:extLst>
              <a:ext uri="{FF2B5EF4-FFF2-40B4-BE49-F238E27FC236}">
                <a16:creationId xmlns:a16="http://schemas.microsoft.com/office/drawing/2014/main" id="{A4BE4202-549F-4496-88B2-ED976A48DF5B}"/>
              </a:ext>
            </a:extLst>
          </p:cNvPr>
          <p:cNvSpPr/>
          <p:nvPr/>
        </p:nvSpPr>
        <p:spPr>
          <a:xfrm>
            <a:off x="9930384" y="3493008"/>
            <a:ext cx="9875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★★★★☆</a:t>
            </a:r>
            <a:endParaRPr lang="en-US" sz="900" dirty="0"/>
          </a:p>
        </p:txBody>
      </p:sp>
      <p:sp>
        <p:nvSpPr>
          <p:cNvPr id="184" name="Shape 70">
            <a:extLst>
              <a:ext uri="{FF2B5EF4-FFF2-40B4-BE49-F238E27FC236}">
                <a16:creationId xmlns:a16="http://schemas.microsoft.com/office/drawing/2014/main" id="{E93C32F9-DD24-42DF-94D6-41890C893D1A}"/>
              </a:ext>
            </a:extLst>
          </p:cNvPr>
          <p:cNvSpPr/>
          <p:nvPr/>
        </p:nvSpPr>
        <p:spPr>
          <a:xfrm>
            <a:off x="11009376" y="3493008"/>
            <a:ext cx="987552" cy="402336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85" name="Text 71">
            <a:extLst>
              <a:ext uri="{FF2B5EF4-FFF2-40B4-BE49-F238E27FC236}">
                <a16:creationId xmlns:a16="http://schemas.microsoft.com/office/drawing/2014/main" id="{3047B4C2-9B67-409E-AD3E-B13AA91EE0C4}"/>
              </a:ext>
            </a:extLst>
          </p:cNvPr>
          <p:cNvSpPr/>
          <p:nvPr/>
        </p:nvSpPr>
        <p:spPr>
          <a:xfrm>
            <a:off x="11009376" y="3493008"/>
            <a:ext cx="9875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★☆☆☆☆</a:t>
            </a:r>
            <a:endParaRPr lang="en-US" sz="900" dirty="0"/>
          </a:p>
        </p:txBody>
      </p:sp>
      <p:sp>
        <p:nvSpPr>
          <p:cNvPr id="186" name="Shape 72">
            <a:extLst>
              <a:ext uri="{FF2B5EF4-FFF2-40B4-BE49-F238E27FC236}">
                <a16:creationId xmlns:a16="http://schemas.microsoft.com/office/drawing/2014/main" id="{EA1BB201-874B-4D2E-A1C4-40C0F74501C9}"/>
              </a:ext>
            </a:extLst>
          </p:cNvPr>
          <p:cNvSpPr/>
          <p:nvPr/>
        </p:nvSpPr>
        <p:spPr>
          <a:xfrm>
            <a:off x="320040" y="3931920"/>
            <a:ext cx="7315200" cy="402336"/>
          </a:xfrm>
          <a:prstGeom prst="rect">
            <a:avLst/>
          </a:prstGeom>
          <a:solidFill>
            <a:srgbClr val="23232C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87" name="Text 73">
            <a:extLst>
              <a:ext uri="{FF2B5EF4-FFF2-40B4-BE49-F238E27FC236}">
                <a16:creationId xmlns:a16="http://schemas.microsoft.com/office/drawing/2014/main" id="{6F1403A6-8756-4AAE-9B3C-0E47DCF862E7}"/>
              </a:ext>
            </a:extLst>
          </p:cNvPr>
          <p:cNvSpPr/>
          <p:nvPr/>
        </p:nvSpPr>
        <p:spPr>
          <a:xfrm>
            <a:off x="411480" y="3931920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Накопления с прогресс-целями</a:t>
            </a:r>
            <a:endParaRPr lang="en-US" sz="1050" dirty="0"/>
          </a:p>
        </p:txBody>
      </p:sp>
      <p:sp>
        <p:nvSpPr>
          <p:cNvPr id="188" name="Shape 74">
            <a:extLst>
              <a:ext uri="{FF2B5EF4-FFF2-40B4-BE49-F238E27FC236}">
                <a16:creationId xmlns:a16="http://schemas.microsoft.com/office/drawing/2014/main" id="{14261760-43CF-4688-BEC7-DEA52D6D3400}"/>
              </a:ext>
            </a:extLst>
          </p:cNvPr>
          <p:cNvSpPr/>
          <p:nvPr/>
        </p:nvSpPr>
        <p:spPr>
          <a:xfrm>
            <a:off x="7772400" y="3931920"/>
            <a:ext cx="987552" cy="402336"/>
          </a:xfrm>
          <a:prstGeom prst="rect">
            <a:avLst/>
          </a:prstGeom>
          <a:solidFill>
            <a:srgbClr val="23232C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58" name="Text 75">
            <a:extLst>
              <a:ext uri="{FF2B5EF4-FFF2-40B4-BE49-F238E27FC236}">
                <a16:creationId xmlns:a16="http://schemas.microsoft.com/office/drawing/2014/main" id="{37736C75-BDF2-4EDF-A0DD-4B3FA2569176}"/>
              </a:ext>
            </a:extLst>
          </p:cNvPr>
          <p:cNvSpPr/>
          <p:nvPr/>
        </p:nvSpPr>
        <p:spPr>
          <a:xfrm>
            <a:off x="7772400" y="3931920"/>
            <a:ext cx="9875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★★☆☆☆</a:t>
            </a:r>
            <a:endParaRPr lang="en-US" sz="900" dirty="0"/>
          </a:p>
        </p:txBody>
      </p:sp>
      <p:sp>
        <p:nvSpPr>
          <p:cNvPr id="259" name="Shape 76">
            <a:extLst>
              <a:ext uri="{FF2B5EF4-FFF2-40B4-BE49-F238E27FC236}">
                <a16:creationId xmlns:a16="http://schemas.microsoft.com/office/drawing/2014/main" id="{3EACF35C-B1FF-45A2-B6E0-951470282BF2}"/>
              </a:ext>
            </a:extLst>
          </p:cNvPr>
          <p:cNvSpPr/>
          <p:nvPr/>
        </p:nvSpPr>
        <p:spPr>
          <a:xfrm>
            <a:off x="8851392" y="3931920"/>
            <a:ext cx="987552" cy="402336"/>
          </a:xfrm>
          <a:prstGeom prst="rect">
            <a:avLst/>
          </a:prstGeom>
          <a:solidFill>
            <a:srgbClr val="23232C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60" name="Text 77">
            <a:extLst>
              <a:ext uri="{FF2B5EF4-FFF2-40B4-BE49-F238E27FC236}">
                <a16:creationId xmlns:a16="http://schemas.microsoft.com/office/drawing/2014/main" id="{B63834F7-D204-43D8-B000-380368C49F6D}"/>
              </a:ext>
            </a:extLst>
          </p:cNvPr>
          <p:cNvSpPr/>
          <p:nvPr/>
        </p:nvSpPr>
        <p:spPr>
          <a:xfrm>
            <a:off x="8851392" y="3931920"/>
            <a:ext cx="9875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900" dirty="0"/>
          </a:p>
        </p:txBody>
      </p:sp>
      <p:sp>
        <p:nvSpPr>
          <p:cNvPr id="261" name="Shape 78">
            <a:extLst>
              <a:ext uri="{FF2B5EF4-FFF2-40B4-BE49-F238E27FC236}">
                <a16:creationId xmlns:a16="http://schemas.microsoft.com/office/drawing/2014/main" id="{4506FD8E-85B9-4E81-BBB1-3DD5930D632A}"/>
              </a:ext>
            </a:extLst>
          </p:cNvPr>
          <p:cNvSpPr/>
          <p:nvPr/>
        </p:nvSpPr>
        <p:spPr>
          <a:xfrm>
            <a:off x="9930384" y="3931920"/>
            <a:ext cx="987552" cy="402336"/>
          </a:xfrm>
          <a:prstGeom prst="rect">
            <a:avLst/>
          </a:prstGeom>
          <a:solidFill>
            <a:srgbClr val="23232C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62" name="Text 79">
            <a:extLst>
              <a:ext uri="{FF2B5EF4-FFF2-40B4-BE49-F238E27FC236}">
                <a16:creationId xmlns:a16="http://schemas.microsoft.com/office/drawing/2014/main" id="{288A451A-6D5B-41FC-A9D6-57AFBB84B9A4}"/>
              </a:ext>
            </a:extLst>
          </p:cNvPr>
          <p:cNvSpPr/>
          <p:nvPr/>
        </p:nvSpPr>
        <p:spPr>
          <a:xfrm>
            <a:off x="9930384" y="3931920"/>
            <a:ext cx="9875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★★☆☆☆</a:t>
            </a:r>
            <a:endParaRPr lang="en-US" sz="900" dirty="0"/>
          </a:p>
        </p:txBody>
      </p:sp>
      <p:sp>
        <p:nvSpPr>
          <p:cNvPr id="263" name="Shape 80">
            <a:extLst>
              <a:ext uri="{FF2B5EF4-FFF2-40B4-BE49-F238E27FC236}">
                <a16:creationId xmlns:a16="http://schemas.microsoft.com/office/drawing/2014/main" id="{128F4AD3-9164-47BB-87E5-75A23F483A08}"/>
              </a:ext>
            </a:extLst>
          </p:cNvPr>
          <p:cNvSpPr/>
          <p:nvPr/>
        </p:nvSpPr>
        <p:spPr>
          <a:xfrm>
            <a:off x="11009376" y="3931920"/>
            <a:ext cx="987552" cy="402336"/>
          </a:xfrm>
          <a:prstGeom prst="rect">
            <a:avLst/>
          </a:prstGeom>
          <a:solidFill>
            <a:srgbClr val="23232C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64" name="Text 81">
            <a:extLst>
              <a:ext uri="{FF2B5EF4-FFF2-40B4-BE49-F238E27FC236}">
                <a16:creationId xmlns:a16="http://schemas.microsoft.com/office/drawing/2014/main" id="{52843152-6FBE-4A22-A286-C330239BD889}"/>
              </a:ext>
            </a:extLst>
          </p:cNvPr>
          <p:cNvSpPr/>
          <p:nvPr/>
        </p:nvSpPr>
        <p:spPr>
          <a:xfrm>
            <a:off x="11009376" y="3931920"/>
            <a:ext cx="9875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★☆☆☆☆</a:t>
            </a:r>
            <a:endParaRPr lang="en-US" sz="900" dirty="0"/>
          </a:p>
        </p:txBody>
      </p:sp>
      <p:sp>
        <p:nvSpPr>
          <p:cNvPr id="265" name="Shape 82">
            <a:extLst>
              <a:ext uri="{FF2B5EF4-FFF2-40B4-BE49-F238E27FC236}">
                <a16:creationId xmlns:a16="http://schemas.microsoft.com/office/drawing/2014/main" id="{FF8FA0F4-23DF-4EB1-B528-835719A9301F}"/>
              </a:ext>
            </a:extLst>
          </p:cNvPr>
          <p:cNvSpPr/>
          <p:nvPr/>
        </p:nvSpPr>
        <p:spPr>
          <a:xfrm>
            <a:off x="320040" y="4370832"/>
            <a:ext cx="7315200" cy="402336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66" name="Text 83">
            <a:extLst>
              <a:ext uri="{FF2B5EF4-FFF2-40B4-BE49-F238E27FC236}">
                <a16:creationId xmlns:a16="http://schemas.microsoft.com/office/drawing/2014/main" id="{D35EF6B2-AF93-4144-A216-B4012DACC26C}"/>
              </a:ext>
            </a:extLst>
          </p:cNvPr>
          <p:cNvSpPr/>
          <p:nvPr/>
        </p:nvSpPr>
        <p:spPr>
          <a:xfrm>
            <a:off x="411480" y="4370832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Скорость доступа к частым сценариям</a:t>
            </a:r>
            <a:endParaRPr lang="en-US" sz="1050" dirty="0"/>
          </a:p>
        </p:txBody>
      </p:sp>
      <p:sp>
        <p:nvSpPr>
          <p:cNvPr id="267" name="Shape 84">
            <a:extLst>
              <a:ext uri="{FF2B5EF4-FFF2-40B4-BE49-F238E27FC236}">
                <a16:creationId xmlns:a16="http://schemas.microsoft.com/office/drawing/2014/main" id="{4EBEB424-A25A-410D-BE08-E7B6C22A4FA3}"/>
              </a:ext>
            </a:extLst>
          </p:cNvPr>
          <p:cNvSpPr/>
          <p:nvPr/>
        </p:nvSpPr>
        <p:spPr>
          <a:xfrm>
            <a:off x="7772400" y="4370832"/>
            <a:ext cx="987552" cy="402336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68" name="Text 85">
            <a:extLst>
              <a:ext uri="{FF2B5EF4-FFF2-40B4-BE49-F238E27FC236}">
                <a16:creationId xmlns:a16="http://schemas.microsoft.com/office/drawing/2014/main" id="{04C49771-7B74-447C-B44B-D9107DD7E64D}"/>
              </a:ext>
            </a:extLst>
          </p:cNvPr>
          <p:cNvSpPr/>
          <p:nvPr/>
        </p:nvSpPr>
        <p:spPr>
          <a:xfrm>
            <a:off x="7772400" y="4370832"/>
            <a:ext cx="9875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★★★☆☆</a:t>
            </a:r>
            <a:endParaRPr lang="en-US" sz="900" dirty="0"/>
          </a:p>
        </p:txBody>
      </p:sp>
      <p:sp>
        <p:nvSpPr>
          <p:cNvPr id="269" name="Shape 86">
            <a:extLst>
              <a:ext uri="{FF2B5EF4-FFF2-40B4-BE49-F238E27FC236}">
                <a16:creationId xmlns:a16="http://schemas.microsoft.com/office/drawing/2014/main" id="{1217910D-550B-46E9-ABC4-229A29AB36DE}"/>
              </a:ext>
            </a:extLst>
          </p:cNvPr>
          <p:cNvSpPr/>
          <p:nvPr/>
        </p:nvSpPr>
        <p:spPr>
          <a:xfrm>
            <a:off x="8851392" y="4370832"/>
            <a:ext cx="987552" cy="402336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70" name="Text 87">
            <a:extLst>
              <a:ext uri="{FF2B5EF4-FFF2-40B4-BE49-F238E27FC236}">
                <a16:creationId xmlns:a16="http://schemas.microsoft.com/office/drawing/2014/main" id="{DDBEFD02-A0BD-4415-8C49-03054C0E3753}"/>
              </a:ext>
            </a:extLst>
          </p:cNvPr>
          <p:cNvSpPr/>
          <p:nvPr/>
        </p:nvSpPr>
        <p:spPr>
          <a:xfrm>
            <a:off x="8851392" y="4370832"/>
            <a:ext cx="9875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★★★★☆</a:t>
            </a:r>
            <a:endParaRPr lang="en-US" sz="900" dirty="0"/>
          </a:p>
        </p:txBody>
      </p:sp>
      <p:sp>
        <p:nvSpPr>
          <p:cNvPr id="271" name="Shape 88">
            <a:extLst>
              <a:ext uri="{FF2B5EF4-FFF2-40B4-BE49-F238E27FC236}">
                <a16:creationId xmlns:a16="http://schemas.microsoft.com/office/drawing/2014/main" id="{EFD252B1-B43E-43E2-A386-93A2C14B8140}"/>
              </a:ext>
            </a:extLst>
          </p:cNvPr>
          <p:cNvSpPr/>
          <p:nvPr/>
        </p:nvSpPr>
        <p:spPr>
          <a:xfrm>
            <a:off x="9930384" y="4370832"/>
            <a:ext cx="987552" cy="402336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72" name="Text 89">
            <a:extLst>
              <a:ext uri="{FF2B5EF4-FFF2-40B4-BE49-F238E27FC236}">
                <a16:creationId xmlns:a16="http://schemas.microsoft.com/office/drawing/2014/main" id="{4C96E231-DCFD-4F88-9D87-15CF3BA7CB7A}"/>
              </a:ext>
            </a:extLst>
          </p:cNvPr>
          <p:cNvSpPr/>
          <p:nvPr/>
        </p:nvSpPr>
        <p:spPr>
          <a:xfrm>
            <a:off x="9930384" y="4370832"/>
            <a:ext cx="9875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★★☆☆☆</a:t>
            </a:r>
            <a:endParaRPr lang="en-US" sz="900" dirty="0"/>
          </a:p>
        </p:txBody>
      </p:sp>
      <p:sp>
        <p:nvSpPr>
          <p:cNvPr id="273" name="Shape 90">
            <a:extLst>
              <a:ext uri="{FF2B5EF4-FFF2-40B4-BE49-F238E27FC236}">
                <a16:creationId xmlns:a16="http://schemas.microsoft.com/office/drawing/2014/main" id="{F585C46D-6B9C-4C18-907A-01FF063E54E1}"/>
              </a:ext>
            </a:extLst>
          </p:cNvPr>
          <p:cNvSpPr/>
          <p:nvPr/>
        </p:nvSpPr>
        <p:spPr>
          <a:xfrm>
            <a:off x="11009376" y="4370832"/>
            <a:ext cx="987552" cy="402336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74" name="Text 91">
            <a:extLst>
              <a:ext uri="{FF2B5EF4-FFF2-40B4-BE49-F238E27FC236}">
                <a16:creationId xmlns:a16="http://schemas.microsoft.com/office/drawing/2014/main" id="{C9C2B6F7-9F2F-4594-A60B-A407A13DEE6E}"/>
              </a:ext>
            </a:extLst>
          </p:cNvPr>
          <p:cNvSpPr/>
          <p:nvPr/>
        </p:nvSpPr>
        <p:spPr>
          <a:xfrm>
            <a:off x="11009376" y="4370832"/>
            <a:ext cx="9875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★★☆☆☆</a:t>
            </a:r>
            <a:endParaRPr lang="en-US" sz="900" dirty="0"/>
          </a:p>
        </p:txBody>
      </p:sp>
      <p:sp>
        <p:nvSpPr>
          <p:cNvPr id="275" name="Shape 92">
            <a:extLst>
              <a:ext uri="{FF2B5EF4-FFF2-40B4-BE49-F238E27FC236}">
                <a16:creationId xmlns:a16="http://schemas.microsoft.com/office/drawing/2014/main" id="{A767D7F5-9AA9-4E68-9255-62D1384EDB4D}"/>
              </a:ext>
            </a:extLst>
          </p:cNvPr>
          <p:cNvSpPr/>
          <p:nvPr/>
        </p:nvSpPr>
        <p:spPr>
          <a:xfrm>
            <a:off x="320040" y="4809744"/>
            <a:ext cx="7315200" cy="402336"/>
          </a:xfrm>
          <a:prstGeom prst="rect">
            <a:avLst/>
          </a:prstGeom>
          <a:solidFill>
            <a:srgbClr val="23232C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76" name="Text 93">
            <a:extLst>
              <a:ext uri="{FF2B5EF4-FFF2-40B4-BE49-F238E27FC236}">
                <a16:creationId xmlns:a16="http://schemas.microsoft.com/office/drawing/2014/main" id="{D38999A3-E59D-4913-8381-34A243D51A29}"/>
              </a:ext>
            </a:extLst>
          </p:cNvPr>
          <p:cNvSpPr/>
          <p:nvPr/>
        </p:nvSpPr>
        <p:spPr>
          <a:xfrm>
            <a:off x="411480" y="4809744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Прозрачность финансов (аналитика трат)</a:t>
            </a:r>
            <a:endParaRPr lang="en-US" sz="1050" dirty="0"/>
          </a:p>
        </p:txBody>
      </p:sp>
      <p:sp>
        <p:nvSpPr>
          <p:cNvPr id="277" name="Shape 94">
            <a:extLst>
              <a:ext uri="{FF2B5EF4-FFF2-40B4-BE49-F238E27FC236}">
                <a16:creationId xmlns:a16="http://schemas.microsoft.com/office/drawing/2014/main" id="{AD831935-97FA-488A-89D9-BEDCE1767BFC}"/>
              </a:ext>
            </a:extLst>
          </p:cNvPr>
          <p:cNvSpPr/>
          <p:nvPr/>
        </p:nvSpPr>
        <p:spPr>
          <a:xfrm>
            <a:off x="7772400" y="4809744"/>
            <a:ext cx="987552" cy="402336"/>
          </a:xfrm>
          <a:prstGeom prst="rect">
            <a:avLst/>
          </a:prstGeom>
          <a:solidFill>
            <a:srgbClr val="23232C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78" name="Text 95">
            <a:extLst>
              <a:ext uri="{FF2B5EF4-FFF2-40B4-BE49-F238E27FC236}">
                <a16:creationId xmlns:a16="http://schemas.microsoft.com/office/drawing/2014/main" id="{F5252A75-92EE-4498-A6AB-8DE6E4879D6C}"/>
              </a:ext>
            </a:extLst>
          </p:cNvPr>
          <p:cNvSpPr/>
          <p:nvPr/>
        </p:nvSpPr>
        <p:spPr>
          <a:xfrm>
            <a:off x="7772400" y="4809744"/>
            <a:ext cx="9875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★★★☆☆</a:t>
            </a:r>
            <a:endParaRPr lang="en-US" sz="900" dirty="0"/>
          </a:p>
        </p:txBody>
      </p:sp>
      <p:sp>
        <p:nvSpPr>
          <p:cNvPr id="279" name="Shape 96">
            <a:extLst>
              <a:ext uri="{FF2B5EF4-FFF2-40B4-BE49-F238E27FC236}">
                <a16:creationId xmlns:a16="http://schemas.microsoft.com/office/drawing/2014/main" id="{D8D880A7-4FE0-4C6C-BB4C-6D7E930F398A}"/>
              </a:ext>
            </a:extLst>
          </p:cNvPr>
          <p:cNvSpPr/>
          <p:nvPr/>
        </p:nvSpPr>
        <p:spPr>
          <a:xfrm>
            <a:off x="8851392" y="4809744"/>
            <a:ext cx="987552" cy="402336"/>
          </a:xfrm>
          <a:prstGeom prst="rect">
            <a:avLst/>
          </a:prstGeom>
          <a:solidFill>
            <a:srgbClr val="23232C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80" name="Text 97">
            <a:extLst>
              <a:ext uri="{FF2B5EF4-FFF2-40B4-BE49-F238E27FC236}">
                <a16:creationId xmlns:a16="http://schemas.microsoft.com/office/drawing/2014/main" id="{7D4D60E6-8B10-42AE-9178-24133F895492}"/>
              </a:ext>
            </a:extLst>
          </p:cNvPr>
          <p:cNvSpPr/>
          <p:nvPr/>
        </p:nvSpPr>
        <p:spPr>
          <a:xfrm>
            <a:off x="8851392" y="4809744"/>
            <a:ext cx="9875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★★★☆☆</a:t>
            </a:r>
            <a:endParaRPr lang="en-US" sz="900" dirty="0"/>
          </a:p>
        </p:txBody>
      </p:sp>
      <p:sp>
        <p:nvSpPr>
          <p:cNvPr id="281" name="Shape 98">
            <a:extLst>
              <a:ext uri="{FF2B5EF4-FFF2-40B4-BE49-F238E27FC236}">
                <a16:creationId xmlns:a16="http://schemas.microsoft.com/office/drawing/2014/main" id="{911666A2-CE82-4070-857D-B3086EBD0B6E}"/>
              </a:ext>
            </a:extLst>
          </p:cNvPr>
          <p:cNvSpPr/>
          <p:nvPr/>
        </p:nvSpPr>
        <p:spPr>
          <a:xfrm>
            <a:off x="9930384" y="4809744"/>
            <a:ext cx="987552" cy="402336"/>
          </a:xfrm>
          <a:prstGeom prst="rect">
            <a:avLst/>
          </a:prstGeom>
          <a:solidFill>
            <a:srgbClr val="23232C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82" name="Text 99">
            <a:extLst>
              <a:ext uri="{FF2B5EF4-FFF2-40B4-BE49-F238E27FC236}">
                <a16:creationId xmlns:a16="http://schemas.microsoft.com/office/drawing/2014/main" id="{A8C11529-6F47-4981-A8A1-401312B725A0}"/>
              </a:ext>
            </a:extLst>
          </p:cNvPr>
          <p:cNvSpPr/>
          <p:nvPr/>
        </p:nvSpPr>
        <p:spPr>
          <a:xfrm>
            <a:off x="9930384" y="4809744"/>
            <a:ext cx="9875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★★☆☆☆</a:t>
            </a:r>
            <a:endParaRPr lang="en-US" sz="900" dirty="0"/>
          </a:p>
        </p:txBody>
      </p:sp>
      <p:sp>
        <p:nvSpPr>
          <p:cNvPr id="283" name="Shape 100">
            <a:extLst>
              <a:ext uri="{FF2B5EF4-FFF2-40B4-BE49-F238E27FC236}">
                <a16:creationId xmlns:a16="http://schemas.microsoft.com/office/drawing/2014/main" id="{23BADE83-F5A2-49E7-AD62-DA281CD1609A}"/>
              </a:ext>
            </a:extLst>
          </p:cNvPr>
          <p:cNvSpPr/>
          <p:nvPr/>
        </p:nvSpPr>
        <p:spPr>
          <a:xfrm>
            <a:off x="11009376" y="4809744"/>
            <a:ext cx="987552" cy="402336"/>
          </a:xfrm>
          <a:prstGeom prst="rect">
            <a:avLst/>
          </a:prstGeom>
          <a:solidFill>
            <a:srgbClr val="23232C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84" name="Text 101">
            <a:extLst>
              <a:ext uri="{FF2B5EF4-FFF2-40B4-BE49-F238E27FC236}">
                <a16:creationId xmlns:a16="http://schemas.microsoft.com/office/drawing/2014/main" id="{2E2925B5-2ADB-4C20-BC04-F059122E2E31}"/>
              </a:ext>
            </a:extLst>
          </p:cNvPr>
          <p:cNvSpPr/>
          <p:nvPr/>
        </p:nvSpPr>
        <p:spPr>
          <a:xfrm>
            <a:off x="11009376" y="4809744"/>
            <a:ext cx="9875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★☆☆☆☆</a:t>
            </a:r>
            <a:endParaRPr lang="en-US" sz="900" dirty="0"/>
          </a:p>
        </p:txBody>
      </p:sp>
      <p:sp>
        <p:nvSpPr>
          <p:cNvPr id="285" name="Shape 102">
            <a:extLst>
              <a:ext uri="{FF2B5EF4-FFF2-40B4-BE49-F238E27FC236}">
                <a16:creationId xmlns:a16="http://schemas.microsoft.com/office/drawing/2014/main" id="{9564F35E-1D37-4726-B008-425DFFB097E4}"/>
              </a:ext>
            </a:extLst>
          </p:cNvPr>
          <p:cNvSpPr/>
          <p:nvPr/>
        </p:nvSpPr>
        <p:spPr>
          <a:xfrm>
            <a:off x="320040" y="5369052"/>
            <a:ext cx="36576" cy="195580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286" name="Text 103">
            <a:extLst>
              <a:ext uri="{FF2B5EF4-FFF2-40B4-BE49-F238E27FC236}">
                <a16:creationId xmlns:a16="http://schemas.microsoft.com/office/drawing/2014/main" id="{264E899C-98DB-46D2-8BE7-47BC6DC21961}"/>
              </a:ext>
            </a:extLst>
          </p:cNvPr>
          <p:cNvSpPr/>
          <p:nvPr/>
        </p:nvSpPr>
        <p:spPr>
          <a:xfrm>
            <a:off x="411480" y="5332476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возможности для ОТП</a:t>
            </a:r>
            <a:endParaRPr lang="en-US" sz="1100" dirty="0"/>
          </a:p>
        </p:txBody>
      </p:sp>
      <p:sp>
        <p:nvSpPr>
          <p:cNvPr id="287" name="Shape 104">
            <a:extLst>
              <a:ext uri="{FF2B5EF4-FFF2-40B4-BE49-F238E27FC236}">
                <a16:creationId xmlns:a16="http://schemas.microsoft.com/office/drawing/2014/main" id="{1A2FD19E-D785-4271-A6C5-595E57EFC0ED}"/>
              </a:ext>
            </a:extLst>
          </p:cNvPr>
          <p:cNvSpPr/>
          <p:nvPr/>
        </p:nvSpPr>
        <p:spPr>
          <a:xfrm>
            <a:off x="320040" y="5650642"/>
            <a:ext cx="2834640" cy="768446"/>
          </a:xfrm>
          <a:prstGeom prst="rect">
            <a:avLst/>
          </a:prstGeom>
          <a:solidFill>
            <a:srgbClr val="1E1E26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88" name="Shape 105">
            <a:extLst>
              <a:ext uri="{FF2B5EF4-FFF2-40B4-BE49-F238E27FC236}">
                <a16:creationId xmlns:a16="http://schemas.microsoft.com/office/drawing/2014/main" id="{C26A56AD-4B37-4110-A605-BE0F2944F7E9}"/>
              </a:ext>
            </a:extLst>
          </p:cNvPr>
          <p:cNvSpPr/>
          <p:nvPr/>
        </p:nvSpPr>
        <p:spPr>
          <a:xfrm>
            <a:off x="320040" y="5635382"/>
            <a:ext cx="2834640" cy="3657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89" name="Shape 106">
            <a:extLst>
              <a:ext uri="{FF2B5EF4-FFF2-40B4-BE49-F238E27FC236}">
                <a16:creationId xmlns:a16="http://schemas.microsoft.com/office/drawing/2014/main" id="{2B05C790-9992-44E4-80BB-8E1B8483777D}"/>
              </a:ext>
            </a:extLst>
          </p:cNvPr>
          <p:cNvSpPr/>
          <p:nvPr/>
        </p:nvSpPr>
        <p:spPr>
          <a:xfrm>
            <a:off x="393192" y="5729478"/>
            <a:ext cx="292608" cy="201168"/>
          </a:xfrm>
          <a:prstGeom prst="rect">
            <a:avLst/>
          </a:prstGeom>
          <a:solidFill>
            <a:srgbClr val="0A0A0A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90" name="Text 107">
            <a:extLst>
              <a:ext uri="{FF2B5EF4-FFF2-40B4-BE49-F238E27FC236}">
                <a16:creationId xmlns:a16="http://schemas.microsoft.com/office/drawing/2014/main" id="{63182D72-7D1C-4AAD-8A36-F46A0F5C7836}"/>
              </a:ext>
            </a:extLst>
          </p:cNvPr>
          <p:cNvSpPr/>
          <p:nvPr/>
        </p:nvSpPr>
        <p:spPr>
          <a:xfrm>
            <a:off x="393192" y="5729478"/>
            <a:ext cx="2926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  <p:sp>
        <p:nvSpPr>
          <p:cNvPr id="291" name="Text 108">
            <a:extLst>
              <a:ext uri="{FF2B5EF4-FFF2-40B4-BE49-F238E27FC236}">
                <a16:creationId xmlns:a16="http://schemas.microsoft.com/office/drawing/2014/main" id="{9DFC84E2-5C34-4266-B2FB-F85990691937}"/>
              </a:ext>
            </a:extLst>
          </p:cNvPr>
          <p:cNvSpPr/>
          <p:nvPr/>
        </p:nvSpPr>
        <p:spPr>
          <a:xfrm>
            <a:off x="841248" y="571119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Контекстная персонализация</a:t>
            </a:r>
            <a:endParaRPr lang="en-US" sz="1050" dirty="0"/>
          </a:p>
        </p:txBody>
      </p:sp>
      <p:sp>
        <p:nvSpPr>
          <p:cNvPr id="292" name="Text 109">
            <a:extLst>
              <a:ext uri="{FF2B5EF4-FFF2-40B4-BE49-F238E27FC236}">
                <a16:creationId xmlns:a16="http://schemas.microsoft.com/office/drawing/2014/main" id="{E000A50C-0284-43A0-B7CF-E55849463C10}"/>
              </a:ext>
            </a:extLst>
          </p:cNvPr>
          <p:cNvSpPr/>
          <p:nvPr/>
        </p:nvSpPr>
        <p:spPr>
          <a:xfrm>
            <a:off x="546363" y="6006211"/>
            <a:ext cx="2451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Виджеты-события: штраф, готовый продукт, </a:t>
            </a:r>
            <a:r>
              <a:rPr lang="en-US" sz="10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крупная</a:t>
            </a: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трата</a:t>
            </a:r>
            <a:endParaRPr lang="en-US" sz="1000" dirty="0"/>
          </a:p>
        </p:txBody>
      </p:sp>
      <p:sp>
        <p:nvSpPr>
          <p:cNvPr id="293" name="Shape 110">
            <a:extLst>
              <a:ext uri="{FF2B5EF4-FFF2-40B4-BE49-F238E27FC236}">
                <a16:creationId xmlns:a16="http://schemas.microsoft.com/office/drawing/2014/main" id="{F893964C-0FE6-4346-B4BF-3D9330E0F460}"/>
              </a:ext>
            </a:extLst>
          </p:cNvPr>
          <p:cNvSpPr/>
          <p:nvPr/>
        </p:nvSpPr>
        <p:spPr>
          <a:xfrm>
            <a:off x="3264408" y="5650642"/>
            <a:ext cx="2834640" cy="768446"/>
          </a:xfrm>
          <a:prstGeom prst="rect">
            <a:avLst/>
          </a:prstGeom>
          <a:solidFill>
            <a:srgbClr val="1E1E26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294" name="Shape 111">
            <a:extLst>
              <a:ext uri="{FF2B5EF4-FFF2-40B4-BE49-F238E27FC236}">
                <a16:creationId xmlns:a16="http://schemas.microsoft.com/office/drawing/2014/main" id="{2D518334-DEC0-4885-964A-CB7B8250FF7D}"/>
              </a:ext>
            </a:extLst>
          </p:cNvPr>
          <p:cNvSpPr/>
          <p:nvPr/>
        </p:nvSpPr>
        <p:spPr>
          <a:xfrm>
            <a:off x="3264408" y="5635382"/>
            <a:ext cx="2834640" cy="36576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295" name="Shape 112">
            <a:extLst>
              <a:ext uri="{FF2B5EF4-FFF2-40B4-BE49-F238E27FC236}">
                <a16:creationId xmlns:a16="http://schemas.microsoft.com/office/drawing/2014/main" id="{4A993D94-7738-4BBC-B08C-9BEE72849054}"/>
              </a:ext>
            </a:extLst>
          </p:cNvPr>
          <p:cNvSpPr/>
          <p:nvPr/>
        </p:nvSpPr>
        <p:spPr>
          <a:xfrm>
            <a:off x="3337560" y="5729478"/>
            <a:ext cx="292608" cy="201168"/>
          </a:xfrm>
          <a:prstGeom prst="rect">
            <a:avLst/>
          </a:prstGeom>
          <a:solidFill>
            <a:srgbClr val="1A20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296" name="Text 113">
            <a:extLst>
              <a:ext uri="{FF2B5EF4-FFF2-40B4-BE49-F238E27FC236}">
                <a16:creationId xmlns:a16="http://schemas.microsoft.com/office/drawing/2014/main" id="{6576F6CF-724E-40BC-9C4D-5C5F7CFE2F54}"/>
              </a:ext>
            </a:extLst>
          </p:cNvPr>
          <p:cNvSpPr/>
          <p:nvPr/>
        </p:nvSpPr>
        <p:spPr>
          <a:xfrm>
            <a:off x="3337560" y="5729478"/>
            <a:ext cx="2926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297" name="Text 114">
            <a:extLst>
              <a:ext uri="{FF2B5EF4-FFF2-40B4-BE49-F238E27FC236}">
                <a16:creationId xmlns:a16="http://schemas.microsoft.com/office/drawing/2014/main" id="{7C2A0CDA-BFF2-456C-AF9D-BEE8FA519B83}"/>
              </a:ext>
            </a:extLst>
          </p:cNvPr>
          <p:cNvSpPr/>
          <p:nvPr/>
        </p:nvSpPr>
        <p:spPr>
          <a:xfrm>
            <a:off x="3703320" y="571119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Жизненные ситуации как структура</a:t>
            </a:r>
            <a:endParaRPr lang="en-US" sz="1050" dirty="0"/>
          </a:p>
        </p:txBody>
      </p:sp>
      <p:sp>
        <p:nvSpPr>
          <p:cNvPr id="298" name="Text 115">
            <a:extLst>
              <a:ext uri="{FF2B5EF4-FFF2-40B4-BE49-F238E27FC236}">
                <a16:creationId xmlns:a16="http://schemas.microsoft.com/office/drawing/2014/main" id="{5518DBC5-D36D-45BD-8F78-00E59847702B}"/>
              </a:ext>
            </a:extLst>
          </p:cNvPr>
          <p:cNvSpPr/>
          <p:nvPr/>
        </p:nvSpPr>
        <p:spPr>
          <a:xfrm>
            <a:off x="3337560" y="6002220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 Альфа, ни Сбер, ни РСХБ не построили витрину вокруг </a:t>
            </a:r>
            <a:r>
              <a:rPr lang="en-US" sz="10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сценариев</a:t>
            </a: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ЖС</a:t>
            </a:r>
            <a:endParaRPr lang="en-US" sz="1000" dirty="0"/>
          </a:p>
        </p:txBody>
      </p:sp>
      <p:sp>
        <p:nvSpPr>
          <p:cNvPr id="299" name="Shape 116">
            <a:extLst>
              <a:ext uri="{FF2B5EF4-FFF2-40B4-BE49-F238E27FC236}">
                <a16:creationId xmlns:a16="http://schemas.microsoft.com/office/drawing/2014/main" id="{AC32B532-F3B4-4807-ABF5-D060B3BA9A7E}"/>
              </a:ext>
            </a:extLst>
          </p:cNvPr>
          <p:cNvSpPr/>
          <p:nvPr/>
        </p:nvSpPr>
        <p:spPr>
          <a:xfrm>
            <a:off x="6208776" y="5650642"/>
            <a:ext cx="2834640" cy="768446"/>
          </a:xfrm>
          <a:prstGeom prst="rect">
            <a:avLst/>
          </a:prstGeom>
          <a:solidFill>
            <a:srgbClr val="1E1E26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00" name="Shape 117">
            <a:extLst>
              <a:ext uri="{FF2B5EF4-FFF2-40B4-BE49-F238E27FC236}">
                <a16:creationId xmlns:a16="http://schemas.microsoft.com/office/drawing/2014/main" id="{9CCB0DFA-F413-4DE8-8513-EB0B15671B9C}"/>
              </a:ext>
            </a:extLst>
          </p:cNvPr>
          <p:cNvSpPr/>
          <p:nvPr/>
        </p:nvSpPr>
        <p:spPr>
          <a:xfrm>
            <a:off x="6208776" y="5635382"/>
            <a:ext cx="2834640" cy="3657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01" name="Shape 118">
            <a:extLst>
              <a:ext uri="{FF2B5EF4-FFF2-40B4-BE49-F238E27FC236}">
                <a16:creationId xmlns:a16="http://schemas.microsoft.com/office/drawing/2014/main" id="{BE228FC7-3331-4B6A-A1BB-1A8F321AC884}"/>
              </a:ext>
            </a:extLst>
          </p:cNvPr>
          <p:cNvSpPr/>
          <p:nvPr/>
        </p:nvSpPr>
        <p:spPr>
          <a:xfrm>
            <a:off x="6281928" y="5735710"/>
            <a:ext cx="292608" cy="201168"/>
          </a:xfrm>
          <a:prstGeom prst="rect">
            <a:avLst/>
          </a:prstGeom>
          <a:solidFill>
            <a:srgbClr val="0A0A0A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02" name="Text 119">
            <a:extLst>
              <a:ext uri="{FF2B5EF4-FFF2-40B4-BE49-F238E27FC236}">
                <a16:creationId xmlns:a16="http://schemas.microsoft.com/office/drawing/2014/main" id="{8BC96B7A-9EFC-4E32-86C1-B76D28B39659}"/>
              </a:ext>
            </a:extLst>
          </p:cNvPr>
          <p:cNvSpPr/>
          <p:nvPr/>
        </p:nvSpPr>
        <p:spPr>
          <a:xfrm>
            <a:off x="6281928" y="5735710"/>
            <a:ext cx="2926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sp>
        <p:nvSpPr>
          <p:cNvPr id="303" name="Text 120">
            <a:extLst>
              <a:ext uri="{FF2B5EF4-FFF2-40B4-BE49-F238E27FC236}">
                <a16:creationId xmlns:a16="http://schemas.microsoft.com/office/drawing/2014/main" id="{622B6149-F8ED-4AE9-9FE0-2EDB6DDECCC2}"/>
              </a:ext>
            </a:extLst>
          </p:cNvPr>
          <p:cNvSpPr/>
          <p:nvPr/>
        </p:nvSpPr>
        <p:spPr>
          <a:xfrm>
            <a:off x="6848856" y="572846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Геймификация выгоды</a:t>
            </a:r>
            <a:endParaRPr lang="en-US" sz="1050" dirty="0"/>
          </a:p>
        </p:txBody>
      </p:sp>
      <p:sp>
        <p:nvSpPr>
          <p:cNvPr id="304" name="Text 121">
            <a:extLst>
              <a:ext uri="{FF2B5EF4-FFF2-40B4-BE49-F238E27FC236}">
                <a16:creationId xmlns:a16="http://schemas.microsoft.com/office/drawing/2014/main" id="{9D09D0E8-455C-4F57-89AF-F2817CD17F0E}"/>
              </a:ext>
            </a:extLst>
          </p:cNvPr>
          <p:cNvSpPr/>
          <p:nvPr/>
        </p:nvSpPr>
        <p:spPr>
          <a:xfrm>
            <a:off x="6545389" y="5991998"/>
            <a:ext cx="23334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Задания с кэшбэком повышают частоту и </a:t>
            </a:r>
            <a:r>
              <a:rPr lang="en-US" sz="10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глубину</a:t>
            </a: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сессий</a:t>
            </a:r>
            <a:endParaRPr lang="en-US" sz="1000" dirty="0"/>
          </a:p>
        </p:txBody>
      </p:sp>
      <p:sp>
        <p:nvSpPr>
          <p:cNvPr id="305" name="Shape 122">
            <a:extLst>
              <a:ext uri="{FF2B5EF4-FFF2-40B4-BE49-F238E27FC236}">
                <a16:creationId xmlns:a16="http://schemas.microsoft.com/office/drawing/2014/main" id="{3D381D64-299E-4134-8A56-C3C26110D0E8}"/>
              </a:ext>
            </a:extLst>
          </p:cNvPr>
          <p:cNvSpPr/>
          <p:nvPr/>
        </p:nvSpPr>
        <p:spPr>
          <a:xfrm>
            <a:off x="9153144" y="5650642"/>
            <a:ext cx="2834640" cy="768446"/>
          </a:xfrm>
          <a:prstGeom prst="rect">
            <a:avLst/>
          </a:prstGeom>
          <a:solidFill>
            <a:srgbClr val="1E1E26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306" name="Shape 123">
            <a:extLst>
              <a:ext uri="{FF2B5EF4-FFF2-40B4-BE49-F238E27FC236}">
                <a16:creationId xmlns:a16="http://schemas.microsoft.com/office/drawing/2014/main" id="{8F0C32DC-E83E-4CC9-8B3E-054FAA8E96F2}"/>
              </a:ext>
            </a:extLst>
          </p:cNvPr>
          <p:cNvSpPr/>
          <p:nvPr/>
        </p:nvSpPr>
        <p:spPr>
          <a:xfrm>
            <a:off x="9153144" y="5631191"/>
            <a:ext cx="2834640" cy="36576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307" name="Shape 124">
            <a:extLst>
              <a:ext uri="{FF2B5EF4-FFF2-40B4-BE49-F238E27FC236}">
                <a16:creationId xmlns:a16="http://schemas.microsoft.com/office/drawing/2014/main" id="{571C6EE5-CBCE-4DDA-8F99-2AA0221C5494}"/>
              </a:ext>
            </a:extLst>
          </p:cNvPr>
          <p:cNvSpPr/>
          <p:nvPr/>
        </p:nvSpPr>
        <p:spPr>
          <a:xfrm>
            <a:off x="9213723" y="5718375"/>
            <a:ext cx="292608" cy="201168"/>
          </a:xfrm>
          <a:prstGeom prst="rect">
            <a:avLst/>
          </a:prstGeom>
          <a:solidFill>
            <a:srgbClr val="1A20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308" name="Text 125">
            <a:extLst>
              <a:ext uri="{FF2B5EF4-FFF2-40B4-BE49-F238E27FC236}">
                <a16:creationId xmlns:a16="http://schemas.microsoft.com/office/drawing/2014/main" id="{6497A2EF-17AF-4D1D-9915-13DA584E75BB}"/>
              </a:ext>
            </a:extLst>
          </p:cNvPr>
          <p:cNvSpPr/>
          <p:nvPr/>
        </p:nvSpPr>
        <p:spPr>
          <a:xfrm>
            <a:off x="9213723" y="5718375"/>
            <a:ext cx="2926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309" name="Text 126">
            <a:extLst>
              <a:ext uri="{FF2B5EF4-FFF2-40B4-BE49-F238E27FC236}">
                <a16:creationId xmlns:a16="http://schemas.microsoft.com/office/drawing/2014/main" id="{7DD860DB-19F4-4BBF-9C54-DB029C5EC12C}"/>
              </a:ext>
            </a:extLst>
          </p:cNvPr>
          <p:cNvSpPr/>
          <p:nvPr/>
        </p:nvSpPr>
        <p:spPr>
          <a:xfrm>
            <a:off x="9701784" y="573328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Избранное + кастомизация</a:t>
            </a:r>
            <a:endParaRPr lang="en-US" sz="1050" dirty="0"/>
          </a:p>
        </p:txBody>
      </p:sp>
      <p:sp>
        <p:nvSpPr>
          <p:cNvPr id="310" name="Text 127">
            <a:extLst>
              <a:ext uri="{FF2B5EF4-FFF2-40B4-BE49-F238E27FC236}">
                <a16:creationId xmlns:a16="http://schemas.microsoft.com/office/drawing/2014/main" id="{E330A18A-3452-406C-94DD-6E25169D6F88}"/>
              </a:ext>
            </a:extLst>
          </p:cNvPr>
          <p:cNvSpPr/>
          <p:nvPr/>
        </p:nvSpPr>
        <p:spPr>
          <a:xfrm>
            <a:off x="9427464" y="5995478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ИИ-</a:t>
            </a:r>
            <a:r>
              <a:rPr lang="en-US" sz="10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рекомендации</a:t>
            </a: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ручная настройка = ощущение контроля у пользователя</a:t>
            </a:r>
            <a:endParaRPr lang="en-US" sz="1000" dirty="0"/>
          </a:p>
        </p:txBody>
      </p:sp>
      <p:sp>
        <p:nvSpPr>
          <p:cNvPr id="311" name="Text 5">
            <a:extLst>
              <a:ext uri="{FF2B5EF4-FFF2-40B4-BE49-F238E27FC236}">
                <a16:creationId xmlns:a16="http://schemas.microsoft.com/office/drawing/2014/main" id="{328B0B4D-E21D-40DC-AB93-0EB47E9FFC59}"/>
              </a:ext>
            </a:extLst>
          </p:cNvPr>
          <p:cNvSpPr/>
          <p:nvPr/>
        </p:nvSpPr>
        <p:spPr>
          <a:xfrm>
            <a:off x="7512802" y="273970"/>
            <a:ext cx="45313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Конкурентный анализ персонализации витрин: Альфа-Банк · Сбербанк · РСХБ vs ОТП</a:t>
            </a:r>
            <a:endParaRPr lang="en-US" sz="1600" dirty="0"/>
          </a:p>
        </p:txBody>
      </p:sp>
      <p:sp>
        <p:nvSpPr>
          <p:cNvPr id="312" name="Shape 103">
            <a:extLst>
              <a:ext uri="{FF2B5EF4-FFF2-40B4-BE49-F238E27FC236}">
                <a16:creationId xmlns:a16="http://schemas.microsoft.com/office/drawing/2014/main" id="{837A475B-43A7-4D5A-877D-0C52E59F9B8B}"/>
              </a:ext>
            </a:extLst>
          </p:cNvPr>
          <p:cNvSpPr/>
          <p:nvPr/>
        </p:nvSpPr>
        <p:spPr>
          <a:xfrm flipV="1">
            <a:off x="10266929" y="6515100"/>
            <a:ext cx="1471507" cy="45719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779193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24128"/>
          </a:xfrm>
          <a:prstGeom prst="rect">
            <a:avLst/>
          </a:prstGeom>
          <a:solidFill>
            <a:srgbClr val="17171C"/>
          </a:solidFill>
          <a:ln w="12700">
            <a:solidFill>
              <a:srgbClr val="1717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40773" y="323415"/>
            <a:ext cx="6555053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ru-RU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ПРИЛОЖЕНИЕ 1:</a:t>
            </a:r>
            <a:endParaRPr lang="en-US" sz="1300" dirty="0"/>
          </a:p>
        </p:txBody>
      </p:sp>
      <p:grpSp>
        <p:nvGrpSpPr>
          <p:cNvPr id="108" name="Группа 107">
            <a:extLst>
              <a:ext uri="{FF2B5EF4-FFF2-40B4-BE49-F238E27FC236}">
                <a16:creationId xmlns:a16="http://schemas.microsoft.com/office/drawing/2014/main" id="{B7797176-3532-4BC2-A45A-7B1206F1B9C0}"/>
              </a:ext>
            </a:extLst>
          </p:cNvPr>
          <p:cNvGrpSpPr/>
          <p:nvPr/>
        </p:nvGrpSpPr>
        <p:grpSpPr>
          <a:xfrm>
            <a:off x="164592" y="66083"/>
            <a:ext cx="1972216" cy="545846"/>
            <a:chOff x="402336" y="115760"/>
            <a:chExt cx="2238374" cy="568833"/>
          </a:xfrm>
        </p:grpSpPr>
        <p:sp>
          <p:nvSpPr>
            <p:cNvPr id="109" name="Прямоугольник 108">
              <a:extLst>
                <a:ext uri="{FF2B5EF4-FFF2-40B4-BE49-F238E27FC236}">
                  <a16:creationId xmlns:a16="http://schemas.microsoft.com/office/drawing/2014/main" id="{6FB7663A-72BC-4BD7-B2A3-FAA62FB9DDFA}"/>
                </a:ext>
              </a:extLst>
            </p:cNvPr>
            <p:cNvSpPr/>
            <p:nvPr/>
          </p:nvSpPr>
          <p:spPr>
            <a:xfrm>
              <a:off x="402336" y="115760"/>
              <a:ext cx="2238374" cy="568833"/>
            </a:xfrm>
            <a:prstGeom prst="rect">
              <a:avLst/>
            </a:prstGeom>
            <a:solidFill>
              <a:srgbClr val="C8FF00"/>
            </a:solidFill>
            <a:ln>
              <a:noFill/>
            </a:ln>
            <a:effectLst>
              <a:softEdge rad="1651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10" name="Рисунок 109">
              <a:extLst>
                <a:ext uri="{FF2B5EF4-FFF2-40B4-BE49-F238E27FC236}">
                  <a16:creationId xmlns:a16="http://schemas.microsoft.com/office/drawing/2014/main" id="{391D4447-4A62-42F7-8786-BCC9B20C55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35628" y="256365"/>
              <a:ext cx="1271588" cy="255128"/>
            </a:xfrm>
            <a:prstGeom prst="rect">
              <a:avLst/>
            </a:prstGeom>
          </p:spPr>
        </p:pic>
      </p:grpSp>
      <p:sp>
        <p:nvSpPr>
          <p:cNvPr id="112" name="Shape 0">
            <a:extLst>
              <a:ext uri="{FF2B5EF4-FFF2-40B4-BE49-F238E27FC236}">
                <a16:creationId xmlns:a16="http://schemas.microsoft.com/office/drawing/2014/main" id="{1FAB15A3-F4FD-4486-AFBE-DD7D91549457}"/>
              </a:ext>
            </a:extLst>
          </p:cNvPr>
          <p:cNvSpPr/>
          <p:nvPr/>
        </p:nvSpPr>
        <p:spPr>
          <a:xfrm>
            <a:off x="0" y="0"/>
            <a:ext cx="12161520" cy="1024128"/>
          </a:xfrm>
          <a:prstGeom prst="rect">
            <a:avLst/>
          </a:prstGeom>
          <a:solidFill>
            <a:srgbClr val="17171C"/>
          </a:solidFill>
          <a:ln w="12700">
            <a:solidFill>
              <a:srgbClr val="17171C"/>
            </a:solidFill>
            <a:prstDash val="solid"/>
          </a:ln>
        </p:spPr>
      </p:sp>
      <p:sp>
        <p:nvSpPr>
          <p:cNvPr id="115" name="Shape 3">
            <a:extLst>
              <a:ext uri="{FF2B5EF4-FFF2-40B4-BE49-F238E27FC236}">
                <a16:creationId xmlns:a16="http://schemas.microsoft.com/office/drawing/2014/main" id="{9CFDA7C0-BE97-46A5-941C-02A8098DF759}"/>
              </a:ext>
            </a:extLst>
          </p:cNvPr>
          <p:cNvSpPr/>
          <p:nvPr/>
        </p:nvSpPr>
        <p:spPr>
          <a:xfrm>
            <a:off x="2220277" y="132597"/>
            <a:ext cx="2011680" cy="397925"/>
          </a:xfrm>
          <a:prstGeom prst="rect">
            <a:avLst/>
          </a:prstGeom>
          <a:solidFill>
            <a:srgbClr val="1A20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116" name="Text 4">
            <a:extLst>
              <a:ext uri="{FF2B5EF4-FFF2-40B4-BE49-F238E27FC236}">
                <a16:creationId xmlns:a16="http://schemas.microsoft.com/office/drawing/2014/main" id="{51E82DDB-5EB7-4CAD-9E6F-D3E5FAB15ECC}"/>
              </a:ext>
            </a:extLst>
          </p:cNvPr>
          <p:cNvSpPr/>
          <p:nvPr/>
        </p:nvSpPr>
        <p:spPr>
          <a:xfrm>
            <a:off x="2220277" y="132597"/>
            <a:ext cx="2011680" cy="4311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ПРИЛОЖЕНИЕ П</a:t>
            </a:r>
            <a:r>
              <a:rPr lang="ru-RU" sz="11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grpSp>
        <p:nvGrpSpPr>
          <p:cNvPr id="189" name="Группа 188">
            <a:extLst>
              <a:ext uri="{FF2B5EF4-FFF2-40B4-BE49-F238E27FC236}">
                <a16:creationId xmlns:a16="http://schemas.microsoft.com/office/drawing/2014/main" id="{B324478A-9819-4AD4-9217-1CB8220E2999}"/>
              </a:ext>
            </a:extLst>
          </p:cNvPr>
          <p:cNvGrpSpPr/>
          <p:nvPr/>
        </p:nvGrpSpPr>
        <p:grpSpPr>
          <a:xfrm>
            <a:off x="164592" y="74549"/>
            <a:ext cx="1972216" cy="545846"/>
            <a:chOff x="402336" y="115760"/>
            <a:chExt cx="2238374" cy="568833"/>
          </a:xfrm>
        </p:grpSpPr>
        <p:sp>
          <p:nvSpPr>
            <p:cNvPr id="190" name="Прямоугольник 189">
              <a:extLst>
                <a:ext uri="{FF2B5EF4-FFF2-40B4-BE49-F238E27FC236}">
                  <a16:creationId xmlns:a16="http://schemas.microsoft.com/office/drawing/2014/main" id="{378C5B32-D915-48F9-B8A6-5CF9DE50A781}"/>
                </a:ext>
              </a:extLst>
            </p:cNvPr>
            <p:cNvSpPr/>
            <p:nvPr/>
          </p:nvSpPr>
          <p:spPr>
            <a:xfrm>
              <a:off x="402336" y="115760"/>
              <a:ext cx="2238374" cy="568833"/>
            </a:xfrm>
            <a:prstGeom prst="rect">
              <a:avLst/>
            </a:prstGeom>
            <a:solidFill>
              <a:srgbClr val="C8FF00"/>
            </a:solidFill>
            <a:ln>
              <a:noFill/>
            </a:ln>
            <a:effectLst>
              <a:softEdge rad="1651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91" name="Рисунок 190">
              <a:extLst>
                <a:ext uri="{FF2B5EF4-FFF2-40B4-BE49-F238E27FC236}">
                  <a16:creationId xmlns:a16="http://schemas.microsoft.com/office/drawing/2014/main" id="{F3725466-38AF-4F60-B7E8-BC5FC1CCDBE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35628" y="256365"/>
              <a:ext cx="1271588" cy="255128"/>
            </a:xfrm>
            <a:prstGeom prst="rect">
              <a:avLst/>
            </a:prstGeom>
          </p:spPr>
        </p:pic>
      </p:grpSp>
      <p:sp>
        <p:nvSpPr>
          <p:cNvPr id="192" name="Text 5">
            <a:extLst>
              <a:ext uri="{FF2B5EF4-FFF2-40B4-BE49-F238E27FC236}">
                <a16:creationId xmlns:a16="http://schemas.microsoft.com/office/drawing/2014/main" id="{E9FEFD77-546B-4FF1-BF25-0101A6F8E617}"/>
              </a:ext>
            </a:extLst>
          </p:cNvPr>
          <p:cNvSpPr/>
          <p:nvPr/>
        </p:nvSpPr>
        <p:spPr>
          <a:xfrm>
            <a:off x="8944822" y="265122"/>
            <a:ext cx="294237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Финансовая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</a:t>
            </a:r>
            <a:endParaRPr lang="en-US" dirty="0"/>
          </a:p>
        </p:txBody>
      </p:sp>
      <p:sp>
        <p:nvSpPr>
          <p:cNvPr id="193" name="Shape 6">
            <a:extLst>
              <a:ext uri="{FF2B5EF4-FFF2-40B4-BE49-F238E27FC236}">
                <a16:creationId xmlns:a16="http://schemas.microsoft.com/office/drawing/2014/main" id="{E5696222-7999-4C11-8781-1F0FE79AEBAA}"/>
              </a:ext>
            </a:extLst>
          </p:cNvPr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111118"/>
          </a:solidFill>
          <a:ln w="12700">
            <a:solidFill>
              <a:srgbClr val="111118"/>
            </a:solidFill>
            <a:prstDash val="solid"/>
          </a:ln>
        </p:spPr>
      </p:sp>
      <p:sp>
        <p:nvSpPr>
          <p:cNvPr id="194" name="Text 7">
            <a:extLst>
              <a:ext uri="{FF2B5EF4-FFF2-40B4-BE49-F238E27FC236}">
                <a16:creationId xmlns:a16="http://schemas.microsoft.com/office/drawing/2014/main" id="{CBC02D15-3B6A-4DC4-A188-B6959B68BF46}"/>
              </a:ext>
            </a:extLst>
          </p:cNvPr>
          <p:cNvSpPr/>
          <p:nvPr/>
        </p:nvSpPr>
        <p:spPr>
          <a:xfrm>
            <a:off x="274320" y="6574536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ПРИЛОЖЕНИЯ К КЕЙСУ ОТП БАНК — CHANGELLENGE CUP IT 2026</a:t>
            </a:r>
            <a:endParaRPr lang="en-US" sz="800" dirty="0"/>
          </a:p>
        </p:txBody>
      </p:sp>
      <p:sp>
        <p:nvSpPr>
          <p:cNvPr id="195" name="Text 8">
            <a:extLst>
              <a:ext uri="{FF2B5EF4-FFF2-40B4-BE49-F238E27FC236}">
                <a16:creationId xmlns:a16="http://schemas.microsoft.com/office/drawing/2014/main" id="{2BDA07FD-3899-44E6-AF58-1055A4774251}"/>
              </a:ext>
            </a:extLst>
          </p:cNvPr>
          <p:cNvSpPr/>
          <p:nvPr/>
        </p:nvSpPr>
        <p:spPr>
          <a:xfrm>
            <a:off x="8686800" y="657453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Приложение П4</a:t>
            </a:r>
            <a:endParaRPr lang="en-US" sz="800" dirty="0"/>
          </a:p>
        </p:txBody>
      </p:sp>
      <p:sp>
        <p:nvSpPr>
          <p:cNvPr id="196" name="Text 9">
            <a:extLst>
              <a:ext uri="{FF2B5EF4-FFF2-40B4-BE49-F238E27FC236}">
                <a16:creationId xmlns:a16="http://schemas.microsoft.com/office/drawing/2014/main" id="{67854479-3023-4D1F-A626-B3F6802CBFCB}"/>
              </a:ext>
            </a:extLst>
          </p:cNvPr>
          <p:cNvSpPr/>
          <p:nvPr/>
        </p:nvSpPr>
        <p:spPr>
          <a:xfrm>
            <a:off x="11521440" y="657453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197" name="Shape 10">
            <a:extLst>
              <a:ext uri="{FF2B5EF4-FFF2-40B4-BE49-F238E27FC236}">
                <a16:creationId xmlns:a16="http://schemas.microsoft.com/office/drawing/2014/main" id="{7F75E303-EF76-4A5B-B940-13316686D979}"/>
              </a:ext>
            </a:extLst>
          </p:cNvPr>
          <p:cNvSpPr/>
          <p:nvPr/>
        </p:nvSpPr>
        <p:spPr>
          <a:xfrm>
            <a:off x="320040" y="1170432"/>
            <a:ext cx="36576" cy="195580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198" name="Text 11">
            <a:extLst>
              <a:ext uri="{FF2B5EF4-FFF2-40B4-BE49-F238E27FC236}">
                <a16:creationId xmlns:a16="http://schemas.microsoft.com/office/drawing/2014/main" id="{8197FAF6-BEEA-41E9-821F-C0732A49A211}"/>
              </a:ext>
            </a:extLst>
          </p:cNvPr>
          <p:cNvSpPr/>
          <p:nvPr/>
        </p:nvSpPr>
        <p:spPr>
          <a:xfrm>
            <a:off x="411480" y="1133856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CLV — Customer Lifetime Value (формула и расчёт)</a:t>
            </a:r>
            <a:endParaRPr lang="en-US" sz="1100" dirty="0"/>
          </a:p>
        </p:txBody>
      </p:sp>
      <p:sp>
        <p:nvSpPr>
          <p:cNvPr id="199" name="Shape 12">
            <a:extLst>
              <a:ext uri="{FF2B5EF4-FFF2-40B4-BE49-F238E27FC236}">
                <a16:creationId xmlns:a16="http://schemas.microsoft.com/office/drawing/2014/main" id="{ABC8B872-D47C-45BF-A835-62108AB63A02}"/>
              </a:ext>
            </a:extLst>
          </p:cNvPr>
          <p:cNvSpPr/>
          <p:nvPr/>
        </p:nvSpPr>
        <p:spPr>
          <a:xfrm>
            <a:off x="320040" y="1444753"/>
            <a:ext cx="7772400" cy="735330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00" name="Shape 13">
            <a:extLst>
              <a:ext uri="{FF2B5EF4-FFF2-40B4-BE49-F238E27FC236}">
                <a16:creationId xmlns:a16="http://schemas.microsoft.com/office/drawing/2014/main" id="{959DEF1C-0C0F-4B32-81B8-CCC4BF01C870}"/>
              </a:ext>
            </a:extLst>
          </p:cNvPr>
          <p:cNvSpPr/>
          <p:nvPr/>
        </p:nvSpPr>
        <p:spPr>
          <a:xfrm>
            <a:off x="320040" y="1444752"/>
            <a:ext cx="45719" cy="743141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201" name="Text 14">
            <a:extLst>
              <a:ext uri="{FF2B5EF4-FFF2-40B4-BE49-F238E27FC236}">
                <a16:creationId xmlns:a16="http://schemas.microsoft.com/office/drawing/2014/main" id="{8770D2D6-72EB-426E-BC3B-3BED8A7A07F9}"/>
              </a:ext>
            </a:extLst>
          </p:cNvPr>
          <p:cNvSpPr/>
          <p:nvPr/>
        </p:nvSpPr>
        <p:spPr>
          <a:xfrm>
            <a:off x="457200" y="1499616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Формула: CLV = ARPU × R / (1 − R + d)</a:t>
            </a:r>
            <a:endParaRPr lang="en-US" sz="1300" dirty="0"/>
          </a:p>
        </p:txBody>
      </p:sp>
      <p:sp>
        <p:nvSpPr>
          <p:cNvPr id="202" name="Text 15">
            <a:extLst>
              <a:ext uri="{FF2B5EF4-FFF2-40B4-BE49-F238E27FC236}">
                <a16:creationId xmlns:a16="http://schemas.microsoft.com/office/drawing/2014/main" id="{413EF401-EE57-467B-9B47-518A042EE2F6}"/>
              </a:ext>
            </a:extLst>
          </p:cNvPr>
          <p:cNvSpPr/>
          <p:nvPr/>
        </p:nvSpPr>
        <p:spPr>
          <a:xfrm>
            <a:off x="457200" y="179222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 R = retention rate (доля клиентов, остающихся на следующий год)  ·  d = ставка дисконтирования  ·  ARPU = средний годовой доход на клиента</a:t>
            </a:r>
            <a:endParaRPr lang="en-US" sz="1050" dirty="0"/>
          </a:p>
        </p:txBody>
      </p:sp>
      <p:sp>
        <p:nvSpPr>
          <p:cNvPr id="203" name="Shape 16">
            <a:extLst>
              <a:ext uri="{FF2B5EF4-FFF2-40B4-BE49-F238E27FC236}">
                <a16:creationId xmlns:a16="http://schemas.microsoft.com/office/drawing/2014/main" id="{DC25807D-62DC-4FA7-BAE8-3B1556F78C0F}"/>
              </a:ext>
            </a:extLst>
          </p:cNvPr>
          <p:cNvSpPr/>
          <p:nvPr/>
        </p:nvSpPr>
        <p:spPr>
          <a:xfrm>
            <a:off x="304800" y="2521077"/>
            <a:ext cx="7772400" cy="365760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04" name="Text 17">
            <a:extLst>
              <a:ext uri="{FF2B5EF4-FFF2-40B4-BE49-F238E27FC236}">
                <a16:creationId xmlns:a16="http://schemas.microsoft.com/office/drawing/2014/main" id="{BC6F0A72-7C2F-4732-8C06-13B99D59B18F}"/>
              </a:ext>
            </a:extLst>
          </p:cNvPr>
          <p:cNvSpPr/>
          <p:nvPr/>
        </p:nvSpPr>
        <p:spPr>
          <a:xfrm>
            <a:off x="396240" y="2521077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ARPU</a:t>
            </a:r>
            <a:endParaRPr lang="en-US" sz="1050" dirty="0"/>
          </a:p>
        </p:txBody>
      </p:sp>
      <p:sp>
        <p:nvSpPr>
          <p:cNvPr id="205" name="Text 18">
            <a:extLst>
              <a:ext uri="{FF2B5EF4-FFF2-40B4-BE49-F238E27FC236}">
                <a16:creationId xmlns:a16="http://schemas.microsoft.com/office/drawing/2014/main" id="{02E73757-2437-4D09-B1CD-A7C58D9CCFBB}"/>
              </a:ext>
            </a:extLst>
          </p:cNvPr>
          <p:cNvSpPr/>
          <p:nvPr/>
        </p:nvSpPr>
        <p:spPr>
          <a:xfrm>
            <a:off x="2179320" y="2521077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r>
              <a:rPr lang="ru-RU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750</a:t>
            </a:r>
            <a:r>
              <a:rPr lang="ru-RU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₽/клиент</a:t>
            </a:r>
            <a:endParaRPr lang="en-US" sz="1000" dirty="0"/>
          </a:p>
        </p:txBody>
      </p:sp>
      <p:sp>
        <p:nvSpPr>
          <p:cNvPr id="206" name="Text 19">
            <a:extLst>
              <a:ext uri="{FF2B5EF4-FFF2-40B4-BE49-F238E27FC236}">
                <a16:creationId xmlns:a16="http://schemas.microsoft.com/office/drawing/2014/main" id="{38E34DEC-C688-4B39-BFF2-E36FD33EC097}"/>
              </a:ext>
            </a:extLst>
          </p:cNvPr>
          <p:cNvSpPr/>
          <p:nvPr/>
        </p:nvSpPr>
        <p:spPr>
          <a:xfrm>
            <a:off x="4053840" y="2521077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r>
              <a:rPr lang="ru-RU" sz="10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812</a:t>
            </a:r>
            <a:r>
              <a:rPr lang="ru-RU" sz="10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₽/клиент</a:t>
            </a:r>
            <a:endParaRPr lang="en-US" sz="1000" dirty="0"/>
          </a:p>
        </p:txBody>
      </p:sp>
      <p:sp>
        <p:nvSpPr>
          <p:cNvPr id="207" name="Text 20">
            <a:extLst>
              <a:ext uri="{FF2B5EF4-FFF2-40B4-BE49-F238E27FC236}">
                <a16:creationId xmlns:a16="http://schemas.microsoft.com/office/drawing/2014/main" id="{835EAD60-1174-481E-A4F6-9767B3D825D0}"/>
              </a:ext>
            </a:extLst>
          </p:cNvPr>
          <p:cNvSpPr/>
          <p:nvPr/>
        </p:nvSpPr>
        <p:spPr>
          <a:xfrm>
            <a:off x="5556885" y="2539365"/>
            <a:ext cx="249364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Комисс. 40,3 млрд + Проц. 67,2 млрд) / 2 / 2 млн клиентов; TO-BE = +15%</a:t>
            </a:r>
            <a:endParaRPr lang="en-US" sz="1000" dirty="0"/>
          </a:p>
        </p:txBody>
      </p:sp>
      <p:sp>
        <p:nvSpPr>
          <p:cNvPr id="208" name="Shape 21">
            <a:extLst>
              <a:ext uri="{FF2B5EF4-FFF2-40B4-BE49-F238E27FC236}">
                <a16:creationId xmlns:a16="http://schemas.microsoft.com/office/drawing/2014/main" id="{AC69D3C3-3C87-4364-B899-7AC6F43D90AE}"/>
              </a:ext>
            </a:extLst>
          </p:cNvPr>
          <p:cNvSpPr/>
          <p:nvPr/>
        </p:nvSpPr>
        <p:spPr>
          <a:xfrm>
            <a:off x="304800" y="2923413"/>
            <a:ext cx="7772400" cy="365760"/>
          </a:xfrm>
          <a:prstGeom prst="rect">
            <a:avLst/>
          </a:prstGeom>
          <a:solidFill>
            <a:srgbClr val="23232C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09" name="Text 22">
            <a:extLst>
              <a:ext uri="{FF2B5EF4-FFF2-40B4-BE49-F238E27FC236}">
                <a16:creationId xmlns:a16="http://schemas.microsoft.com/office/drawing/2014/main" id="{B38C4D9B-9D75-4E71-866D-33D396585B17}"/>
              </a:ext>
            </a:extLst>
          </p:cNvPr>
          <p:cNvSpPr/>
          <p:nvPr/>
        </p:nvSpPr>
        <p:spPr>
          <a:xfrm>
            <a:off x="396240" y="2923413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Rate (R)</a:t>
            </a:r>
            <a:endParaRPr lang="en-US" sz="1050" dirty="0"/>
          </a:p>
        </p:txBody>
      </p:sp>
      <p:sp>
        <p:nvSpPr>
          <p:cNvPr id="210" name="Text 23">
            <a:extLst>
              <a:ext uri="{FF2B5EF4-FFF2-40B4-BE49-F238E27FC236}">
                <a16:creationId xmlns:a16="http://schemas.microsoft.com/office/drawing/2014/main" id="{CF9DC668-E256-452D-9150-72FB611F4DF2}"/>
              </a:ext>
            </a:extLst>
          </p:cNvPr>
          <p:cNvSpPr/>
          <p:nvPr/>
        </p:nvSpPr>
        <p:spPr>
          <a:xfrm>
            <a:off x="2179320" y="2923413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  (Churn 28%)</a:t>
            </a:r>
            <a:endParaRPr lang="en-US" sz="1000" dirty="0"/>
          </a:p>
        </p:txBody>
      </p:sp>
      <p:sp>
        <p:nvSpPr>
          <p:cNvPr id="211" name="Text 24">
            <a:extLst>
              <a:ext uri="{FF2B5EF4-FFF2-40B4-BE49-F238E27FC236}">
                <a16:creationId xmlns:a16="http://schemas.microsoft.com/office/drawing/2014/main" id="{39754DA7-CC3D-471D-AFD1-D54DE3395F0D}"/>
              </a:ext>
            </a:extLst>
          </p:cNvPr>
          <p:cNvSpPr/>
          <p:nvPr/>
        </p:nvSpPr>
        <p:spPr>
          <a:xfrm>
            <a:off x="4053840" y="2923413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</a:t>
            </a:r>
            <a:r>
              <a:rPr lang="ru-RU" sz="10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</a:t>
            </a:r>
            <a:r>
              <a:rPr lang="en-US" sz="10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(Churn </a:t>
            </a:r>
            <a:r>
              <a:rPr lang="ru-RU" sz="10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r>
              <a:rPr lang="en-US" sz="10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%)</a:t>
            </a:r>
            <a:endParaRPr lang="en-US" sz="1000" dirty="0"/>
          </a:p>
        </p:txBody>
      </p:sp>
      <p:sp>
        <p:nvSpPr>
          <p:cNvPr id="212" name="Text 25">
            <a:extLst>
              <a:ext uri="{FF2B5EF4-FFF2-40B4-BE49-F238E27FC236}">
                <a16:creationId xmlns:a16="http://schemas.microsoft.com/office/drawing/2014/main" id="{B3F3A136-29F2-4B70-9C41-274A2A12F24F}"/>
              </a:ext>
            </a:extLst>
          </p:cNvPr>
          <p:cNvSpPr/>
          <p:nvPr/>
        </p:nvSpPr>
        <p:spPr>
          <a:xfrm>
            <a:off x="5556886" y="2923413"/>
            <a:ext cx="24936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TO-BE: снижение оттока за счёт привычки использования и эмоциональной связи</a:t>
            </a:r>
            <a:endParaRPr lang="en-US" sz="900" dirty="0"/>
          </a:p>
        </p:txBody>
      </p:sp>
      <p:sp>
        <p:nvSpPr>
          <p:cNvPr id="213" name="Shape 26">
            <a:extLst>
              <a:ext uri="{FF2B5EF4-FFF2-40B4-BE49-F238E27FC236}">
                <a16:creationId xmlns:a16="http://schemas.microsoft.com/office/drawing/2014/main" id="{59B311AC-F0F6-4D24-A4AB-69C9CF622ECD}"/>
              </a:ext>
            </a:extLst>
          </p:cNvPr>
          <p:cNvSpPr/>
          <p:nvPr/>
        </p:nvSpPr>
        <p:spPr>
          <a:xfrm>
            <a:off x="304800" y="3325749"/>
            <a:ext cx="7772400" cy="365760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14" name="Text 27">
            <a:extLst>
              <a:ext uri="{FF2B5EF4-FFF2-40B4-BE49-F238E27FC236}">
                <a16:creationId xmlns:a16="http://schemas.microsoft.com/office/drawing/2014/main" id="{7C0FDA7B-32CE-4D77-8DB2-910B8718EAF5}"/>
              </a:ext>
            </a:extLst>
          </p:cNvPr>
          <p:cNvSpPr/>
          <p:nvPr/>
        </p:nvSpPr>
        <p:spPr>
          <a:xfrm>
            <a:off x="396240" y="3325749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Ставка дисконт. (d)</a:t>
            </a:r>
            <a:endParaRPr lang="en-US" sz="1050" dirty="0"/>
          </a:p>
        </p:txBody>
      </p:sp>
      <p:sp>
        <p:nvSpPr>
          <p:cNvPr id="215" name="Text 28">
            <a:extLst>
              <a:ext uri="{FF2B5EF4-FFF2-40B4-BE49-F238E27FC236}">
                <a16:creationId xmlns:a16="http://schemas.microsoft.com/office/drawing/2014/main" id="{EECC2421-D43D-4E12-9070-921EFBC75748}"/>
              </a:ext>
            </a:extLst>
          </p:cNvPr>
          <p:cNvSpPr/>
          <p:nvPr/>
        </p:nvSpPr>
        <p:spPr>
          <a:xfrm>
            <a:off x="2179320" y="3325749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</a:t>
            </a:r>
            <a:endParaRPr lang="en-US" sz="1000" dirty="0"/>
          </a:p>
        </p:txBody>
      </p:sp>
      <p:sp>
        <p:nvSpPr>
          <p:cNvPr id="216" name="Text 29">
            <a:extLst>
              <a:ext uri="{FF2B5EF4-FFF2-40B4-BE49-F238E27FC236}">
                <a16:creationId xmlns:a16="http://schemas.microsoft.com/office/drawing/2014/main" id="{E8585CF6-6373-400D-808B-A8EADAA45B1B}"/>
              </a:ext>
            </a:extLst>
          </p:cNvPr>
          <p:cNvSpPr/>
          <p:nvPr/>
        </p:nvSpPr>
        <p:spPr>
          <a:xfrm>
            <a:off x="4053840" y="3325749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</a:t>
            </a:r>
            <a:endParaRPr lang="en-US" sz="1000" dirty="0"/>
          </a:p>
        </p:txBody>
      </p:sp>
      <p:sp>
        <p:nvSpPr>
          <p:cNvPr id="217" name="Text 30">
            <a:extLst>
              <a:ext uri="{FF2B5EF4-FFF2-40B4-BE49-F238E27FC236}">
                <a16:creationId xmlns:a16="http://schemas.microsoft.com/office/drawing/2014/main" id="{51A654F5-5A7C-4FAF-B27C-4990B6A20CA5}"/>
              </a:ext>
            </a:extLst>
          </p:cNvPr>
          <p:cNvSpPr/>
          <p:nvPr/>
        </p:nvSpPr>
        <p:spPr>
          <a:xfrm>
            <a:off x="5928360" y="3325749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Единая для сценариев</a:t>
            </a:r>
            <a:endParaRPr lang="en-US" sz="1000" dirty="0"/>
          </a:p>
        </p:txBody>
      </p:sp>
      <p:sp>
        <p:nvSpPr>
          <p:cNvPr id="218" name="Shape 31">
            <a:extLst>
              <a:ext uri="{FF2B5EF4-FFF2-40B4-BE49-F238E27FC236}">
                <a16:creationId xmlns:a16="http://schemas.microsoft.com/office/drawing/2014/main" id="{3BD213BF-0AFC-4A57-8F07-B8B4A6407ED7}"/>
              </a:ext>
            </a:extLst>
          </p:cNvPr>
          <p:cNvSpPr/>
          <p:nvPr/>
        </p:nvSpPr>
        <p:spPr>
          <a:xfrm>
            <a:off x="304800" y="3728085"/>
            <a:ext cx="7772400" cy="365760"/>
          </a:xfrm>
          <a:prstGeom prst="rect">
            <a:avLst/>
          </a:prstGeom>
          <a:solidFill>
            <a:srgbClr val="23232C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19" name="Text 32">
            <a:extLst>
              <a:ext uri="{FF2B5EF4-FFF2-40B4-BE49-F238E27FC236}">
                <a16:creationId xmlns:a16="http://schemas.microsoft.com/office/drawing/2014/main" id="{EDFA9282-FF23-4E24-91CE-146EB5E8B8DF}"/>
              </a:ext>
            </a:extLst>
          </p:cNvPr>
          <p:cNvSpPr/>
          <p:nvPr/>
        </p:nvSpPr>
        <p:spPr>
          <a:xfrm>
            <a:off x="396240" y="3728085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CLV (3 года)</a:t>
            </a:r>
            <a:endParaRPr lang="en-US" sz="1050" dirty="0"/>
          </a:p>
        </p:txBody>
      </p:sp>
      <p:sp>
        <p:nvSpPr>
          <p:cNvPr id="220" name="Text 33">
            <a:extLst>
              <a:ext uri="{FF2B5EF4-FFF2-40B4-BE49-F238E27FC236}">
                <a16:creationId xmlns:a16="http://schemas.microsoft.com/office/drawing/2014/main" id="{388A8001-1C20-4B57-B9D8-294B3298C36C}"/>
              </a:ext>
            </a:extLst>
          </p:cNvPr>
          <p:cNvSpPr/>
          <p:nvPr/>
        </p:nvSpPr>
        <p:spPr>
          <a:xfrm>
            <a:off x="2179320" y="3728085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~127 032 ₽/клиент</a:t>
            </a:r>
            <a:endParaRPr lang="en-US" sz="1000" dirty="0"/>
          </a:p>
        </p:txBody>
      </p:sp>
      <p:sp>
        <p:nvSpPr>
          <p:cNvPr id="221" name="Text 34">
            <a:extLst>
              <a:ext uri="{FF2B5EF4-FFF2-40B4-BE49-F238E27FC236}">
                <a16:creationId xmlns:a16="http://schemas.microsoft.com/office/drawing/2014/main" id="{1C2B6ECB-BF30-4D79-B3A7-95CC373EBE4D}"/>
              </a:ext>
            </a:extLst>
          </p:cNvPr>
          <p:cNvSpPr/>
          <p:nvPr/>
        </p:nvSpPr>
        <p:spPr>
          <a:xfrm>
            <a:off x="4053840" y="3728085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~158 761 ₽/клиент</a:t>
            </a:r>
            <a:endParaRPr lang="en-US" sz="1000" dirty="0"/>
          </a:p>
        </p:txBody>
      </p:sp>
      <p:sp>
        <p:nvSpPr>
          <p:cNvPr id="222" name="Text 35">
            <a:extLst>
              <a:ext uri="{FF2B5EF4-FFF2-40B4-BE49-F238E27FC236}">
                <a16:creationId xmlns:a16="http://schemas.microsoft.com/office/drawing/2014/main" id="{63C04E36-334A-4A66-9289-26B1CC7D52E9}"/>
              </a:ext>
            </a:extLst>
          </p:cNvPr>
          <p:cNvSpPr/>
          <p:nvPr/>
        </p:nvSpPr>
        <p:spPr>
          <a:xfrm>
            <a:off x="5928360" y="3728085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Прирост +25%</a:t>
            </a:r>
            <a:endParaRPr lang="en-US" sz="1000" dirty="0"/>
          </a:p>
        </p:txBody>
      </p:sp>
      <p:sp>
        <p:nvSpPr>
          <p:cNvPr id="223" name="Shape 36">
            <a:extLst>
              <a:ext uri="{FF2B5EF4-FFF2-40B4-BE49-F238E27FC236}">
                <a16:creationId xmlns:a16="http://schemas.microsoft.com/office/drawing/2014/main" id="{5402A242-7829-4B11-B1CC-015862BBF130}"/>
              </a:ext>
            </a:extLst>
          </p:cNvPr>
          <p:cNvSpPr/>
          <p:nvPr/>
        </p:nvSpPr>
        <p:spPr>
          <a:xfrm>
            <a:off x="300990" y="2255901"/>
            <a:ext cx="7772400" cy="256032"/>
          </a:xfrm>
          <a:prstGeom prst="rect">
            <a:avLst/>
          </a:prstGeom>
          <a:solidFill>
            <a:srgbClr val="23232C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24" name="Text 37">
            <a:extLst>
              <a:ext uri="{FF2B5EF4-FFF2-40B4-BE49-F238E27FC236}">
                <a16:creationId xmlns:a16="http://schemas.microsoft.com/office/drawing/2014/main" id="{72A70543-9A72-48CC-B41C-EE869A975682}"/>
              </a:ext>
            </a:extLst>
          </p:cNvPr>
          <p:cNvSpPr/>
          <p:nvPr/>
        </p:nvSpPr>
        <p:spPr>
          <a:xfrm>
            <a:off x="373380" y="2293811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</a:t>
            </a:r>
            <a:endParaRPr lang="en-US" sz="1050" dirty="0"/>
          </a:p>
        </p:txBody>
      </p:sp>
      <p:sp>
        <p:nvSpPr>
          <p:cNvPr id="225" name="Text 38">
            <a:extLst>
              <a:ext uri="{FF2B5EF4-FFF2-40B4-BE49-F238E27FC236}">
                <a16:creationId xmlns:a16="http://schemas.microsoft.com/office/drawing/2014/main" id="{16099D9D-6AE2-4952-A3BD-487601AF22C1}"/>
              </a:ext>
            </a:extLst>
          </p:cNvPr>
          <p:cNvSpPr/>
          <p:nvPr/>
        </p:nvSpPr>
        <p:spPr>
          <a:xfrm>
            <a:off x="2156460" y="2293811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AS-IS</a:t>
            </a:r>
            <a:endParaRPr lang="en-US" sz="1050" dirty="0"/>
          </a:p>
        </p:txBody>
      </p:sp>
      <p:sp>
        <p:nvSpPr>
          <p:cNvPr id="226" name="Text 39">
            <a:extLst>
              <a:ext uri="{FF2B5EF4-FFF2-40B4-BE49-F238E27FC236}">
                <a16:creationId xmlns:a16="http://schemas.microsoft.com/office/drawing/2014/main" id="{3702E502-F422-405A-9841-B645A082510E}"/>
              </a:ext>
            </a:extLst>
          </p:cNvPr>
          <p:cNvSpPr/>
          <p:nvPr/>
        </p:nvSpPr>
        <p:spPr>
          <a:xfrm>
            <a:off x="4030980" y="2293811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</a:t>
            </a:r>
            <a:endParaRPr lang="en-US" sz="1050" dirty="0"/>
          </a:p>
        </p:txBody>
      </p:sp>
      <p:sp>
        <p:nvSpPr>
          <p:cNvPr id="227" name="Text 40">
            <a:extLst>
              <a:ext uri="{FF2B5EF4-FFF2-40B4-BE49-F238E27FC236}">
                <a16:creationId xmlns:a16="http://schemas.microsoft.com/office/drawing/2014/main" id="{322CACB7-C06C-45BF-9F10-7EB185DF658B}"/>
              </a:ext>
            </a:extLst>
          </p:cNvPr>
          <p:cNvSpPr/>
          <p:nvPr/>
        </p:nvSpPr>
        <p:spPr>
          <a:xfrm>
            <a:off x="5905500" y="2293811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Примечание</a:t>
            </a:r>
            <a:endParaRPr lang="en-US" sz="1050" dirty="0"/>
          </a:p>
        </p:txBody>
      </p:sp>
      <p:sp>
        <p:nvSpPr>
          <p:cNvPr id="228" name="Shape 41">
            <a:extLst>
              <a:ext uri="{FF2B5EF4-FFF2-40B4-BE49-F238E27FC236}">
                <a16:creationId xmlns:a16="http://schemas.microsoft.com/office/drawing/2014/main" id="{E5BBB65C-83C9-415C-94DB-4894B7B3D6E3}"/>
              </a:ext>
            </a:extLst>
          </p:cNvPr>
          <p:cNvSpPr/>
          <p:nvPr/>
        </p:nvSpPr>
        <p:spPr>
          <a:xfrm>
            <a:off x="320040" y="4169664"/>
            <a:ext cx="36576" cy="195580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229" name="Text 42">
            <a:extLst>
              <a:ext uri="{FF2B5EF4-FFF2-40B4-BE49-F238E27FC236}">
                <a16:creationId xmlns:a16="http://schemas.microsoft.com/office/drawing/2014/main" id="{76D683D8-A17D-4517-9C37-747C5C9FAD40}"/>
              </a:ext>
            </a:extLst>
          </p:cNvPr>
          <p:cNvSpPr/>
          <p:nvPr/>
        </p:nvSpPr>
        <p:spPr>
          <a:xfrm>
            <a:off x="411480" y="413308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Воронка CR — базовый сценарий (средний сегмент)</a:t>
            </a:r>
            <a:endParaRPr lang="en-US" sz="1100" dirty="0"/>
          </a:p>
        </p:txBody>
      </p:sp>
      <p:sp>
        <p:nvSpPr>
          <p:cNvPr id="230" name="Shape 43">
            <a:extLst>
              <a:ext uri="{FF2B5EF4-FFF2-40B4-BE49-F238E27FC236}">
                <a16:creationId xmlns:a16="http://schemas.microsoft.com/office/drawing/2014/main" id="{4B31CB38-EACB-4B8E-9C32-3D3BB86081D1}"/>
              </a:ext>
            </a:extLst>
          </p:cNvPr>
          <p:cNvSpPr/>
          <p:nvPr/>
        </p:nvSpPr>
        <p:spPr>
          <a:xfrm>
            <a:off x="320040" y="4443984"/>
            <a:ext cx="7680960" cy="347472"/>
          </a:xfrm>
          <a:prstGeom prst="rect">
            <a:avLst/>
          </a:prstGeom>
          <a:solidFill>
            <a:srgbClr val="1E1E26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31" name="Text 44">
            <a:extLst>
              <a:ext uri="{FF2B5EF4-FFF2-40B4-BE49-F238E27FC236}">
                <a16:creationId xmlns:a16="http://schemas.microsoft.com/office/drawing/2014/main" id="{C926032F-DC48-478E-8242-17211027F007}"/>
              </a:ext>
            </a:extLst>
          </p:cNvPr>
          <p:cNvSpPr/>
          <p:nvPr/>
        </p:nvSpPr>
        <p:spPr>
          <a:xfrm>
            <a:off x="457200" y="4462272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</a:t>
            </a:r>
            <a:endParaRPr lang="en-US" sz="1050" dirty="0"/>
          </a:p>
        </p:txBody>
      </p:sp>
      <p:sp>
        <p:nvSpPr>
          <p:cNvPr id="232" name="Text 45">
            <a:extLst>
              <a:ext uri="{FF2B5EF4-FFF2-40B4-BE49-F238E27FC236}">
                <a16:creationId xmlns:a16="http://schemas.microsoft.com/office/drawing/2014/main" id="{467D5D89-6F41-4416-970F-C2EE60B37762}"/>
              </a:ext>
            </a:extLst>
          </p:cNvPr>
          <p:cNvSpPr/>
          <p:nvPr/>
        </p:nvSpPr>
        <p:spPr>
          <a:xfrm>
            <a:off x="5120640" y="4462272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2 000 000</a:t>
            </a:r>
            <a:endParaRPr lang="en-US" sz="1050" dirty="0"/>
          </a:p>
        </p:txBody>
      </p:sp>
      <p:sp>
        <p:nvSpPr>
          <p:cNvPr id="233" name="Text 46">
            <a:extLst>
              <a:ext uri="{FF2B5EF4-FFF2-40B4-BE49-F238E27FC236}">
                <a16:creationId xmlns:a16="http://schemas.microsoft.com/office/drawing/2014/main" id="{02A7B49B-0392-4883-9850-82D8EE5C36F8}"/>
              </a:ext>
            </a:extLst>
          </p:cNvPr>
          <p:cNvSpPr/>
          <p:nvPr/>
        </p:nvSpPr>
        <p:spPr>
          <a:xfrm>
            <a:off x="6858000" y="4462272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00" dirty="0"/>
          </a:p>
        </p:txBody>
      </p:sp>
      <p:sp>
        <p:nvSpPr>
          <p:cNvPr id="234" name="Shape 47">
            <a:extLst>
              <a:ext uri="{FF2B5EF4-FFF2-40B4-BE49-F238E27FC236}">
                <a16:creationId xmlns:a16="http://schemas.microsoft.com/office/drawing/2014/main" id="{2934D785-5638-47DE-8AC9-4D614BE0A2BD}"/>
              </a:ext>
            </a:extLst>
          </p:cNvPr>
          <p:cNvSpPr/>
          <p:nvPr/>
        </p:nvSpPr>
        <p:spPr>
          <a:xfrm>
            <a:off x="457200" y="4828032"/>
            <a:ext cx="7406640" cy="347472"/>
          </a:xfrm>
          <a:prstGeom prst="rect">
            <a:avLst/>
          </a:prstGeom>
          <a:solidFill>
            <a:srgbClr val="1E1E26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35" name="Text 48">
            <a:extLst>
              <a:ext uri="{FF2B5EF4-FFF2-40B4-BE49-F238E27FC236}">
                <a16:creationId xmlns:a16="http://schemas.microsoft.com/office/drawing/2014/main" id="{89E7EA91-412E-44CF-94EF-45D24AA207CA}"/>
              </a:ext>
            </a:extLst>
          </p:cNvPr>
          <p:cNvSpPr/>
          <p:nvPr/>
        </p:nvSpPr>
        <p:spPr>
          <a:xfrm>
            <a:off x="569595" y="4846320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Охват PDR (ср. по сегментам)</a:t>
            </a:r>
            <a:endParaRPr lang="en-US" sz="1050" dirty="0"/>
          </a:p>
        </p:txBody>
      </p:sp>
      <p:sp>
        <p:nvSpPr>
          <p:cNvPr id="236" name="Text 49">
            <a:extLst>
              <a:ext uri="{FF2B5EF4-FFF2-40B4-BE49-F238E27FC236}">
                <a16:creationId xmlns:a16="http://schemas.microsoft.com/office/drawing/2014/main" id="{34E66189-EFF9-420B-A6C0-18040620EE8E}"/>
              </a:ext>
            </a:extLst>
          </p:cNvPr>
          <p:cNvSpPr/>
          <p:nvPr/>
        </p:nvSpPr>
        <p:spPr>
          <a:xfrm>
            <a:off x="4961382" y="4846320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226 000</a:t>
            </a:r>
            <a:endParaRPr lang="en-US" sz="1050" dirty="0"/>
          </a:p>
        </p:txBody>
      </p:sp>
      <p:sp>
        <p:nvSpPr>
          <p:cNvPr id="237" name="Text 50">
            <a:extLst>
              <a:ext uri="{FF2B5EF4-FFF2-40B4-BE49-F238E27FC236}">
                <a16:creationId xmlns:a16="http://schemas.microsoft.com/office/drawing/2014/main" id="{5D571740-5253-40D0-92A8-0FEC7614FD0E}"/>
              </a:ext>
            </a:extLst>
          </p:cNvPr>
          <p:cNvSpPr/>
          <p:nvPr/>
        </p:nvSpPr>
        <p:spPr>
          <a:xfrm>
            <a:off x="6858000" y="48463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11.3%</a:t>
            </a:r>
            <a:endParaRPr lang="en-US" sz="1000" dirty="0"/>
          </a:p>
        </p:txBody>
      </p:sp>
      <p:sp>
        <p:nvSpPr>
          <p:cNvPr id="238" name="Shape 51">
            <a:extLst>
              <a:ext uri="{FF2B5EF4-FFF2-40B4-BE49-F238E27FC236}">
                <a16:creationId xmlns:a16="http://schemas.microsoft.com/office/drawing/2014/main" id="{026ACBB6-4756-4B1F-9119-E035AB1255B6}"/>
              </a:ext>
            </a:extLst>
          </p:cNvPr>
          <p:cNvSpPr/>
          <p:nvPr/>
        </p:nvSpPr>
        <p:spPr>
          <a:xfrm>
            <a:off x="594360" y="5212080"/>
            <a:ext cx="7132320" cy="347472"/>
          </a:xfrm>
          <a:prstGeom prst="rect">
            <a:avLst/>
          </a:prstGeom>
          <a:solidFill>
            <a:srgbClr val="1E1E26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239" name="Text 52">
            <a:extLst>
              <a:ext uri="{FF2B5EF4-FFF2-40B4-BE49-F238E27FC236}">
                <a16:creationId xmlns:a16="http://schemas.microsoft.com/office/drawing/2014/main" id="{3F707870-8286-4D64-B546-5B6923900775}"/>
              </a:ext>
            </a:extLst>
          </p:cNvPr>
          <p:cNvSpPr/>
          <p:nvPr/>
        </p:nvSpPr>
        <p:spPr>
          <a:xfrm>
            <a:off x="731520" y="5230368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 — открыли блок (10%)</a:t>
            </a:r>
            <a:endParaRPr lang="en-US" sz="1050" dirty="0"/>
          </a:p>
        </p:txBody>
      </p:sp>
      <p:sp>
        <p:nvSpPr>
          <p:cNvPr id="240" name="Text 53">
            <a:extLst>
              <a:ext uri="{FF2B5EF4-FFF2-40B4-BE49-F238E27FC236}">
                <a16:creationId xmlns:a16="http://schemas.microsoft.com/office/drawing/2014/main" id="{36637376-431C-46D0-9D6D-6276215AF9F6}"/>
              </a:ext>
            </a:extLst>
          </p:cNvPr>
          <p:cNvSpPr/>
          <p:nvPr/>
        </p:nvSpPr>
        <p:spPr>
          <a:xfrm>
            <a:off x="4794504" y="5267325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22 600</a:t>
            </a:r>
            <a:endParaRPr lang="en-US" sz="1050" dirty="0"/>
          </a:p>
        </p:txBody>
      </p:sp>
      <p:sp>
        <p:nvSpPr>
          <p:cNvPr id="241" name="Text 54">
            <a:extLst>
              <a:ext uri="{FF2B5EF4-FFF2-40B4-BE49-F238E27FC236}">
                <a16:creationId xmlns:a16="http://schemas.microsoft.com/office/drawing/2014/main" id="{50C3A6F4-6EC8-47B8-BCF8-77034EE141AD}"/>
              </a:ext>
            </a:extLst>
          </p:cNvPr>
          <p:cNvSpPr/>
          <p:nvPr/>
        </p:nvSpPr>
        <p:spPr>
          <a:xfrm>
            <a:off x="6707124" y="5230368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1.1%</a:t>
            </a:r>
            <a:endParaRPr lang="en-US" sz="1000" dirty="0"/>
          </a:p>
        </p:txBody>
      </p:sp>
      <p:sp>
        <p:nvSpPr>
          <p:cNvPr id="242" name="Shape 55">
            <a:extLst>
              <a:ext uri="{FF2B5EF4-FFF2-40B4-BE49-F238E27FC236}">
                <a16:creationId xmlns:a16="http://schemas.microsoft.com/office/drawing/2014/main" id="{D773A7E8-6EA0-4E62-AA55-A2FBC4ECE4CA}"/>
              </a:ext>
            </a:extLst>
          </p:cNvPr>
          <p:cNvSpPr/>
          <p:nvPr/>
        </p:nvSpPr>
        <p:spPr>
          <a:xfrm>
            <a:off x="731520" y="5596128"/>
            <a:ext cx="6858000" cy="347472"/>
          </a:xfrm>
          <a:prstGeom prst="rect">
            <a:avLst/>
          </a:prstGeom>
          <a:solidFill>
            <a:srgbClr val="1E1E26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243" name="Text 56">
            <a:extLst>
              <a:ext uri="{FF2B5EF4-FFF2-40B4-BE49-F238E27FC236}">
                <a16:creationId xmlns:a16="http://schemas.microsoft.com/office/drawing/2014/main" id="{4FC6647E-B1DF-4CFB-87F4-102DC1DDF493}"/>
              </a:ext>
            </a:extLst>
          </p:cNvPr>
          <p:cNvSpPr/>
          <p:nvPr/>
        </p:nvSpPr>
        <p:spPr>
          <a:xfrm>
            <a:off x="896112" y="5623560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 в заявку (3.5%)</a:t>
            </a:r>
            <a:endParaRPr lang="en-US" sz="1050" dirty="0"/>
          </a:p>
        </p:txBody>
      </p:sp>
      <p:sp>
        <p:nvSpPr>
          <p:cNvPr id="244" name="Text 57">
            <a:extLst>
              <a:ext uri="{FF2B5EF4-FFF2-40B4-BE49-F238E27FC236}">
                <a16:creationId xmlns:a16="http://schemas.microsoft.com/office/drawing/2014/main" id="{57592406-039E-4E3F-81A6-D48F82D526CF}"/>
              </a:ext>
            </a:extLst>
          </p:cNvPr>
          <p:cNvSpPr/>
          <p:nvPr/>
        </p:nvSpPr>
        <p:spPr>
          <a:xfrm>
            <a:off x="4553712" y="5614416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791</a:t>
            </a:r>
            <a:endParaRPr lang="en-US" sz="1050" dirty="0"/>
          </a:p>
        </p:txBody>
      </p:sp>
      <p:sp>
        <p:nvSpPr>
          <p:cNvPr id="245" name="Text 58">
            <a:extLst>
              <a:ext uri="{FF2B5EF4-FFF2-40B4-BE49-F238E27FC236}">
                <a16:creationId xmlns:a16="http://schemas.microsoft.com/office/drawing/2014/main" id="{599C033B-85A1-45DA-89BF-88DC5FD1F4D3}"/>
              </a:ext>
            </a:extLst>
          </p:cNvPr>
          <p:cNvSpPr/>
          <p:nvPr/>
        </p:nvSpPr>
        <p:spPr>
          <a:xfrm>
            <a:off x="6583680" y="562356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0.04%</a:t>
            </a:r>
            <a:endParaRPr lang="en-US" sz="1000" dirty="0"/>
          </a:p>
        </p:txBody>
      </p:sp>
      <p:sp>
        <p:nvSpPr>
          <p:cNvPr id="246" name="Shape 59">
            <a:extLst>
              <a:ext uri="{FF2B5EF4-FFF2-40B4-BE49-F238E27FC236}">
                <a16:creationId xmlns:a16="http://schemas.microsoft.com/office/drawing/2014/main" id="{40FFCD36-2E65-4B35-A4D6-AA36235AB127}"/>
              </a:ext>
            </a:extLst>
          </p:cNvPr>
          <p:cNvSpPr/>
          <p:nvPr/>
        </p:nvSpPr>
        <p:spPr>
          <a:xfrm>
            <a:off x="868680" y="5980176"/>
            <a:ext cx="6583680" cy="347472"/>
          </a:xfrm>
          <a:prstGeom prst="rect">
            <a:avLst/>
          </a:prstGeom>
          <a:solidFill>
            <a:srgbClr val="1E1E26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247" name="Text 60">
            <a:extLst>
              <a:ext uri="{FF2B5EF4-FFF2-40B4-BE49-F238E27FC236}">
                <a16:creationId xmlns:a16="http://schemas.microsoft.com/office/drawing/2014/main" id="{021945B2-D579-4E51-B2A3-0B4C3F8929B6}"/>
              </a:ext>
            </a:extLst>
          </p:cNvPr>
          <p:cNvSpPr/>
          <p:nvPr/>
        </p:nvSpPr>
        <p:spPr>
          <a:xfrm>
            <a:off x="1034415" y="6007608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Объём заявок (× 64 000 ₽)</a:t>
            </a:r>
            <a:endParaRPr lang="en-US" sz="1050" dirty="0"/>
          </a:p>
        </p:txBody>
      </p:sp>
      <p:sp>
        <p:nvSpPr>
          <p:cNvPr id="248" name="Text 61">
            <a:extLst>
              <a:ext uri="{FF2B5EF4-FFF2-40B4-BE49-F238E27FC236}">
                <a16:creationId xmlns:a16="http://schemas.microsoft.com/office/drawing/2014/main" id="{B3AAFE00-1665-4886-9E0E-C08825E8FBDF}"/>
              </a:ext>
            </a:extLst>
          </p:cNvPr>
          <p:cNvSpPr/>
          <p:nvPr/>
        </p:nvSpPr>
        <p:spPr>
          <a:xfrm>
            <a:off x="4586288" y="6016752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50.6 млн ₽</a:t>
            </a:r>
            <a:endParaRPr lang="en-US" sz="1050" dirty="0"/>
          </a:p>
        </p:txBody>
      </p:sp>
      <p:sp>
        <p:nvSpPr>
          <p:cNvPr id="249" name="Text 62">
            <a:extLst>
              <a:ext uri="{FF2B5EF4-FFF2-40B4-BE49-F238E27FC236}">
                <a16:creationId xmlns:a16="http://schemas.microsoft.com/office/drawing/2014/main" id="{F29B06C0-05B8-418D-92BE-1DE46020D093}"/>
              </a:ext>
            </a:extLst>
          </p:cNvPr>
          <p:cNvSpPr/>
          <p:nvPr/>
        </p:nvSpPr>
        <p:spPr>
          <a:xfrm>
            <a:off x="6292215" y="6007608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250" name="Shape 63">
            <a:extLst>
              <a:ext uri="{FF2B5EF4-FFF2-40B4-BE49-F238E27FC236}">
                <a16:creationId xmlns:a16="http://schemas.microsoft.com/office/drawing/2014/main" id="{0A86FDB5-4348-41B3-838E-7966F0821CCF}"/>
              </a:ext>
            </a:extLst>
          </p:cNvPr>
          <p:cNvSpPr/>
          <p:nvPr/>
        </p:nvSpPr>
        <p:spPr>
          <a:xfrm>
            <a:off x="8321040" y="1170432"/>
            <a:ext cx="36576" cy="195580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251" name="Text 64">
            <a:extLst>
              <a:ext uri="{FF2B5EF4-FFF2-40B4-BE49-F238E27FC236}">
                <a16:creationId xmlns:a16="http://schemas.microsoft.com/office/drawing/2014/main" id="{ABA01FE6-E24B-4155-B5A5-47DE2ED008B0}"/>
              </a:ext>
            </a:extLst>
          </p:cNvPr>
          <p:cNvSpPr/>
          <p:nvPr/>
        </p:nvSpPr>
        <p:spPr>
          <a:xfrm>
            <a:off x="8412480" y="113385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+ сценарный анализ</a:t>
            </a:r>
            <a:endParaRPr lang="en-US" sz="1100" dirty="0"/>
          </a:p>
        </p:txBody>
      </p:sp>
      <p:sp>
        <p:nvSpPr>
          <p:cNvPr id="252" name="Shape 65">
            <a:extLst>
              <a:ext uri="{FF2B5EF4-FFF2-40B4-BE49-F238E27FC236}">
                <a16:creationId xmlns:a16="http://schemas.microsoft.com/office/drawing/2014/main" id="{4A88A73A-6F57-418E-85DC-30F51682C6AB}"/>
              </a:ext>
            </a:extLst>
          </p:cNvPr>
          <p:cNvSpPr/>
          <p:nvPr/>
        </p:nvSpPr>
        <p:spPr>
          <a:xfrm>
            <a:off x="8321040" y="1444752"/>
            <a:ext cx="3566160" cy="1371600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53" name="Text 66">
            <a:extLst>
              <a:ext uri="{FF2B5EF4-FFF2-40B4-BE49-F238E27FC236}">
                <a16:creationId xmlns:a16="http://schemas.microsoft.com/office/drawing/2014/main" id="{83B0B13B-CC8A-4143-BAD8-EDDC39470FA4}"/>
              </a:ext>
            </a:extLst>
          </p:cNvPr>
          <p:cNvSpPr/>
          <p:nvPr/>
        </p:nvSpPr>
        <p:spPr>
          <a:xfrm>
            <a:off x="8412480" y="1481328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Экономика удержания</a:t>
            </a:r>
            <a:endParaRPr lang="en-US" sz="1050" dirty="0"/>
          </a:p>
        </p:txBody>
      </p:sp>
      <p:sp>
        <p:nvSpPr>
          <p:cNvPr id="254" name="Text 67">
            <a:extLst>
              <a:ext uri="{FF2B5EF4-FFF2-40B4-BE49-F238E27FC236}">
                <a16:creationId xmlns:a16="http://schemas.microsoft.com/office/drawing/2014/main" id="{860FEC3B-DEF0-4B72-B7B0-78B8A7548D7B}"/>
              </a:ext>
            </a:extLst>
          </p:cNvPr>
          <p:cNvSpPr/>
          <p:nvPr/>
        </p:nvSpPr>
        <p:spPr>
          <a:xfrm>
            <a:off x="8412480" y="173736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AS-IS: 22%  →  TO-BE: 15%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Снижение на 7 </a:t>
            </a:r>
            <a:r>
              <a:rPr lang="ru-RU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</a:t>
            </a:r>
            <a:r>
              <a:rPr lang="en-US" sz="105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</a:t>
            </a: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базы 2 млн клиентов:</a:t>
            </a:r>
            <a:endParaRPr lang="en-US" sz="1050" dirty="0"/>
          </a:p>
        </p:txBody>
      </p:sp>
      <p:sp>
        <p:nvSpPr>
          <p:cNvPr id="255" name="Text 68">
            <a:extLst>
              <a:ext uri="{FF2B5EF4-FFF2-40B4-BE49-F238E27FC236}">
                <a16:creationId xmlns:a16="http://schemas.microsoft.com/office/drawing/2014/main" id="{F5448F1C-DB33-4EAD-9501-14F154DA83F3}"/>
              </a:ext>
            </a:extLst>
          </p:cNvPr>
          <p:cNvSpPr/>
          <p:nvPr/>
        </p:nvSpPr>
        <p:spPr>
          <a:xfrm>
            <a:off x="8412480" y="213969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140 000 клиентов × CAC ≈ 2 000 ₽ = 280 млн ₽/год</a:t>
            </a:r>
            <a:endParaRPr lang="en-US" sz="1000" dirty="0"/>
          </a:p>
        </p:txBody>
      </p:sp>
      <p:sp>
        <p:nvSpPr>
          <p:cNvPr id="256" name="Text 69">
            <a:extLst>
              <a:ext uri="{FF2B5EF4-FFF2-40B4-BE49-F238E27FC236}">
                <a16:creationId xmlns:a16="http://schemas.microsoft.com/office/drawing/2014/main" id="{B1D0B902-299F-4820-A88D-91C2ED827392}"/>
              </a:ext>
            </a:extLst>
          </p:cNvPr>
          <p:cNvSpPr/>
          <p:nvPr/>
        </p:nvSpPr>
        <p:spPr>
          <a:xfrm>
            <a:off x="8412480" y="2395728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экономии на привлечении</a:t>
            </a:r>
            <a:endParaRPr lang="en-US" sz="1050" dirty="0"/>
          </a:p>
        </p:txBody>
      </p:sp>
      <p:sp>
        <p:nvSpPr>
          <p:cNvPr id="257" name="Shape 70">
            <a:extLst>
              <a:ext uri="{FF2B5EF4-FFF2-40B4-BE49-F238E27FC236}">
                <a16:creationId xmlns:a16="http://schemas.microsoft.com/office/drawing/2014/main" id="{F0ABD14A-3631-4E12-8459-934F624B3ECC}"/>
              </a:ext>
            </a:extLst>
          </p:cNvPr>
          <p:cNvSpPr/>
          <p:nvPr/>
        </p:nvSpPr>
        <p:spPr>
          <a:xfrm>
            <a:off x="8321040" y="3035808"/>
            <a:ext cx="36576" cy="195580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312" name="Text 71">
            <a:extLst>
              <a:ext uri="{FF2B5EF4-FFF2-40B4-BE49-F238E27FC236}">
                <a16:creationId xmlns:a16="http://schemas.microsoft.com/office/drawing/2014/main" id="{9C53D460-B0DB-4B7B-B40D-E402172BB8DD}"/>
              </a:ext>
            </a:extLst>
          </p:cNvPr>
          <p:cNvSpPr/>
          <p:nvPr/>
        </p:nvSpPr>
        <p:spPr>
          <a:xfrm>
            <a:off x="8412480" y="29992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Сценарный анализ CTR / CR</a:t>
            </a:r>
            <a:endParaRPr lang="en-US" sz="1100" dirty="0"/>
          </a:p>
        </p:txBody>
      </p:sp>
      <p:sp>
        <p:nvSpPr>
          <p:cNvPr id="313" name="Shape 72">
            <a:extLst>
              <a:ext uri="{FF2B5EF4-FFF2-40B4-BE49-F238E27FC236}">
                <a16:creationId xmlns:a16="http://schemas.microsoft.com/office/drawing/2014/main" id="{3216EBDD-294F-4AE6-A0CC-F7812E28F5F9}"/>
              </a:ext>
            </a:extLst>
          </p:cNvPr>
          <p:cNvSpPr/>
          <p:nvPr/>
        </p:nvSpPr>
        <p:spPr>
          <a:xfrm>
            <a:off x="8321040" y="3273552"/>
            <a:ext cx="3566160" cy="256032"/>
          </a:xfrm>
          <a:prstGeom prst="rect">
            <a:avLst/>
          </a:prstGeom>
          <a:solidFill>
            <a:srgbClr val="23232C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314" name="Text 73">
            <a:extLst>
              <a:ext uri="{FF2B5EF4-FFF2-40B4-BE49-F238E27FC236}">
                <a16:creationId xmlns:a16="http://schemas.microsoft.com/office/drawing/2014/main" id="{8E09DB7A-ACAA-4D76-AD04-6685CEE658C1}"/>
              </a:ext>
            </a:extLst>
          </p:cNvPr>
          <p:cNvSpPr/>
          <p:nvPr/>
        </p:nvSpPr>
        <p:spPr>
          <a:xfrm>
            <a:off x="8412480" y="3291840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Сценарий</a:t>
            </a:r>
            <a:endParaRPr lang="en-US" sz="1050" dirty="0"/>
          </a:p>
        </p:txBody>
      </p:sp>
      <p:sp>
        <p:nvSpPr>
          <p:cNvPr id="315" name="Text 74">
            <a:extLst>
              <a:ext uri="{FF2B5EF4-FFF2-40B4-BE49-F238E27FC236}">
                <a16:creationId xmlns:a16="http://schemas.microsoft.com/office/drawing/2014/main" id="{21AA6BC0-2D52-47CD-9AE2-7F08FDFDBB12}"/>
              </a:ext>
            </a:extLst>
          </p:cNvPr>
          <p:cNvSpPr/>
          <p:nvPr/>
        </p:nvSpPr>
        <p:spPr>
          <a:xfrm>
            <a:off x="10058400" y="3291840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</a:t>
            </a:r>
            <a:endParaRPr lang="en-US" sz="1050" dirty="0"/>
          </a:p>
        </p:txBody>
      </p:sp>
      <p:sp>
        <p:nvSpPr>
          <p:cNvPr id="316" name="Text 75">
            <a:extLst>
              <a:ext uri="{FF2B5EF4-FFF2-40B4-BE49-F238E27FC236}">
                <a16:creationId xmlns:a16="http://schemas.microsoft.com/office/drawing/2014/main" id="{4C5EC7B1-9273-45CB-B98C-CF02052A8653}"/>
              </a:ext>
            </a:extLst>
          </p:cNvPr>
          <p:cNvSpPr/>
          <p:nvPr/>
        </p:nvSpPr>
        <p:spPr>
          <a:xfrm>
            <a:off x="10835640" y="3291840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</a:t>
            </a:r>
            <a:endParaRPr lang="en-US" sz="1050" dirty="0"/>
          </a:p>
        </p:txBody>
      </p:sp>
      <p:sp>
        <p:nvSpPr>
          <p:cNvPr id="317" name="Shape 76">
            <a:extLst>
              <a:ext uri="{FF2B5EF4-FFF2-40B4-BE49-F238E27FC236}">
                <a16:creationId xmlns:a16="http://schemas.microsoft.com/office/drawing/2014/main" id="{DFAA65B8-D472-4AE8-9A68-D769FE27519A}"/>
              </a:ext>
            </a:extLst>
          </p:cNvPr>
          <p:cNvSpPr/>
          <p:nvPr/>
        </p:nvSpPr>
        <p:spPr>
          <a:xfrm>
            <a:off x="8321040" y="3566160"/>
            <a:ext cx="3566160" cy="402336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318" name="Text 77">
            <a:extLst>
              <a:ext uri="{FF2B5EF4-FFF2-40B4-BE49-F238E27FC236}">
                <a16:creationId xmlns:a16="http://schemas.microsoft.com/office/drawing/2014/main" id="{45F92806-DA7B-4DAD-8012-7A178912D2AD}"/>
              </a:ext>
            </a:extLst>
          </p:cNvPr>
          <p:cNvSpPr/>
          <p:nvPr/>
        </p:nvSpPr>
        <p:spPr>
          <a:xfrm>
            <a:off x="8412480" y="3566160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Пессимистичный</a:t>
            </a:r>
            <a:endParaRPr lang="en-US" sz="1050" dirty="0"/>
          </a:p>
        </p:txBody>
      </p:sp>
      <p:sp>
        <p:nvSpPr>
          <p:cNvPr id="319" name="Text 78">
            <a:extLst>
              <a:ext uri="{FF2B5EF4-FFF2-40B4-BE49-F238E27FC236}">
                <a16:creationId xmlns:a16="http://schemas.microsoft.com/office/drawing/2014/main" id="{1CF51D92-DB1F-41A5-B5D5-1C8FA7B8E0FA}"/>
              </a:ext>
            </a:extLst>
          </p:cNvPr>
          <p:cNvSpPr/>
          <p:nvPr/>
        </p:nvSpPr>
        <p:spPr>
          <a:xfrm>
            <a:off x="10058400" y="3566160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900" dirty="0"/>
          </a:p>
        </p:txBody>
      </p:sp>
      <p:sp>
        <p:nvSpPr>
          <p:cNvPr id="320" name="Text 79">
            <a:extLst>
              <a:ext uri="{FF2B5EF4-FFF2-40B4-BE49-F238E27FC236}">
                <a16:creationId xmlns:a16="http://schemas.microsoft.com/office/drawing/2014/main" id="{47ED1A2B-3420-40F3-886B-61C74F15A9F8}"/>
              </a:ext>
            </a:extLst>
          </p:cNvPr>
          <p:cNvSpPr/>
          <p:nvPr/>
        </p:nvSpPr>
        <p:spPr>
          <a:xfrm>
            <a:off x="10835640" y="3566160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3.0%</a:t>
            </a:r>
            <a:endParaRPr lang="en-US" sz="900" dirty="0"/>
          </a:p>
        </p:txBody>
      </p:sp>
      <p:sp>
        <p:nvSpPr>
          <p:cNvPr id="321" name="Shape 80">
            <a:extLst>
              <a:ext uri="{FF2B5EF4-FFF2-40B4-BE49-F238E27FC236}">
                <a16:creationId xmlns:a16="http://schemas.microsoft.com/office/drawing/2014/main" id="{F3642AB5-69C8-4EA2-9C28-D90317188170}"/>
              </a:ext>
            </a:extLst>
          </p:cNvPr>
          <p:cNvSpPr/>
          <p:nvPr/>
        </p:nvSpPr>
        <p:spPr>
          <a:xfrm>
            <a:off x="8321040" y="4005072"/>
            <a:ext cx="3566160" cy="402336"/>
          </a:xfrm>
          <a:prstGeom prst="rect">
            <a:avLst/>
          </a:prstGeom>
          <a:solidFill>
            <a:srgbClr val="1A20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322" name="Text 81">
            <a:extLst>
              <a:ext uri="{FF2B5EF4-FFF2-40B4-BE49-F238E27FC236}">
                <a16:creationId xmlns:a16="http://schemas.microsoft.com/office/drawing/2014/main" id="{27385C9C-AAF4-4ADB-810A-5C11B7148F15}"/>
              </a:ext>
            </a:extLst>
          </p:cNvPr>
          <p:cNvSpPr/>
          <p:nvPr/>
        </p:nvSpPr>
        <p:spPr>
          <a:xfrm>
            <a:off x="8412480" y="4005072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Базовый</a:t>
            </a:r>
            <a:endParaRPr lang="en-US" sz="1050" dirty="0"/>
          </a:p>
        </p:txBody>
      </p:sp>
      <p:sp>
        <p:nvSpPr>
          <p:cNvPr id="323" name="Text 82">
            <a:extLst>
              <a:ext uri="{FF2B5EF4-FFF2-40B4-BE49-F238E27FC236}">
                <a16:creationId xmlns:a16="http://schemas.microsoft.com/office/drawing/2014/main" id="{053612C1-9C15-446B-8E2C-C6D0C3CD9812}"/>
              </a:ext>
            </a:extLst>
          </p:cNvPr>
          <p:cNvSpPr/>
          <p:nvPr/>
        </p:nvSpPr>
        <p:spPr>
          <a:xfrm>
            <a:off x="10058400" y="4005072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900" dirty="0"/>
          </a:p>
        </p:txBody>
      </p:sp>
      <p:sp>
        <p:nvSpPr>
          <p:cNvPr id="324" name="Text 83">
            <a:extLst>
              <a:ext uri="{FF2B5EF4-FFF2-40B4-BE49-F238E27FC236}">
                <a16:creationId xmlns:a16="http://schemas.microsoft.com/office/drawing/2014/main" id="{7E6E3302-ACC4-44FC-833E-A5E665F780DE}"/>
              </a:ext>
            </a:extLst>
          </p:cNvPr>
          <p:cNvSpPr/>
          <p:nvPr/>
        </p:nvSpPr>
        <p:spPr>
          <a:xfrm>
            <a:off x="10835640" y="4005072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3.5%</a:t>
            </a:r>
            <a:endParaRPr lang="en-US" sz="900" dirty="0"/>
          </a:p>
        </p:txBody>
      </p:sp>
      <p:sp>
        <p:nvSpPr>
          <p:cNvPr id="325" name="Shape 84">
            <a:extLst>
              <a:ext uri="{FF2B5EF4-FFF2-40B4-BE49-F238E27FC236}">
                <a16:creationId xmlns:a16="http://schemas.microsoft.com/office/drawing/2014/main" id="{6CABA785-DA6B-423B-B175-913DE94EB68E}"/>
              </a:ext>
            </a:extLst>
          </p:cNvPr>
          <p:cNvSpPr/>
          <p:nvPr/>
        </p:nvSpPr>
        <p:spPr>
          <a:xfrm>
            <a:off x="8321040" y="4443984"/>
            <a:ext cx="3566160" cy="402336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326" name="Text 85">
            <a:extLst>
              <a:ext uri="{FF2B5EF4-FFF2-40B4-BE49-F238E27FC236}">
                <a16:creationId xmlns:a16="http://schemas.microsoft.com/office/drawing/2014/main" id="{A400172A-7874-4D42-AD55-D8E20F358198}"/>
              </a:ext>
            </a:extLst>
          </p:cNvPr>
          <p:cNvSpPr/>
          <p:nvPr/>
        </p:nvSpPr>
        <p:spPr>
          <a:xfrm>
            <a:off x="8412480" y="4443984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Оптимистичный</a:t>
            </a:r>
            <a:endParaRPr lang="en-US" sz="1050" dirty="0"/>
          </a:p>
        </p:txBody>
      </p:sp>
      <p:sp>
        <p:nvSpPr>
          <p:cNvPr id="327" name="Text 86">
            <a:extLst>
              <a:ext uri="{FF2B5EF4-FFF2-40B4-BE49-F238E27FC236}">
                <a16:creationId xmlns:a16="http://schemas.microsoft.com/office/drawing/2014/main" id="{F7833071-A66B-4E6F-AE71-FBEA2165024F}"/>
              </a:ext>
            </a:extLst>
          </p:cNvPr>
          <p:cNvSpPr/>
          <p:nvPr/>
        </p:nvSpPr>
        <p:spPr>
          <a:xfrm>
            <a:off x="10058400" y="4443984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900" dirty="0"/>
          </a:p>
        </p:txBody>
      </p:sp>
      <p:sp>
        <p:nvSpPr>
          <p:cNvPr id="328" name="Text 87">
            <a:extLst>
              <a:ext uri="{FF2B5EF4-FFF2-40B4-BE49-F238E27FC236}">
                <a16:creationId xmlns:a16="http://schemas.microsoft.com/office/drawing/2014/main" id="{7B58FBAA-2463-4786-8CFF-805CD6605D63}"/>
              </a:ext>
            </a:extLst>
          </p:cNvPr>
          <p:cNvSpPr/>
          <p:nvPr/>
        </p:nvSpPr>
        <p:spPr>
          <a:xfrm>
            <a:off x="10835640" y="4443984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4.0%</a:t>
            </a:r>
            <a:endParaRPr lang="en-US" sz="900" dirty="0"/>
          </a:p>
        </p:txBody>
      </p:sp>
      <p:sp>
        <p:nvSpPr>
          <p:cNvPr id="329" name="Shape 88">
            <a:extLst>
              <a:ext uri="{FF2B5EF4-FFF2-40B4-BE49-F238E27FC236}">
                <a16:creationId xmlns:a16="http://schemas.microsoft.com/office/drawing/2014/main" id="{5EBC30E1-617D-4488-B04C-661006A5602C}"/>
              </a:ext>
            </a:extLst>
          </p:cNvPr>
          <p:cNvSpPr/>
          <p:nvPr/>
        </p:nvSpPr>
        <p:spPr>
          <a:xfrm>
            <a:off x="8321040" y="4864608"/>
            <a:ext cx="36576" cy="195580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330" name="Text 89">
            <a:extLst>
              <a:ext uri="{FF2B5EF4-FFF2-40B4-BE49-F238E27FC236}">
                <a16:creationId xmlns:a16="http://schemas.microsoft.com/office/drawing/2014/main" id="{55400B19-E971-40AA-B15C-92828648B017}"/>
              </a:ext>
            </a:extLst>
          </p:cNvPr>
          <p:cNvSpPr/>
          <p:nvPr/>
        </p:nvSpPr>
        <p:spPr>
          <a:xfrm>
            <a:off x="8412480" y="48280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PDR по сегментам (</a:t>
            </a:r>
            <a:r>
              <a:rPr lang="en-US" sz="11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бенчмарк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Сбер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Т-</a:t>
            </a:r>
            <a:r>
              <a:rPr lang="en-US" sz="11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Банк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100" dirty="0"/>
          </a:p>
        </p:txBody>
      </p:sp>
      <p:sp>
        <p:nvSpPr>
          <p:cNvPr id="331" name="Shape 90">
            <a:extLst>
              <a:ext uri="{FF2B5EF4-FFF2-40B4-BE49-F238E27FC236}">
                <a16:creationId xmlns:a16="http://schemas.microsoft.com/office/drawing/2014/main" id="{7439647C-AB27-42E9-8423-75C5F14FFA59}"/>
              </a:ext>
            </a:extLst>
          </p:cNvPr>
          <p:cNvSpPr/>
          <p:nvPr/>
        </p:nvSpPr>
        <p:spPr>
          <a:xfrm>
            <a:off x="8321040" y="5138928"/>
            <a:ext cx="3566160" cy="292608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332" name="Shape 91">
            <a:extLst>
              <a:ext uri="{FF2B5EF4-FFF2-40B4-BE49-F238E27FC236}">
                <a16:creationId xmlns:a16="http://schemas.microsoft.com/office/drawing/2014/main" id="{AE07678E-5DE8-42D8-A291-237A20CAB83B}"/>
              </a:ext>
            </a:extLst>
          </p:cNvPr>
          <p:cNvSpPr/>
          <p:nvPr/>
        </p:nvSpPr>
        <p:spPr>
          <a:xfrm>
            <a:off x="8321040" y="5138928"/>
            <a:ext cx="36576" cy="2926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33" name="Text 92">
            <a:extLst>
              <a:ext uri="{FF2B5EF4-FFF2-40B4-BE49-F238E27FC236}">
                <a16:creationId xmlns:a16="http://schemas.microsoft.com/office/drawing/2014/main" id="{845F73DF-49DC-4275-A8BA-E82517E3561F}"/>
              </a:ext>
            </a:extLst>
          </p:cNvPr>
          <p:cNvSpPr/>
          <p:nvPr/>
        </p:nvSpPr>
        <p:spPr>
          <a:xfrm>
            <a:off x="8430768" y="513892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Отпуск ️</a:t>
            </a:r>
            <a:endParaRPr lang="en-US" sz="1050" dirty="0"/>
          </a:p>
        </p:txBody>
      </p:sp>
      <p:sp>
        <p:nvSpPr>
          <p:cNvPr id="334" name="Text 93">
            <a:extLst>
              <a:ext uri="{FF2B5EF4-FFF2-40B4-BE49-F238E27FC236}">
                <a16:creationId xmlns:a16="http://schemas.microsoft.com/office/drawing/2014/main" id="{DEAC905C-C967-429A-8451-F3190D310DA1}"/>
              </a:ext>
            </a:extLst>
          </p:cNvPr>
          <p:cNvSpPr/>
          <p:nvPr/>
        </p:nvSpPr>
        <p:spPr>
          <a:xfrm>
            <a:off x="9738360" y="5138928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18.75%</a:t>
            </a:r>
            <a:endParaRPr lang="en-US" sz="900" dirty="0"/>
          </a:p>
        </p:txBody>
      </p:sp>
      <p:sp>
        <p:nvSpPr>
          <p:cNvPr id="335" name="Text 94">
            <a:extLst>
              <a:ext uri="{FF2B5EF4-FFF2-40B4-BE49-F238E27FC236}">
                <a16:creationId xmlns:a16="http://schemas.microsoft.com/office/drawing/2014/main" id="{CA30BE12-58F4-4FF6-A239-03A2576C0526}"/>
              </a:ext>
            </a:extLst>
          </p:cNvPr>
          <p:cNvSpPr/>
          <p:nvPr/>
        </p:nvSpPr>
        <p:spPr>
          <a:xfrm>
            <a:off x="10515600" y="513892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Т-</a:t>
            </a:r>
            <a:r>
              <a:rPr lang="en-US" sz="10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Банк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Путешествия</a:t>
            </a:r>
            <a:endParaRPr lang="en-US" sz="1000" dirty="0"/>
          </a:p>
        </p:txBody>
      </p:sp>
      <p:sp>
        <p:nvSpPr>
          <p:cNvPr id="336" name="Shape 95">
            <a:extLst>
              <a:ext uri="{FF2B5EF4-FFF2-40B4-BE49-F238E27FC236}">
                <a16:creationId xmlns:a16="http://schemas.microsoft.com/office/drawing/2014/main" id="{FCEFC69B-C8E6-4068-869D-18A5C7A5D625}"/>
              </a:ext>
            </a:extLst>
          </p:cNvPr>
          <p:cNvSpPr/>
          <p:nvPr/>
        </p:nvSpPr>
        <p:spPr>
          <a:xfrm>
            <a:off x="8321040" y="5468112"/>
            <a:ext cx="3566160" cy="292608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337" name="Shape 96">
            <a:extLst>
              <a:ext uri="{FF2B5EF4-FFF2-40B4-BE49-F238E27FC236}">
                <a16:creationId xmlns:a16="http://schemas.microsoft.com/office/drawing/2014/main" id="{C5985AB6-EB30-4597-B3D1-7B956E35BC27}"/>
              </a:ext>
            </a:extLst>
          </p:cNvPr>
          <p:cNvSpPr/>
          <p:nvPr/>
        </p:nvSpPr>
        <p:spPr>
          <a:xfrm>
            <a:off x="8321040" y="5468112"/>
            <a:ext cx="36576" cy="292608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338" name="Text 97">
            <a:extLst>
              <a:ext uri="{FF2B5EF4-FFF2-40B4-BE49-F238E27FC236}">
                <a16:creationId xmlns:a16="http://schemas.microsoft.com/office/drawing/2014/main" id="{E4D40CCA-0202-4465-BFAE-DF2ABF3DDC39}"/>
              </a:ext>
            </a:extLst>
          </p:cNvPr>
          <p:cNvSpPr/>
          <p:nvPr/>
        </p:nvSpPr>
        <p:spPr>
          <a:xfrm>
            <a:off x="8430768" y="546811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Ремонт </a:t>
            </a:r>
            <a:endParaRPr lang="en-US" sz="1050" dirty="0"/>
          </a:p>
        </p:txBody>
      </p:sp>
      <p:sp>
        <p:nvSpPr>
          <p:cNvPr id="339" name="Text 98">
            <a:extLst>
              <a:ext uri="{FF2B5EF4-FFF2-40B4-BE49-F238E27FC236}">
                <a16:creationId xmlns:a16="http://schemas.microsoft.com/office/drawing/2014/main" id="{1AE0E1FF-D242-4877-9321-E2A9DF6F53B1}"/>
              </a:ext>
            </a:extLst>
          </p:cNvPr>
          <p:cNvSpPr/>
          <p:nvPr/>
        </p:nvSpPr>
        <p:spPr>
          <a:xfrm>
            <a:off x="9738360" y="546811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13.6%</a:t>
            </a:r>
            <a:endParaRPr lang="en-US" sz="900" dirty="0"/>
          </a:p>
        </p:txBody>
      </p:sp>
      <p:sp>
        <p:nvSpPr>
          <p:cNvPr id="340" name="Text 99">
            <a:extLst>
              <a:ext uri="{FF2B5EF4-FFF2-40B4-BE49-F238E27FC236}">
                <a16:creationId xmlns:a16="http://schemas.microsoft.com/office/drawing/2014/main" id="{811CA081-2168-4FC5-B9F2-DFBE6378D76C}"/>
              </a:ext>
            </a:extLst>
          </p:cNvPr>
          <p:cNvSpPr/>
          <p:nvPr/>
        </p:nvSpPr>
        <p:spPr>
          <a:xfrm>
            <a:off x="10515600" y="546811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Сбер Дом</a:t>
            </a:r>
            <a:endParaRPr lang="en-US" sz="1000" dirty="0"/>
          </a:p>
        </p:txBody>
      </p:sp>
      <p:sp>
        <p:nvSpPr>
          <p:cNvPr id="341" name="Shape 100">
            <a:extLst>
              <a:ext uri="{FF2B5EF4-FFF2-40B4-BE49-F238E27FC236}">
                <a16:creationId xmlns:a16="http://schemas.microsoft.com/office/drawing/2014/main" id="{CF050723-DC70-4A50-939F-81396902955F}"/>
              </a:ext>
            </a:extLst>
          </p:cNvPr>
          <p:cNvSpPr/>
          <p:nvPr/>
        </p:nvSpPr>
        <p:spPr>
          <a:xfrm>
            <a:off x="8321040" y="5797296"/>
            <a:ext cx="3566160" cy="292608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342" name="Shape 101">
            <a:extLst>
              <a:ext uri="{FF2B5EF4-FFF2-40B4-BE49-F238E27FC236}">
                <a16:creationId xmlns:a16="http://schemas.microsoft.com/office/drawing/2014/main" id="{7840FAD3-8955-44FE-A843-D63B0C94DF9B}"/>
              </a:ext>
            </a:extLst>
          </p:cNvPr>
          <p:cNvSpPr/>
          <p:nvPr/>
        </p:nvSpPr>
        <p:spPr>
          <a:xfrm>
            <a:off x="8321040" y="5797296"/>
            <a:ext cx="36576" cy="292608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343" name="Text 102">
            <a:extLst>
              <a:ext uri="{FF2B5EF4-FFF2-40B4-BE49-F238E27FC236}">
                <a16:creationId xmlns:a16="http://schemas.microsoft.com/office/drawing/2014/main" id="{148D6794-33A6-4F79-9ECC-012677F369EB}"/>
              </a:ext>
            </a:extLst>
          </p:cNvPr>
          <p:cNvSpPr/>
          <p:nvPr/>
        </p:nvSpPr>
        <p:spPr>
          <a:xfrm>
            <a:off x="8430768" y="5797296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Рестораны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</p:txBody>
      </p:sp>
      <p:sp>
        <p:nvSpPr>
          <p:cNvPr id="344" name="Text 103">
            <a:extLst>
              <a:ext uri="{FF2B5EF4-FFF2-40B4-BE49-F238E27FC236}">
                <a16:creationId xmlns:a16="http://schemas.microsoft.com/office/drawing/2014/main" id="{B67C4ABE-4887-4EBD-9B96-3AFF0E208DD7}"/>
              </a:ext>
            </a:extLst>
          </p:cNvPr>
          <p:cNvSpPr/>
          <p:nvPr/>
        </p:nvSpPr>
        <p:spPr>
          <a:xfrm>
            <a:off x="9738360" y="5797296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9.4%</a:t>
            </a:r>
            <a:endParaRPr lang="en-US" sz="900" dirty="0"/>
          </a:p>
        </p:txBody>
      </p:sp>
      <p:sp>
        <p:nvSpPr>
          <p:cNvPr id="345" name="Text 104">
            <a:extLst>
              <a:ext uri="{FF2B5EF4-FFF2-40B4-BE49-F238E27FC236}">
                <a16:creationId xmlns:a16="http://schemas.microsoft.com/office/drawing/2014/main" id="{F21A55FE-E7BE-46BF-B6C7-3D20D708D51F}"/>
              </a:ext>
            </a:extLst>
          </p:cNvPr>
          <p:cNvSpPr/>
          <p:nvPr/>
        </p:nvSpPr>
        <p:spPr>
          <a:xfrm>
            <a:off x="10515600" y="5797296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Т-</a:t>
            </a:r>
            <a:r>
              <a:rPr lang="en-US" sz="10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Банк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Город</a:t>
            </a:r>
            <a:endParaRPr lang="en-US" sz="1000" dirty="0"/>
          </a:p>
        </p:txBody>
      </p:sp>
      <p:sp>
        <p:nvSpPr>
          <p:cNvPr id="346" name="Shape 105">
            <a:extLst>
              <a:ext uri="{FF2B5EF4-FFF2-40B4-BE49-F238E27FC236}">
                <a16:creationId xmlns:a16="http://schemas.microsoft.com/office/drawing/2014/main" id="{6B0B09ED-07C6-4B49-9443-7EE922AD6EFF}"/>
              </a:ext>
            </a:extLst>
          </p:cNvPr>
          <p:cNvSpPr/>
          <p:nvPr/>
        </p:nvSpPr>
        <p:spPr>
          <a:xfrm>
            <a:off x="8321040" y="6126480"/>
            <a:ext cx="3566160" cy="292608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347" name="Shape 106">
            <a:extLst>
              <a:ext uri="{FF2B5EF4-FFF2-40B4-BE49-F238E27FC236}">
                <a16:creationId xmlns:a16="http://schemas.microsoft.com/office/drawing/2014/main" id="{A97964B6-6C85-4126-A27F-F76D5E550BE6}"/>
              </a:ext>
            </a:extLst>
          </p:cNvPr>
          <p:cNvSpPr/>
          <p:nvPr/>
        </p:nvSpPr>
        <p:spPr>
          <a:xfrm>
            <a:off x="8321040" y="6126480"/>
            <a:ext cx="36576" cy="2926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48" name="Text 107">
            <a:extLst>
              <a:ext uri="{FF2B5EF4-FFF2-40B4-BE49-F238E27FC236}">
                <a16:creationId xmlns:a16="http://schemas.microsoft.com/office/drawing/2014/main" id="{21DBFF03-09C3-4564-A691-B3363D69A120}"/>
              </a:ext>
            </a:extLst>
          </p:cNvPr>
          <p:cNvSpPr/>
          <p:nvPr/>
        </p:nvSpPr>
        <p:spPr>
          <a:xfrm>
            <a:off x="8430768" y="612648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</p:txBody>
      </p:sp>
      <p:sp>
        <p:nvSpPr>
          <p:cNvPr id="349" name="Text 108">
            <a:extLst>
              <a:ext uri="{FF2B5EF4-FFF2-40B4-BE49-F238E27FC236}">
                <a16:creationId xmlns:a16="http://schemas.microsoft.com/office/drawing/2014/main" id="{C281AD50-5704-4C6B-A946-BB459E1CEEDB}"/>
              </a:ext>
            </a:extLst>
          </p:cNvPr>
          <p:cNvSpPr/>
          <p:nvPr/>
        </p:nvSpPr>
        <p:spPr>
          <a:xfrm>
            <a:off x="9738360" y="612648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3.5%</a:t>
            </a:r>
            <a:endParaRPr lang="en-US" sz="900" dirty="0"/>
          </a:p>
        </p:txBody>
      </p:sp>
      <p:sp>
        <p:nvSpPr>
          <p:cNvPr id="350" name="Text 109">
            <a:extLst>
              <a:ext uri="{FF2B5EF4-FFF2-40B4-BE49-F238E27FC236}">
                <a16:creationId xmlns:a16="http://schemas.microsoft.com/office/drawing/2014/main" id="{769F2CC2-A0C4-4839-9EAF-271F2B7A4D9C}"/>
              </a:ext>
            </a:extLst>
          </p:cNvPr>
          <p:cNvSpPr/>
          <p:nvPr/>
        </p:nvSpPr>
        <p:spPr>
          <a:xfrm>
            <a:off x="10515600" y="612648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Сбер Авто</a:t>
            </a:r>
            <a:endParaRPr lang="en-US" sz="1000" dirty="0"/>
          </a:p>
        </p:txBody>
      </p:sp>
      <p:sp>
        <p:nvSpPr>
          <p:cNvPr id="351" name="Shape 103">
            <a:extLst>
              <a:ext uri="{FF2B5EF4-FFF2-40B4-BE49-F238E27FC236}">
                <a16:creationId xmlns:a16="http://schemas.microsoft.com/office/drawing/2014/main" id="{D351BE92-50CD-4CF6-B1E1-96B28E22D759}"/>
              </a:ext>
            </a:extLst>
          </p:cNvPr>
          <p:cNvSpPr/>
          <p:nvPr/>
        </p:nvSpPr>
        <p:spPr>
          <a:xfrm flipV="1">
            <a:off x="10266929" y="6515100"/>
            <a:ext cx="1471507" cy="45719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3435509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5340773" y="323415"/>
            <a:ext cx="6555053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ru-RU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ПРИЛОЖЕНИЕ 1:</a:t>
            </a:r>
            <a:endParaRPr lang="en-US" sz="1300" dirty="0"/>
          </a:p>
        </p:txBody>
      </p:sp>
      <p:grpSp>
        <p:nvGrpSpPr>
          <p:cNvPr id="108" name="Группа 107">
            <a:extLst>
              <a:ext uri="{FF2B5EF4-FFF2-40B4-BE49-F238E27FC236}">
                <a16:creationId xmlns:a16="http://schemas.microsoft.com/office/drawing/2014/main" id="{B7797176-3532-4BC2-A45A-7B1206F1B9C0}"/>
              </a:ext>
            </a:extLst>
          </p:cNvPr>
          <p:cNvGrpSpPr/>
          <p:nvPr/>
        </p:nvGrpSpPr>
        <p:grpSpPr>
          <a:xfrm>
            <a:off x="164592" y="66083"/>
            <a:ext cx="1972216" cy="545846"/>
            <a:chOff x="402336" y="115760"/>
            <a:chExt cx="2238374" cy="568833"/>
          </a:xfrm>
        </p:grpSpPr>
        <p:sp>
          <p:nvSpPr>
            <p:cNvPr id="109" name="Прямоугольник 108">
              <a:extLst>
                <a:ext uri="{FF2B5EF4-FFF2-40B4-BE49-F238E27FC236}">
                  <a16:creationId xmlns:a16="http://schemas.microsoft.com/office/drawing/2014/main" id="{6FB7663A-72BC-4BD7-B2A3-FAA62FB9DDFA}"/>
                </a:ext>
              </a:extLst>
            </p:cNvPr>
            <p:cNvSpPr/>
            <p:nvPr/>
          </p:nvSpPr>
          <p:spPr>
            <a:xfrm>
              <a:off x="402336" y="115760"/>
              <a:ext cx="2238374" cy="568833"/>
            </a:xfrm>
            <a:prstGeom prst="rect">
              <a:avLst/>
            </a:prstGeom>
            <a:solidFill>
              <a:srgbClr val="C8FF00"/>
            </a:solidFill>
            <a:ln>
              <a:noFill/>
            </a:ln>
            <a:effectLst>
              <a:softEdge rad="1651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10" name="Рисунок 109">
              <a:extLst>
                <a:ext uri="{FF2B5EF4-FFF2-40B4-BE49-F238E27FC236}">
                  <a16:creationId xmlns:a16="http://schemas.microsoft.com/office/drawing/2014/main" id="{391D4447-4A62-42F7-8786-BCC9B20C55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35628" y="256365"/>
              <a:ext cx="1271588" cy="255128"/>
            </a:xfrm>
            <a:prstGeom prst="rect">
              <a:avLst/>
            </a:prstGeom>
          </p:spPr>
        </p:pic>
      </p:grpSp>
      <p:sp>
        <p:nvSpPr>
          <p:cNvPr id="112" name="Shape 0">
            <a:extLst>
              <a:ext uri="{FF2B5EF4-FFF2-40B4-BE49-F238E27FC236}">
                <a16:creationId xmlns:a16="http://schemas.microsoft.com/office/drawing/2014/main" id="{1FAB15A3-F4FD-4486-AFBE-DD7D91549457}"/>
              </a:ext>
            </a:extLst>
          </p:cNvPr>
          <p:cNvSpPr/>
          <p:nvPr/>
        </p:nvSpPr>
        <p:spPr>
          <a:xfrm>
            <a:off x="-1" y="0"/>
            <a:ext cx="12192001" cy="786384"/>
          </a:xfrm>
          <a:prstGeom prst="rect">
            <a:avLst/>
          </a:prstGeom>
          <a:solidFill>
            <a:srgbClr val="17171C"/>
          </a:solidFill>
          <a:ln w="12700">
            <a:solidFill>
              <a:srgbClr val="17171C"/>
            </a:solidFill>
            <a:prstDash val="solid"/>
          </a:ln>
        </p:spPr>
      </p:sp>
      <p:sp>
        <p:nvSpPr>
          <p:cNvPr id="115" name="Shape 3">
            <a:extLst>
              <a:ext uri="{FF2B5EF4-FFF2-40B4-BE49-F238E27FC236}">
                <a16:creationId xmlns:a16="http://schemas.microsoft.com/office/drawing/2014/main" id="{9CFDA7C0-BE97-46A5-941C-02A8098DF759}"/>
              </a:ext>
            </a:extLst>
          </p:cNvPr>
          <p:cNvSpPr/>
          <p:nvPr/>
        </p:nvSpPr>
        <p:spPr>
          <a:xfrm>
            <a:off x="2220277" y="132597"/>
            <a:ext cx="2011680" cy="397925"/>
          </a:xfrm>
          <a:prstGeom prst="rect">
            <a:avLst/>
          </a:prstGeom>
          <a:solidFill>
            <a:srgbClr val="1A20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116" name="Text 4">
            <a:extLst>
              <a:ext uri="{FF2B5EF4-FFF2-40B4-BE49-F238E27FC236}">
                <a16:creationId xmlns:a16="http://schemas.microsoft.com/office/drawing/2014/main" id="{51E82DDB-5EB7-4CAD-9E6F-D3E5FAB15ECC}"/>
              </a:ext>
            </a:extLst>
          </p:cNvPr>
          <p:cNvSpPr/>
          <p:nvPr/>
        </p:nvSpPr>
        <p:spPr>
          <a:xfrm>
            <a:off x="2220277" y="132597"/>
            <a:ext cx="2011680" cy="4311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ПРИЛОЖЕНИЕ П</a:t>
            </a:r>
            <a:r>
              <a:rPr lang="ru-RU" sz="11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grpSp>
        <p:nvGrpSpPr>
          <p:cNvPr id="189" name="Группа 188">
            <a:extLst>
              <a:ext uri="{FF2B5EF4-FFF2-40B4-BE49-F238E27FC236}">
                <a16:creationId xmlns:a16="http://schemas.microsoft.com/office/drawing/2014/main" id="{B324478A-9819-4AD4-9217-1CB8220E2999}"/>
              </a:ext>
            </a:extLst>
          </p:cNvPr>
          <p:cNvGrpSpPr/>
          <p:nvPr/>
        </p:nvGrpSpPr>
        <p:grpSpPr>
          <a:xfrm>
            <a:off x="164592" y="74549"/>
            <a:ext cx="1972216" cy="545846"/>
            <a:chOff x="402336" y="115760"/>
            <a:chExt cx="2238374" cy="568833"/>
          </a:xfrm>
        </p:grpSpPr>
        <p:sp>
          <p:nvSpPr>
            <p:cNvPr id="190" name="Прямоугольник 189">
              <a:extLst>
                <a:ext uri="{FF2B5EF4-FFF2-40B4-BE49-F238E27FC236}">
                  <a16:creationId xmlns:a16="http://schemas.microsoft.com/office/drawing/2014/main" id="{378C5B32-D915-48F9-B8A6-5CF9DE50A781}"/>
                </a:ext>
              </a:extLst>
            </p:cNvPr>
            <p:cNvSpPr/>
            <p:nvPr/>
          </p:nvSpPr>
          <p:spPr>
            <a:xfrm>
              <a:off x="402336" y="115760"/>
              <a:ext cx="2238374" cy="568833"/>
            </a:xfrm>
            <a:prstGeom prst="rect">
              <a:avLst/>
            </a:prstGeom>
            <a:solidFill>
              <a:srgbClr val="C8FF00"/>
            </a:solidFill>
            <a:ln>
              <a:noFill/>
            </a:ln>
            <a:effectLst>
              <a:softEdge rad="1651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91" name="Рисунок 190">
              <a:extLst>
                <a:ext uri="{FF2B5EF4-FFF2-40B4-BE49-F238E27FC236}">
                  <a16:creationId xmlns:a16="http://schemas.microsoft.com/office/drawing/2014/main" id="{F3725466-38AF-4F60-B7E8-BC5FC1CCDBE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35628" y="256365"/>
              <a:ext cx="1271588" cy="255128"/>
            </a:xfrm>
            <a:prstGeom prst="rect">
              <a:avLst/>
            </a:prstGeom>
          </p:spPr>
        </p:pic>
      </p:grpSp>
      <p:sp>
        <p:nvSpPr>
          <p:cNvPr id="119" name="Shape 6">
            <a:extLst>
              <a:ext uri="{FF2B5EF4-FFF2-40B4-BE49-F238E27FC236}">
                <a16:creationId xmlns:a16="http://schemas.microsoft.com/office/drawing/2014/main" id="{7DAE1C2D-E1F0-4F84-82BE-23DBE62BC33D}"/>
              </a:ext>
            </a:extLst>
          </p:cNvPr>
          <p:cNvSpPr/>
          <p:nvPr/>
        </p:nvSpPr>
        <p:spPr>
          <a:xfrm>
            <a:off x="9525" y="6565392"/>
            <a:ext cx="12161520" cy="292608"/>
          </a:xfrm>
          <a:prstGeom prst="rect">
            <a:avLst/>
          </a:prstGeom>
          <a:solidFill>
            <a:srgbClr val="111118"/>
          </a:solidFill>
          <a:ln w="12700">
            <a:solidFill>
              <a:srgbClr val="111118"/>
            </a:solidFill>
            <a:prstDash val="solid"/>
          </a:ln>
        </p:spPr>
      </p:sp>
      <p:sp>
        <p:nvSpPr>
          <p:cNvPr id="120" name="Text 7">
            <a:extLst>
              <a:ext uri="{FF2B5EF4-FFF2-40B4-BE49-F238E27FC236}">
                <a16:creationId xmlns:a16="http://schemas.microsoft.com/office/drawing/2014/main" id="{CCCE4ACC-3250-40CB-955C-4CC00E39121E}"/>
              </a:ext>
            </a:extLst>
          </p:cNvPr>
          <p:cNvSpPr/>
          <p:nvPr/>
        </p:nvSpPr>
        <p:spPr>
          <a:xfrm>
            <a:off x="274320" y="6574536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ПРИЛОЖЕНИЯ К КЕЙСУ ОТП БАНК — CHANGELLENGE CUP IT 2026</a:t>
            </a:r>
            <a:endParaRPr lang="en-US" sz="800" dirty="0"/>
          </a:p>
        </p:txBody>
      </p:sp>
      <p:sp>
        <p:nvSpPr>
          <p:cNvPr id="121" name="Text 8">
            <a:extLst>
              <a:ext uri="{FF2B5EF4-FFF2-40B4-BE49-F238E27FC236}">
                <a16:creationId xmlns:a16="http://schemas.microsoft.com/office/drawing/2014/main" id="{053E3DBE-F929-4865-86B1-05A750C94F91}"/>
              </a:ext>
            </a:extLst>
          </p:cNvPr>
          <p:cNvSpPr/>
          <p:nvPr/>
        </p:nvSpPr>
        <p:spPr>
          <a:xfrm>
            <a:off x="8686800" y="657453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Приложение П6</a:t>
            </a:r>
            <a:endParaRPr lang="en-US" sz="800" dirty="0"/>
          </a:p>
        </p:txBody>
      </p:sp>
      <p:sp>
        <p:nvSpPr>
          <p:cNvPr id="122" name="Text 9">
            <a:extLst>
              <a:ext uri="{FF2B5EF4-FFF2-40B4-BE49-F238E27FC236}">
                <a16:creationId xmlns:a16="http://schemas.microsoft.com/office/drawing/2014/main" id="{6C9A3058-248A-4E09-8530-D5D345F36FC8}"/>
              </a:ext>
            </a:extLst>
          </p:cNvPr>
          <p:cNvSpPr/>
          <p:nvPr/>
        </p:nvSpPr>
        <p:spPr>
          <a:xfrm>
            <a:off x="11521440" y="657453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ru-RU" sz="800" b="1" dirty="0">
                <a:solidFill>
                  <a:schemeClr val="bg2">
                    <a:lumMod val="50000"/>
                  </a:schemeClr>
                </a:solidFill>
              </a:rPr>
              <a:t>5</a:t>
            </a:r>
            <a:endParaRPr lang="en-US" sz="8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23" name="Shape 10">
            <a:extLst>
              <a:ext uri="{FF2B5EF4-FFF2-40B4-BE49-F238E27FC236}">
                <a16:creationId xmlns:a16="http://schemas.microsoft.com/office/drawing/2014/main" id="{8F42AC3C-54BD-41E8-8E49-21707648FB93}"/>
              </a:ext>
            </a:extLst>
          </p:cNvPr>
          <p:cNvSpPr/>
          <p:nvPr/>
        </p:nvSpPr>
        <p:spPr>
          <a:xfrm>
            <a:off x="335280" y="914400"/>
            <a:ext cx="36576" cy="195580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124" name="Text 11">
            <a:extLst>
              <a:ext uri="{FF2B5EF4-FFF2-40B4-BE49-F238E27FC236}">
                <a16:creationId xmlns:a16="http://schemas.microsoft.com/office/drawing/2014/main" id="{3F0EDC1E-983E-4805-B15D-3C40EF27093A}"/>
              </a:ext>
            </a:extLst>
          </p:cNvPr>
          <p:cNvSpPr/>
          <p:nvPr/>
        </p:nvSpPr>
        <p:spPr>
          <a:xfrm>
            <a:off x="426720" y="877824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Таблица рисков</a:t>
            </a:r>
            <a:endParaRPr lang="en-US" sz="1600" dirty="0"/>
          </a:p>
        </p:txBody>
      </p:sp>
      <p:sp>
        <p:nvSpPr>
          <p:cNvPr id="125" name="Shape 12">
            <a:extLst>
              <a:ext uri="{FF2B5EF4-FFF2-40B4-BE49-F238E27FC236}">
                <a16:creationId xmlns:a16="http://schemas.microsoft.com/office/drawing/2014/main" id="{908C6089-BA28-4B15-B3A5-7F71958DB9F8}"/>
              </a:ext>
            </a:extLst>
          </p:cNvPr>
          <p:cNvSpPr/>
          <p:nvPr/>
        </p:nvSpPr>
        <p:spPr>
          <a:xfrm>
            <a:off x="320040" y="1225296"/>
            <a:ext cx="11521440" cy="292608"/>
          </a:xfrm>
          <a:prstGeom prst="rect">
            <a:avLst/>
          </a:prstGeom>
          <a:solidFill>
            <a:srgbClr val="23232C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26" name="Text 13">
            <a:extLst>
              <a:ext uri="{FF2B5EF4-FFF2-40B4-BE49-F238E27FC236}">
                <a16:creationId xmlns:a16="http://schemas.microsoft.com/office/drawing/2014/main" id="{B41301CE-A887-461E-92E1-43DADD323068}"/>
              </a:ext>
            </a:extLst>
          </p:cNvPr>
          <p:cNvSpPr/>
          <p:nvPr/>
        </p:nvSpPr>
        <p:spPr>
          <a:xfrm>
            <a:off x="374904" y="1243584"/>
            <a:ext cx="219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</a:t>
            </a:r>
            <a:endParaRPr lang="en-US" sz="1050" dirty="0"/>
          </a:p>
        </p:txBody>
      </p:sp>
      <p:sp>
        <p:nvSpPr>
          <p:cNvPr id="127" name="Text 14">
            <a:extLst>
              <a:ext uri="{FF2B5EF4-FFF2-40B4-BE49-F238E27FC236}">
                <a16:creationId xmlns:a16="http://schemas.microsoft.com/office/drawing/2014/main" id="{9885E6BA-195F-461A-A639-4816535CA5B4}"/>
              </a:ext>
            </a:extLst>
          </p:cNvPr>
          <p:cNvSpPr/>
          <p:nvPr/>
        </p:nvSpPr>
        <p:spPr>
          <a:xfrm>
            <a:off x="667512" y="1243584"/>
            <a:ext cx="23042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</a:t>
            </a:r>
            <a:endParaRPr lang="en-US" sz="1050" dirty="0"/>
          </a:p>
        </p:txBody>
      </p:sp>
      <p:sp>
        <p:nvSpPr>
          <p:cNvPr id="128" name="Text 15">
            <a:extLst>
              <a:ext uri="{FF2B5EF4-FFF2-40B4-BE49-F238E27FC236}">
                <a16:creationId xmlns:a16="http://schemas.microsoft.com/office/drawing/2014/main" id="{403C95A7-EAAB-4E0C-8E40-C592081947BD}"/>
              </a:ext>
            </a:extLst>
          </p:cNvPr>
          <p:cNvSpPr/>
          <p:nvPr/>
        </p:nvSpPr>
        <p:spPr>
          <a:xfrm>
            <a:off x="3044952" y="1243584"/>
            <a:ext cx="1207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Категория</a:t>
            </a:r>
            <a:endParaRPr lang="en-US" sz="1050" dirty="0"/>
          </a:p>
        </p:txBody>
      </p:sp>
      <p:sp>
        <p:nvSpPr>
          <p:cNvPr id="129" name="Text 16">
            <a:extLst>
              <a:ext uri="{FF2B5EF4-FFF2-40B4-BE49-F238E27FC236}">
                <a16:creationId xmlns:a16="http://schemas.microsoft.com/office/drawing/2014/main" id="{6DB69025-4C7F-4F65-B87D-6415AAA02140}"/>
              </a:ext>
            </a:extLst>
          </p:cNvPr>
          <p:cNvSpPr/>
          <p:nvPr/>
        </p:nvSpPr>
        <p:spPr>
          <a:xfrm>
            <a:off x="4325112" y="1243584"/>
            <a:ext cx="1024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Вероятность</a:t>
            </a:r>
            <a:endParaRPr lang="en-US" sz="1050" dirty="0"/>
          </a:p>
        </p:txBody>
      </p:sp>
      <p:sp>
        <p:nvSpPr>
          <p:cNvPr id="130" name="Text 17">
            <a:extLst>
              <a:ext uri="{FF2B5EF4-FFF2-40B4-BE49-F238E27FC236}">
                <a16:creationId xmlns:a16="http://schemas.microsoft.com/office/drawing/2014/main" id="{E25BEFF4-46CB-432E-B3AB-84FCCA1051E5}"/>
              </a:ext>
            </a:extLst>
          </p:cNvPr>
          <p:cNvSpPr/>
          <p:nvPr/>
        </p:nvSpPr>
        <p:spPr>
          <a:xfrm>
            <a:off x="5422392" y="1243584"/>
            <a:ext cx="841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Влияние</a:t>
            </a:r>
            <a:endParaRPr lang="en-US" sz="1050" dirty="0"/>
          </a:p>
        </p:txBody>
      </p:sp>
      <p:sp>
        <p:nvSpPr>
          <p:cNvPr id="131" name="Text 18">
            <a:extLst>
              <a:ext uri="{FF2B5EF4-FFF2-40B4-BE49-F238E27FC236}">
                <a16:creationId xmlns:a16="http://schemas.microsoft.com/office/drawing/2014/main" id="{076D90A3-115B-4CEF-A0D7-A069A14939C5}"/>
              </a:ext>
            </a:extLst>
          </p:cNvPr>
          <p:cNvSpPr/>
          <p:nvPr/>
        </p:nvSpPr>
        <p:spPr>
          <a:xfrm>
            <a:off x="6336792" y="1243584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Уровень</a:t>
            </a:r>
            <a:endParaRPr lang="en-US" sz="1050" dirty="0"/>
          </a:p>
        </p:txBody>
      </p:sp>
      <p:sp>
        <p:nvSpPr>
          <p:cNvPr id="132" name="Text 19">
            <a:extLst>
              <a:ext uri="{FF2B5EF4-FFF2-40B4-BE49-F238E27FC236}">
                <a16:creationId xmlns:a16="http://schemas.microsoft.com/office/drawing/2014/main" id="{BC69914D-7562-429F-A2A3-057E689AB54B}"/>
              </a:ext>
            </a:extLst>
          </p:cNvPr>
          <p:cNvSpPr/>
          <p:nvPr/>
        </p:nvSpPr>
        <p:spPr>
          <a:xfrm>
            <a:off x="7159752" y="1243584"/>
            <a:ext cx="4544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Стратегия митигации</a:t>
            </a:r>
            <a:endParaRPr lang="en-US" sz="1050" dirty="0"/>
          </a:p>
        </p:txBody>
      </p:sp>
      <p:sp>
        <p:nvSpPr>
          <p:cNvPr id="133" name="Shape 20">
            <a:extLst>
              <a:ext uri="{FF2B5EF4-FFF2-40B4-BE49-F238E27FC236}">
                <a16:creationId xmlns:a16="http://schemas.microsoft.com/office/drawing/2014/main" id="{9725A4FB-FC97-4575-857F-4E93EFA088E4}"/>
              </a:ext>
            </a:extLst>
          </p:cNvPr>
          <p:cNvSpPr/>
          <p:nvPr/>
        </p:nvSpPr>
        <p:spPr>
          <a:xfrm>
            <a:off x="320040" y="1554480"/>
            <a:ext cx="11521440" cy="786384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34" name="Shape 21">
            <a:extLst>
              <a:ext uri="{FF2B5EF4-FFF2-40B4-BE49-F238E27FC236}">
                <a16:creationId xmlns:a16="http://schemas.microsoft.com/office/drawing/2014/main" id="{2FF17AC6-0D18-46DA-BD7A-4F9353A590EF}"/>
              </a:ext>
            </a:extLst>
          </p:cNvPr>
          <p:cNvSpPr/>
          <p:nvPr/>
        </p:nvSpPr>
        <p:spPr>
          <a:xfrm>
            <a:off x="320040" y="1554480"/>
            <a:ext cx="36576" cy="78638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35" name="Text 22">
            <a:extLst>
              <a:ext uri="{FF2B5EF4-FFF2-40B4-BE49-F238E27FC236}">
                <a16:creationId xmlns:a16="http://schemas.microsoft.com/office/drawing/2014/main" id="{B48701E8-A794-44CB-B284-B3E6D65DE019}"/>
              </a:ext>
            </a:extLst>
          </p:cNvPr>
          <p:cNvSpPr/>
          <p:nvPr/>
        </p:nvSpPr>
        <p:spPr>
          <a:xfrm>
            <a:off x="356616" y="1591056"/>
            <a:ext cx="31089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900" dirty="0"/>
          </a:p>
        </p:txBody>
      </p:sp>
      <p:sp>
        <p:nvSpPr>
          <p:cNvPr id="136" name="Text 23">
            <a:extLst>
              <a:ext uri="{FF2B5EF4-FFF2-40B4-BE49-F238E27FC236}">
                <a16:creationId xmlns:a16="http://schemas.microsoft.com/office/drawing/2014/main" id="{2B7935B6-3CB4-47F6-B12C-27521060A56E}"/>
              </a:ext>
            </a:extLst>
          </p:cNvPr>
          <p:cNvSpPr/>
          <p:nvPr/>
        </p:nvSpPr>
        <p:spPr>
          <a:xfrm>
            <a:off x="704088" y="1591056"/>
            <a:ext cx="2286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Регуляторный: ФЗ-152 «О персональных данных»</a:t>
            </a:r>
            <a:endParaRPr lang="en-US" sz="1050" dirty="0"/>
          </a:p>
        </p:txBody>
      </p:sp>
      <p:sp>
        <p:nvSpPr>
          <p:cNvPr id="137" name="Text 24">
            <a:extLst>
              <a:ext uri="{FF2B5EF4-FFF2-40B4-BE49-F238E27FC236}">
                <a16:creationId xmlns:a16="http://schemas.microsoft.com/office/drawing/2014/main" id="{668B2943-6A5E-4E27-925F-393CF3C94C32}"/>
              </a:ext>
            </a:extLst>
          </p:cNvPr>
          <p:cNvSpPr/>
          <p:nvPr/>
        </p:nvSpPr>
        <p:spPr>
          <a:xfrm>
            <a:off x="3081528" y="1591056"/>
            <a:ext cx="1188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Регуляторный</a:t>
            </a:r>
            <a:endParaRPr lang="en-US" sz="1050" dirty="0"/>
          </a:p>
        </p:txBody>
      </p:sp>
      <p:sp>
        <p:nvSpPr>
          <p:cNvPr id="138" name="Text 25">
            <a:extLst>
              <a:ext uri="{FF2B5EF4-FFF2-40B4-BE49-F238E27FC236}">
                <a16:creationId xmlns:a16="http://schemas.microsoft.com/office/drawing/2014/main" id="{ED176865-FADD-414A-B531-4F272D20A63F}"/>
              </a:ext>
            </a:extLst>
          </p:cNvPr>
          <p:cNvSpPr/>
          <p:nvPr/>
        </p:nvSpPr>
        <p:spPr>
          <a:xfrm>
            <a:off x="4306824" y="1591056"/>
            <a:ext cx="1097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Высокая</a:t>
            </a:r>
            <a:endParaRPr lang="en-US" sz="1050" dirty="0"/>
          </a:p>
        </p:txBody>
      </p:sp>
      <p:sp>
        <p:nvSpPr>
          <p:cNvPr id="139" name="Text 26">
            <a:extLst>
              <a:ext uri="{FF2B5EF4-FFF2-40B4-BE49-F238E27FC236}">
                <a16:creationId xmlns:a16="http://schemas.microsoft.com/office/drawing/2014/main" id="{BE358D32-38FB-48FD-89D3-AA58C95313F2}"/>
              </a:ext>
            </a:extLst>
          </p:cNvPr>
          <p:cNvSpPr/>
          <p:nvPr/>
        </p:nvSpPr>
        <p:spPr>
          <a:xfrm>
            <a:off x="5404104" y="1591056"/>
            <a:ext cx="914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Высокое</a:t>
            </a:r>
            <a:endParaRPr lang="en-US" sz="1050" dirty="0"/>
          </a:p>
        </p:txBody>
      </p:sp>
      <p:sp>
        <p:nvSpPr>
          <p:cNvPr id="140" name="Shape 27">
            <a:extLst>
              <a:ext uri="{FF2B5EF4-FFF2-40B4-BE49-F238E27FC236}">
                <a16:creationId xmlns:a16="http://schemas.microsoft.com/office/drawing/2014/main" id="{BDA95C67-1FA7-46D4-8B81-BAA1FE507024}"/>
              </a:ext>
            </a:extLst>
          </p:cNvPr>
          <p:cNvSpPr/>
          <p:nvPr/>
        </p:nvSpPr>
        <p:spPr>
          <a:xfrm>
            <a:off x="6364224" y="1810512"/>
            <a:ext cx="731520" cy="274320"/>
          </a:xfrm>
          <a:prstGeom prst="rect">
            <a:avLst/>
          </a:prstGeom>
          <a:solidFill>
            <a:srgbClr val="1A002A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41" name="Text 28">
            <a:extLst>
              <a:ext uri="{FF2B5EF4-FFF2-40B4-BE49-F238E27FC236}">
                <a16:creationId xmlns:a16="http://schemas.microsoft.com/office/drawing/2014/main" id="{6BB7B66C-5B99-4596-B6F0-4FD0ED42D5D0}"/>
              </a:ext>
            </a:extLst>
          </p:cNvPr>
          <p:cNvSpPr/>
          <p:nvPr/>
        </p:nvSpPr>
        <p:spPr>
          <a:xfrm>
            <a:off x="6364224" y="181051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КРИТИ</a:t>
            </a:r>
            <a:r>
              <a:rPr lang="ru-RU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ЧЕСКИЙ</a:t>
            </a:r>
            <a:endParaRPr lang="en-US" sz="1000" dirty="0"/>
          </a:p>
        </p:txBody>
      </p:sp>
      <p:sp>
        <p:nvSpPr>
          <p:cNvPr id="142" name="Text 29">
            <a:extLst>
              <a:ext uri="{FF2B5EF4-FFF2-40B4-BE49-F238E27FC236}">
                <a16:creationId xmlns:a16="http://schemas.microsoft.com/office/drawing/2014/main" id="{4A20E3CF-9B57-4D4C-8A87-D64F752389D2}"/>
              </a:ext>
            </a:extLst>
          </p:cNvPr>
          <p:cNvSpPr/>
          <p:nvPr/>
        </p:nvSpPr>
        <p:spPr>
          <a:xfrm>
            <a:off x="7196328" y="1591056"/>
            <a:ext cx="4526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Получить явное согласие пользователя на обработку транзакционных данных (opt-in). Хранить данные только в обезличенном виде. Проверка с Compliance до запуска.</a:t>
            </a:r>
            <a:endParaRPr lang="en-US" sz="1000" dirty="0"/>
          </a:p>
        </p:txBody>
      </p:sp>
      <p:sp>
        <p:nvSpPr>
          <p:cNvPr id="143" name="Shape 30">
            <a:extLst>
              <a:ext uri="{FF2B5EF4-FFF2-40B4-BE49-F238E27FC236}">
                <a16:creationId xmlns:a16="http://schemas.microsoft.com/office/drawing/2014/main" id="{C7C8E5C0-3BDC-4A31-83AB-57528F9CEC0D}"/>
              </a:ext>
            </a:extLst>
          </p:cNvPr>
          <p:cNvSpPr/>
          <p:nvPr/>
        </p:nvSpPr>
        <p:spPr>
          <a:xfrm>
            <a:off x="320040" y="2395728"/>
            <a:ext cx="11521440" cy="786384"/>
          </a:xfrm>
          <a:prstGeom prst="rect">
            <a:avLst/>
          </a:prstGeom>
          <a:solidFill>
            <a:srgbClr val="23232C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44" name="Shape 31">
            <a:extLst>
              <a:ext uri="{FF2B5EF4-FFF2-40B4-BE49-F238E27FC236}">
                <a16:creationId xmlns:a16="http://schemas.microsoft.com/office/drawing/2014/main" id="{2C186983-02D0-46DD-970B-55BBE219AC60}"/>
              </a:ext>
            </a:extLst>
          </p:cNvPr>
          <p:cNvSpPr/>
          <p:nvPr/>
        </p:nvSpPr>
        <p:spPr>
          <a:xfrm>
            <a:off x="320040" y="2395728"/>
            <a:ext cx="36576" cy="786384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145" name="Text 32">
            <a:extLst>
              <a:ext uri="{FF2B5EF4-FFF2-40B4-BE49-F238E27FC236}">
                <a16:creationId xmlns:a16="http://schemas.microsoft.com/office/drawing/2014/main" id="{5D986AD8-2711-460E-917B-A60EE910E2B8}"/>
              </a:ext>
            </a:extLst>
          </p:cNvPr>
          <p:cNvSpPr/>
          <p:nvPr/>
        </p:nvSpPr>
        <p:spPr>
          <a:xfrm>
            <a:off x="356616" y="2432304"/>
            <a:ext cx="3474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900" dirty="0"/>
          </a:p>
        </p:txBody>
      </p:sp>
      <p:sp>
        <p:nvSpPr>
          <p:cNvPr id="146" name="Text 33">
            <a:extLst>
              <a:ext uri="{FF2B5EF4-FFF2-40B4-BE49-F238E27FC236}">
                <a16:creationId xmlns:a16="http://schemas.microsoft.com/office/drawing/2014/main" id="{CCF567B2-0A4B-4828-9F57-69B862061A66}"/>
              </a:ext>
            </a:extLst>
          </p:cNvPr>
          <p:cNvSpPr/>
          <p:nvPr/>
        </p:nvSpPr>
        <p:spPr>
          <a:xfrm>
            <a:off x="704088" y="2432304"/>
            <a:ext cx="2286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Технический: ограничения legacy-стека ОТП</a:t>
            </a:r>
            <a:endParaRPr lang="en-US" sz="1050" dirty="0"/>
          </a:p>
        </p:txBody>
      </p:sp>
      <p:sp>
        <p:nvSpPr>
          <p:cNvPr id="147" name="Text 34">
            <a:extLst>
              <a:ext uri="{FF2B5EF4-FFF2-40B4-BE49-F238E27FC236}">
                <a16:creationId xmlns:a16="http://schemas.microsoft.com/office/drawing/2014/main" id="{F544383D-06CA-4668-B625-6CE1847E1B40}"/>
              </a:ext>
            </a:extLst>
          </p:cNvPr>
          <p:cNvSpPr/>
          <p:nvPr/>
        </p:nvSpPr>
        <p:spPr>
          <a:xfrm>
            <a:off x="3081528" y="2432304"/>
            <a:ext cx="1188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Технический</a:t>
            </a:r>
            <a:endParaRPr lang="en-US" sz="1050" dirty="0"/>
          </a:p>
        </p:txBody>
      </p:sp>
      <p:sp>
        <p:nvSpPr>
          <p:cNvPr id="148" name="Text 35">
            <a:extLst>
              <a:ext uri="{FF2B5EF4-FFF2-40B4-BE49-F238E27FC236}">
                <a16:creationId xmlns:a16="http://schemas.microsoft.com/office/drawing/2014/main" id="{66401126-0E6F-473B-A27A-20B0210D01BD}"/>
              </a:ext>
            </a:extLst>
          </p:cNvPr>
          <p:cNvSpPr/>
          <p:nvPr/>
        </p:nvSpPr>
        <p:spPr>
          <a:xfrm>
            <a:off x="4306824" y="2432304"/>
            <a:ext cx="1097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Средняя</a:t>
            </a:r>
            <a:endParaRPr lang="en-US" sz="1050" dirty="0"/>
          </a:p>
        </p:txBody>
      </p:sp>
      <p:sp>
        <p:nvSpPr>
          <p:cNvPr id="149" name="Text 36">
            <a:extLst>
              <a:ext uri="{FF2B5EF4-FFF2-40B4-BE49-F238E27FC236}">
                <a16:creationId xmlns:a16="http://schemas.microsoft.com/office/drawing/2014/main" id="{13ACE3DF-AF9E-4418-9834-BE0868EF99E5}"/>
              </a:ext>
            </a:extLst>
          </p:cNvPr>
          <p:cNvSpPr/>
          <p:nvPr/>
        </p:nvSpPr>
        <p:spPr>
          <a:xfrm>
            <a:off x="5404104" y="2432304"/>
            <a:ext cx="914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Высокое</a:t>
            </a:r>
            <a:endParaRPr lang="en-US" sz="1050" dirty="0"/>
          </a:p>
        </p:txBody>
      </p:sp>
      <p:sp>
        <p:nvSpPr>
          <p:cNvPr id="150" name="Shape 37">
            <a:extLst>
              <a:ext uri="{FF2B5EF4-FFF2-40B4-BE49-F238E27FC236}">
                <a16:creationId xmlns:a16="http://schemas.microsoft.com/office/drawing/2014/main" id="{4B95FBFB-D567-486B-A8B7-F9E02350D214}"/>
              </a:ext>
            </a:extLst>
          </p:cNvPr>
          <p:cNvSpPr/>
          <p:nvPr/>
        </p:nvSpPr>
        <p:spPr>
          <a:xfrm>
            <a:off x="6364224" y="2651760"/>
            <a:ext cx="731520" cy="274320"/>
          </a:xfrm>
          <a:prstGeom prst="rect">
            <a:avLst/>
          </a:prstGeom>
          <a:solidFill>
            <a:srgbClr val="1A002A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151" name="Text 38">
            <a:extLst>
              <a:ext uri="{FF2B5EF4-FFF2-40B4-BE49-F238E27FC236}">
                <a16:creationId xmlns:a16="http://schemas.microsoft.com/office/drawing/2014/main" id="{29FA8C60-D4DD-407B-90B7-FA06ECD20C6C}"/>
              </a:ext>
            </a:extLst>
          </p:cNvPr>
          <p:cNvSpPr/>
          <p:nvPr/>
        </p:nvSpPr>
        <p:spPr>
          <a:xfrm>
            <a:off x="6336792" y="2660904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ВЫСОКИЙ</a:t>
            </a:r>
            <a:endParaRPr lang="en-US" sz="1000" dirty="0"/>
          </a:p>
        </p:txBody>
      </p:sp>
      <p:sp>
        <p:nvSpPr>
          <p:cNvPr id="152" name="Text 39">
            <a:extLst>
              <a:ext uri="{FF2B5EF4-FFF2-40B4-BE49-F238E27FC236}">
                <a16:creationId xmlns:a16="http://schemas.microsoft.com/office/drawing/2014/main" id="{D34426CB-2324-47B5-A1C1-F3B1C9B56A9D}"/>
              </a:ext>
            </a:extLst>
          </p:cNvPr>
          <p:cNvSpPr/>
          <p:nvPr/>
        </p:nvSpPr>
        <p:spPr>
          <a:xfrm>
            <a:off x="7196328" y="2432304"/>
            <a:ext cx="4526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реализовать без ML — на правилах MCC (детерминированный алгоритм). ML-слой подключить в Phase 2 после аудита инфраструктуры. Использовать CDC/API-обёртки.</a:t>
            </a:r>
            <a:endParaRPr lang="en-US" sz="1000" dirty="0"/>
          </a:p>
        </p:txBody>
      </p:sp>
      <p:sp>
        <p:nvSpPr>
          <p:cNvPr id="153" name="Shape 40">
            <a:extLst>
              <a:ext uri="{FF2B5EF4-FFF2-40B4-BE49-F238E27FC236}">
                <a16:creationId xmlns:a16="http://schemas.microsoft.com/office/drawing/2014/main" id="{8744DC84-EE19-4FE3-B045-F43F0C6BED4E}"/>
              </a:ext>
            </a:extLst>
          </p:cNvPr>
          <p:cNvSpPr/>
          <p:nvPr/>
        </p:nvSpPr>
        <p:spPr>
          <a:xfrm>
            <a:off x="320040" y="3236976"/>
            <a:ext cx="11521440" cy="786384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54" name="Shape 41">
            <a:extLst>
              <a:ext uri="{FF2B5EF4-FFF2-40B4-BE49-F238E27FC236}">
                <a16:creationId xmlns:a16="http://schemas.microsoft.com/office/drawing/2014/main" id="{20BC4CD0-491F-47EE-A614-2E33126CDB9D}"/>
              </a:ext>
            </a:extLst>
          </p:cNvPr>
          <p:cNvSpPr/>
          <p:nvPr/>
        </p:nvSpPr>
        <p:spPr>
          <a:xfrm>
            <a:off x="320040" y="3236976"/>
            <a:ext cx="36576" cy="786384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155" name="Text 42">
            <a:extLst>
              <a:ext uri="{FF2B5EF4-FFF2-40B4-BE49-F238E27FC236}">
                <a16:creationId xmlns:a16="http://schemas.microsoft.com/office/drawing/2014/main" id="{B6A7BC21-F80D-44B1-83D4-CFB009602363}"/>
              </a:ext>
            </a:extLst>
          </p:cNvPr>
          <p:cNvSpPr/>
          <p:nvPr/>
        </p:nvSpPr>
        <p:spPr>
          <a:xfrm>
            <a:off x="356616" y="3273552"/>
            <a:ext cx="3474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900" dirty="0"/>
          </a:p>
        </p:txBody>
      </p:sp>
      <p:sp>
        <p:nvSpPr>
          <p:cNvPr id="156" name="Text 43">
            <a:extLst>
              <a:ext uri="{FF2B5EF4-FFF2-40B4-BE49-F238E27FC236}">
                <a16:creationId xmlns:a16="http://schemas.microsoft.com/office/drawing/2014/main" id="{05EDDEC6-A360-4E84-AF6A-998A94DC02D6}"/>
              </a:ext>
            </a:extLst>
          </p:cNvPr>
          <p:cNvSpPr/>
          <p:nvPr/>
        </p:nvSpPr>
        <p:spPr>
          <a:xfrm>
            <a:off x="704088" y="3273552"/>
            <a:ext cx="2286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Пользовательский: страх перед радикальными изменениями</a:t>
            </a:r>
            <a:endParaRPr lang="en-US" sz="1050" dirty="0"/>
          </a:p>
        </p:txBody>
      </p:sp>
      <p:sp>
        <p:nvSpPr>
          <p:cNvPr id="157" name="Text 44">
            <a:extLst>
              <a:ext uri="{FF2B5EF4-FFF2-40B4-BE49-F238E27FC236}">
                <a16:creationId xmlns:a16="http://schemas.microsoft.com/office/drawing/2014/main" id="{7A36CBEB-AD21-4BC4-B76D-BBFD5281788F}"/>
              </a:ext>
            </a:extLst>
          </p:cNvPr>
          <p:cNvSpPr/>
          <p:nvPr/>
        </p:nvSpPr>
        <p:spPr>
          <a:xfrm>
            <a:off x="3081528" y="3273552"/>
            <a:ext cx="1188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/ Продуктовый</a:t>
            </a:r>
            <a:endParaRPr lang="en-US" sz="1050" dirty="0"/>
          </a:p>
        </p:txBody>
      </p:sp>
      <p:sp>
        <p:nvSpPr>
          <p:cNvPr id="158" name="Text 45">
            <a:extLst>
              <a:ext uri="{FF2B5EF4-FFF2-40B4-BE49-F238E27FC236}">
                <a16:creationId xmlns:a16="http://schemas.microsoft.com/office/drawing/2014/main" id="{4173E3FB-B9B8-4004-B066-679CC0BD12F8}"/>
              </a:ext>
            </a:extLst>
          </p:cNvPr>
          <p:cNvSpPr/>
          <p:nvPr/>
        </p:nvSpPr>
        <p:spPr>
          <a:xfrm>
            <a:off x="4306824" y="3273552"/>
            <a:ext cx="1097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Высокая</a:t>
            </a:r>
            <a:endParaRPr lang="en-US" sz="1050" dirty="0"/>
          </a:p>
        </p:txBody>
      </p:sp>
      <p:sp>
        <p:nvSpPr>
          <p:cNvPr id="159" name="Text 46">
            <a:extLst>
              <a:ext uri="{FF2B5EF4-FFF2-40B4-BE49-F238E27FC236}">
                <a16:creationId xmlns:a16="http://schemas.microsoft.com/office/drawing/2014/main" id="{20F67521-8189-48DC-B7AE-04EB758B6247}"/>
              </a:ext>
            </a:extLst>
          </p:cNvPr>
          <p:cNvSpPr/>
          <p:nvPr/>
        </p:nvSpPr>
        <p:spPr>
          <a:xfrm>
            <a:off x="5404104" y="3273552"/>
            <a:ext cx="914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Среднее</a:t>
            </a:r>
            <a:endParaRPr lang="en-US" sz="1050" dirty="0"/>
          </a:p>
        </p:txBody>
      </p:sp>
      <p:sp>
        <p:nvSpPr>
          <p:cNvPr id="160" name="Shape 47">
            <a:extLst>
              <a:ext uri="{FF2B5EF4-FFF2-40B4-BE49-F238E27FC236}">
                <a16:creationId xmlns:a16="http://schemas.microsoft.com/office/drawing/2014/main" id="{325C8FDF-B0BB-4335-AF48-7B88B9107DB3}"/>
              </a:ext>
            </a:extLst>
          </p:cNvPr>
          <p:cNvSpPr/>
          <p:nvPr/>
        </p:nvSpPr>
        <p:spPr>
          <a:xfrm>
            <a:off x="6364224" y="3493008"/>
            <a:ext cx="731520" cy="274320"/>
          </a:xfrm>
          <a:prstGeom prst="rect">
            <a:avLst/>
          </a:prstGeom>
          <a:solidFill>
            <a:srgbClr val="1A002A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161" name="Text 48">
            <a:extLst>
              <a:ext uri="{FF2B5EF4-FFF2-40B4-BE49-F238E27FC236}">
                <a16:creationId xmlns:a16="http://schemas.microsoft.com/office/drawing/2014/main" id="{BE49E75B-940D-4571-B54A-0AFE9586C539}"/>
              </a:ext>
            </a:extLst>
          </p:cNvPr>
          <p:cNvSpPr/>
          <p:nvPr/>
        </p:nvSpPr>
        <p:spPr>
          <a:xfrm>
            <a:off x="6336792" y="3524885"/>
            <a:ext cx="8321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ВЫСОКИЙ</a:t>
            </a:r>
            <a:endParaRPr lang="en-US" sz="1000" dirty="0"/>
          </a:p>
        </p:txBody>
      </p:sp>
      <p:sp>
        <p:nvSpPr>
          <p:cNvPr id="162" name="Text 49">
            <a:extLst>
              <a:ext uri="{FF2B5EF4-FFF2-40B4-BE49-F238E27FC236}">
                <a16:creationId xmlns:a16="http://schemas.microsoft.com/office/drawing/2014/main" id="{DEB507A7-7A84-48FB-8892-5034527DA2A0}"/>
              </a:ext>
            </a:extLst>
          </p:cNvPr>
          <p:cNvSpPr/>
          <p:nvPr/>
        </p:nvSpPr>
        <p:spPr>
          <a:xfrm>
            <a:off x="7196328" y="3273552"/>
            <a:ext cx="4526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Оставить классическую навигацию как альтернативу (гамбургер-меню). Плавный онбординг при первом входе. A/B-тест: новая витрина только для 20% аудитории на старте.</a:t>
            </a:r>
            <a:endParaRPr lang="en-US" sz="1000" dirty="0"/>
          </a:p>
        </p:txBody>
      </p:sp>
      <p:sp>
        <p:nvSpPr>
          <p:cNvPr id="163" name="Shape 50">
            <a:extLst>
              <a:ext uri="{FF2B5EF4-FFF2-40B4-BE49-F238E27FC236}">
                <a16:creationId xmlns:a16="http://schemas.microsoft.com/office/drawing/2014/main" id="{2E5B46AA-D632-4E9B-807C-3D754318A409}"/>
              </a:ext>
            </a:extLst>
          </p:cNvPr>
          <p:cNvSpPr/>
          <p:nvPr/>
        </p:nvSpPr>
        <p:spPr>
          <a:xfrm>
            <a:off x="320040" y="4078224"/>
            <a:ext cx="11521440" cy="786384"/>
          </a:xfrm>
          <a:prstGeom prst="rect">
            <a:avLst/>
          </a:prstGeom>
          <a:solidFill>
            <a:srgbClr val="23232C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64" name="Shape 51">
            <a:extLst>
              <a:ext uri="{FF2B5EF4-FFF2-40B4-BE49-F238E27FC236}">
                <a16:creationId xmlns:a16="http://schemas.microsoft.com/office/drawing/2014/main" id="{A1632592-10B8-4E97-904C-A27A4F7E49CA}"/>
              </a:ext>
            </a:extLst>
          </p:cNvPr>
          <p:cNvSpPr/>
          <p:nvPr/>
        </p:nvSpPr>
        <p:spPr>
          <a:xfrm>
            <a:off x="320040" y="4078224"/>
            <a:ext cx="36576" cy="78638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65" name="Text 52">
            <a:extLst>
              <a:ext uri="{FF2B5EF4-FFF2-40B4-BE49-F238E27FC236}">
                <a16:creationId xmlns:a16="http://schemas.microsoft.com/office/drawing/2014/main" id="{9F5D9405-D39B-4DDB-8013-0317A665E351}"/>
              </a:ext>
            </a:extLst>
          </p:cNvPr>
          <p:cNvSpPr/>
          <p:nvPr/>
        </p:nvSpPr>
        <p:spPr>
          <a:xfrm>
            <a:off x="356616" y="4114800"/>
            <a:ext cx="3474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900" dirty="0"/>
          </a:p>
        </p:txBody>
      </p:sp>
      <p:sp>
        <p:nvSpPr>
          <p:cNvPr id="166" name="Text 53">
            <a:extLst>
              <a:ext uri="{FF2B5EF4-FFF2-40B4-BE49-F238E27FC236}">
                <a16:creationId xmlns:a16="http://schemas.microsoft.com/office/drawing/2014/main" id="{62DBF264-14E2-4D84-BADF-B86ED4E33992}"/>
              </a:ext>
            </a:extLst>
          </p:cNvPr>
          <p:cNvSpPr/>
          <p:nvPr/>
        </p:nvSpPr>
        <p:spPr>
          <a:xfrm>
            <a:off x="704088" y="4114800"/>
            <a:ext cx="2286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Продуктовый: неверная классификация ситуации</a:t>
            </a:r>
            <a:endParaRPr lang="en-US" sz="1050" dirty="0"/>
          </a:p>
        </p:txBody>
      </p:sp>
      <p:sp>
        <p:nvSpPr>
          <p:cNvPr id="167" name="Text 54">
            <a:extLst>
              <a:ext uri="{FF2B5EF4-FFF2-40B4-BE49-F238E27FC236}">
                <a16:creationId xmlns:a16="http://schemas.microsoft.com/office/drawing/2014/main" id="{BF7B9E48-CFE1-4E22-874C-5FF9725D097F}"/>
              </a:ext>
            </a:extLst>
          </p:cNvPr>
          <p:cNvSpPr/>
          <p:nvPr/>
        </p:nvSpPr>
        <p:spPr>
          <a:xfrm>
            <a:off x="3081528" y="4114800"/>
            <a:ext cx="124358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Алгоритмический</a:t>
            </a:r>
            <a:endParaRPr lang="en-US" sz="1050" dirty="0"/>
          </a:p>
        </p:txBody>
      </p:sp>
      <p:sp>
        <p:nvSpPr>
          <p:cNvPr id="168" name="Text 55">
            <a:extLst>
              <a:ext uri="{FF2B5EF4-FFF2-40B4-BE49-F238E27FC236}">
                <a16:creationId xmlns:a16="http://schemas.microsoft.com/office/drawing/2014/main" id="{6A31D9BF-417D-478C-B4CC-05E0657BE75B}"/>
              </a:ext>
            </a:extLst>
          </p:cNvPr>
          <p:cNvSpPr/>
          <p:nvPr/>
        </p:nvSpPr>
        <p:spPr>
          <a:xfrm>
            <a:off x="4306824" y="4114800"/>
            <a:ext cx="1097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Средняя</a:t>
            </a:r>
            <a:endParaRPr lang="en-US" sz="1050" dirty="0"/>
          </a:p>
        </p:txBody>
      </p:sp>
      <p:sp>
        <p:nvSpPr>
          <p:cNvPr id="169" name="Text 56">
            <a:extLst>
              <a:ext uri="{FF2B5EF4-FFF2-40B4-BE49-F238E27FC236}">
                <a16:creationId xmlns:a16="http://schemas.microsoft.com/office/drawing/2014/main" id="{4F2759D5-D3CC-4DCD-B375-36EEBD26B39C}"/>
              </a:ext>
            </a:extLst>
          </p:cNvPr>
          <p:cNvSpPr/>
          <p:nvPr/>
        </p:nvSpPr>
        <p:spPr>
          <a:xfrm>
            <a:off x="5404104" y="4114800"/>
            <a:ext cx="914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Среднее</a:t>
            </a:r>
            <a:endParaRPr lang="en-US" sz="1050" dirty="0"/>
          </a:p>
        </p:txBody>
      </p:sp>
      <p:sp>
        <p:nvSpPr>
          <p:cNvPr id="170" name="Shape 57">
            <a:extLst>
              <a:ext uri="{FF2B5EF4-FFF2-40B4-BE49-F238E27FC236}">
                <a16:creationId xmlns:a16="http://schemas.microsoft.com/office/drawing/2014/main" id="{B172FD6A-BE5E-4B48-B1A7-A1312622F43F}"/>
              </a:ext>
            </a:extLst>
          </p:cNvPr>
          <p:cNvSpPr/>
          <p:nvPr/>
        </p:nvSpPr>
        <p:spPr>
          <a:xfrm>
            <a:off x="6364224" y="4334256"/>
            <a:ext cx="731520" cy="274320"/>
          </a:xfrm>
          <a:prstGeom prst="rect">
            <a:avLst/>
          </a:prstGeom>
          <a:solidFill>
            <a:srgbClr val="1A002A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71" name="Text 58">
            <a:extLst>
              <a:ext uri="{FF2B5EF4-FFF2-40B4-BE49-F238E27FC236}">
                <a16:creationId xmlns:a16="http://schemas.microsoft.com/office/drawing/2014/main" id="{3F24A423-0E3D-445C-870D-1D513B5844D4}"/>
              </a:ext>
            </a:extLst>
          </p:cNvPr>
          <p:cNvSpPr/>
          <p:nvPr/>
        </p:nvSpPr>
        <p:spPr>
          <a:xfrm>
            <a:off x="6364224" y="433425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СРЕДНИЙ</a:t>
            </a:r>
            <a:endParaRPr lang="en-US" sz="1000" dirty="0"/>
          </a:p>
        </p:txBody>
      </p:sp>
      <p:sp>
        <p:nvSpPr>
          <p:cNvPr id="172" name="Text 59">
            <a:extLst>
              <a:ext uri="{FF2B5EF4-FFF2-40B4-BE49-F238E27FC236}">
                <a16:creationId xmlns:a16="http://schemas.microsoft.com/office/drawing/2014/main" id="{E25DD095-12F8-477A-8226-1EC29078ACB8}"/>
              </a:ext>
            </a:extLst>
          </p:cNvPr>
          <p:cNvSpPr/>
          <p:nvPr/>
        </p:nvSpPr>
        <p:spPr>
          <a:xfrm>
            <a:off x="7196328" y="4114800"/>
            <a:ext cx="4526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Показывать метку ситуации пользователю + кнопку «Не моя ситуация». Логировать отказы для дообучения модели. Порог уверенности классификации ≥ 70% для показа.</a:t>
            </a:r>
            <a:endParaRPr lang="en-US" sz="1000" dirty="0"/>
          </a:p>
        </p:txBody>
      </p:sp>
      <p:sp>
        <p:nvSpPr>
          <p:cNvPr id="173" name="Shape 60">
            <a:extLst>
              <a:ext uri="{FF2B5EF4-FFF2-40B4-BE49-F238E27FC236}">
                <a16:creationId xmlns:a16="http://schemas.microsoft.com/office/drawing/2014/main" id="{A85672E0-6CAC-47CE-92AF-D961773B1A90}"/>
              </a:ext>
            </a:extLst>
          </p:cNvPr>
          <p:cNvSpPr/>
          <p:nvPr/>
        </p:nvSpPr>
        <p:spPr>
          <a:xfrm>
            <a:off x="320040" y="4919472"/>
            <a:ext cx="11521440" cy="786384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74" name="Shape 61">
            <a:extLst>
              <a:ext uri="{FF2B5EF4-FFF2-40B4-BE49-F238E27FC236}">
                <a16:creationId xmlns:a16="http://schemas.microsoft.com/office/drawing/2014/main" id="{53D0BB4C-D876-4D85-B070-1173D9647577}"/>
              </a:ext>
            </a:extLst>
          </p:cNvPr>
          <p:cNvSpPr/>
          <p:nvPr/>
        </p:nvSpPr>
        <p:spPr>
          <a:xfrm>
            <a:off x="320040" y="4919472"/>
            <a:ext cx="36576" cy="78638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75" name="Text 62">
            <a:extLst>
              <a:ext uri="{FF2B5EF4-FFF2-40B4-BE49-F238E27FC236}">
                <a16:creationId xmlns:a16="http://schemas.microsoft.com/office/drawing/2014/main" id="{BBDE925F-2650-4700-B834-2346ECD1706C}"/>
              </a:ext>
            </a:extLst>
          </p:cNvPr>
          <p:cNvSpPr/>
          <p:nvPr/>
        </p:nvSpPr>
        <p:spPr>
          <a:xfrm>
            <a:off x="356616" y="4956048"/>
            <a:ext cx="31089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</a:t>
            </a:r>
            <a:endParaRPr lang="en-US" sz="900" dirty="0"/>
          </a:p>
        </p:txBody>
      </p:sp>
      <p:sp>
        <p:nvSpPr>
          <p:cNvPr id="176" name="Text 63">
            <a:extLst>
              <a:ext uri="{FF2B5EF4-FFF2-40B4-BE49-F238E27FC236}">
                <a16:creationId xmlns:a16="http://schemas.microsoft.com/office/drawing/2014/main" id="{0C2661A0-3116-4837-BFD6-E7C21459658B}"/>
              </a:ext>
            </a:extLst>
          </p:cNvPr>
          <p:cNvSpPr/>
          <p:nvPr/>
        </p:nvSpPr>
        <p:spPr>
          <a:xfrm>
            <a:off x="704088" y="4956048"/>
            <a:ext cx="2286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Конкурентный: Сбер / Альфа реализуют раньше</a:t>
            </a:r>
            <a:endParaRPr lang="en-US" sz="1050" dirty="0"/>
          </a:p>
        </p:txBody>
      </p:sp>
      <p:sp>
        <p:nvSpPr>
          <p:cNvPr id="177" name="Text 64">
            <a:extLst>
              <a:ext uri="{FF2B5EF4-FFF2-40B4-BE49-F238E27FC236}">
                <a16:creationId xmlns:a16="http://schemas.microsoft.com/office/drawing/2014/main" id="{433C7DEF-7F4F-49C6-9224-F860E9D3D335}"/>
              </a:ext>
            </a:extLst>
          </p:cNvPr>
          <p:cNvSpPr/>
          <p:nvPr/>
        </p:nvSpPr>
        <p:spPr>
          <a:xfrm>
            <a:off x="3081528" y="4956048"/>
            <a:ext cx="1188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Рыночный</a:t>
            </a:r>
            <a:endParaRPr lang="en-US" sz="1050" dirty="0"/>
          </a:p>
        </p:txBody>
      </p:sp>
      <p:sp>
        <p:nvSpPr>
          <p:cNvPr id="178" name="Text 65">
            <a:extLst>
              <a:ext uri="{FF2B5EF4-FFF2-40B4-BE49-F238E27FC236}">
                <a16:creationId xmlns:a16="http://schemas.microsoft.com/office/drawing/2014/main" id="{9A7DC697-8F63-40E5-B973-CDD9A42AFDDA}"/>
              </a:ext>
            </a:extLst>
          </p:cNvPr>
          <p:cNvSpPr/>
          <p:nvPr/>
        </p:nvSpPr>
        <p:spPr>
          <a:xfrm>
            <a:off x="4306824" y="4956048"/>
            <a:ext cx="1097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Низкая</a:t>
            </a:r>
            <a:endParaRPr lang="en-US" sz="1050" dirty="0"/>
          </a:p>
        </p:txBody>
      </p:sp>
      <p:sp>
        <p:nvSpPr>
          <p:cNvPr id="179" name="Text 66">
            <a:extLst>
              <a:ext uri="{FF2B5EF4-FFF2-40B4-BE49-F238E27FC236}">
                <a16:creationId xmlns:a16="http://schemas.microsoft.com/office/drawing/2014/main" id="{FAEBD3C9-F602-4600-B5A9-7D413770C1E6}"/>
              </a:ext>
            </a:extLst>
          </p:cNvPr>
          <p:cNvSpPr/>
          <p:nvPr/>
        </p:nvSpPr>
        <p:spPr>
          <a:xfrm>
            <a:off x="5404104" y="4956048"/>
            <a:ext cx="914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Высокое</a:t>
            </a:r>
            <a:endParaRPr lang="en-US" sz="1050" dirty="0"/>
          </a:p>
        </p:txBody>
      </p:sp>
      <p:sp>
        <p:nvSpPr>
          <p:cNvPr id="180" name="Shape 67">
            <a:extLst>
              <a:ext uri="{FF2B5EF4-FFF2-40B4-BE49-F238E27FC236}">
                <a16:creationId xmlns:a16="http://schemas.microsoft.com/office/drawing/2014/main" id="{19F52993-C0AF-4F46-A85D-5154B5A178E8}"/>
              </a:ext>
            </a:extLst>
          </p:cNvPr>
          <p:cNvSpPr/>
          <p:nvPr/>
        </p:nvSpPr>
        <p:spPr>
          <a:xfrm>
            <a:off x="6364224" y="5175504"/>
            <a:ext cx="731520" cy="274320"/>
          </a:xfrm>
          <a:prstGeom prst="rect">
            <a:avLst/>
          </a:prstGeom>
          <a:solidFill>
            <a:srgbClr val="1A002A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81" name="Text 68">
            <a:extLst>
              <a:ext uri="{FF2B5EF4-FFF2-40B4-BE49-F238E27FC236}">
                <a16:creationId xmlns:a16="http://schemas.microsoft.com/office/drawing/2014/main" id="{47050253-5A05-416D-98E1-08EB442B04A8}"/>
              </a:ext>
            </a:extLst>
          </p:cNvPr>
          <p:cNvSpPr/>
          <p:nvPr/>
        </p:nvSpPr>
        <p:spPr>
          <a:xfrm>
            <a:off x="6364224" y="5175504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СРЕДНИЙ</a:t>
            </a:r>
            <a:endParaRPr lang="en-US" sz="1000" dirty="0"/>
          </a:p>
        </p:txBody>
      </p:sp>
      <p:sp>
        <p:nvSpPr>
          <p:cNvPr id="182" name="Text 69">
            <a:extLst>
              <a:ext uri="{FF2B5EF4-FFF2-40B4-BE49-F238E27FC236}">
                <a16:creationId xmlns:a16="http://schemas.microsoft.com/office/drawing/2014/main" id="{A060D5CE-9387-4793-82B2-A26C8E8A5919}"/>
              </a:ext>
            </a:extLst>
          </p:cNvPr>
          <p:cNvSpPr/>
          <p:nvPr/>
        </p:nvSpPr>
        <p:spPr>
          <a:xfrm>
            <a:off x="7196328" y="4956048"/>
            <a:ext cx="4526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Ускорить Phase 1 (ситуативные блоки): 3 месяца — реалистичный срок. Сделать акцент на уникальной механике ОТП (MCC-триггеры в реальном времени), а не на визуале.</a:t>
            </a:r>
            <a:endParaRPr lang="en-US" sz="1000" dirty="0"/>
          </a:p>
        </p:txBody>
      </p:sp>
      <p:sp>
        <p:nvSpPr>
          <p:cNvPr id="259" name="Shape 77">
            <a:extLst>
              <a:ext uri="{FF2B5EF4-FFF2-40B4-BE49-F238E27FC236}">
                <a16:creationId xmlns:a16="http://schemas.microsoft.com/office/drawing/2014/main" id="{BF677F59-695D-4364-9EF5-92007B797250}"/>
              </a:ext>
            </a:extLst>
          </p:cNvPr>
          <p:cNvSpPr/>
          <p:nvPr/>
        </p:nvSpPr>
        <p:spPr>
          <a:xfrm>
            <a:off x="5227320" y="5779008"/>
            <a:ext cx="6629400" cy="512064"/>
          </a:xfrm>
          <a:prstGeom prst="rect">
            <a:avLst/>
          </a:prstGeom>
          <a:solidFill>
            <a:srgbClr val="1E1E26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60" name="Shape 78">
            <a:extLst>
              <a:ext uri="{FF2B5EF4-FFF2-40B4-BE49-F238E27FC236}">
                <a16:creationId xmlns:a16="http://schemas.microsoft.com/office/drawing/2014/main" id="{2CC9DA31-BBCB-4DF8-8673-EE933BE31790}"/>
              </a:ext>
            </a:extLst>
          </p:cNvPr>
          <p:cNvSpPr/>
          <p:nvPr/>
        </p:nvSpPr>
        <p:spPr>
          <a:xfrm>
            <a:off x="5227320" y="5779008"/>
            <a:ext cx="36576" cy="512064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261" name="Text 79">
            <a:extLst>
              <a:ext uri="{FF2B5EF4-FFF2-40B4-BE49-F238E27FC236}">
                <a16:creationId xmlns:a16="http://schemas.microsoft.com/office/drawing/2014/main" id="{76C0C0C6-75B3-4AD9-A6A9-FB7B38199904}"/>
              </a:ext>
            </a:extLst>
          </p:cNvPr>
          <p:cNvSpPr/>
          <p:nvPr/>
        </p:nvSpPr>
        <p:spPr>
          <a:xfrm>
            <a:off x="5355336" y="5797296"/>
            <a:ext cx="6382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Приоритет: R1 (регуляторный) и R3 (страх перемен) — требуют решения до запуска. R2 (legacy) — закрывается поэтапным внедрением Phase 1. R4 и R5 — управляемые риски с прозрачными митигациями.</a:t>
            </a:r>
            <a:endParaRPr lang="en-US" sz="1050" dirty="0"/>
          </a:p>
        </p:txBody>
      </p:sp>
      <p:sp>
        <p:nvSpPr>
          <p:cNvPr id="262" name="Text 5">
            <a:extLst>
              <a:ext uri="{FF2B5EF4-FFF2-40B4-BE49-F238E27FC236}">
                <a16:creationId xmlns:a16="http://schemas.microsoft.com/office/drawing/2014/main" id="{C65C2095-4268-4A6C-9AFA-A002AA4A1EB0}"/>
              </a:ext>
            </a:extLst>
          </p:cNvPr>
          <p:cNvSpPr/>
          <p:nvPr/>
        </p:nvSpPr>
        <p:spPr>
          <a:xfrm>
            <a:off x="5546407" y="141605"/>
            <a:ext cx="6280785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Матрица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рисков</a:t>
            </a:r>
            <a:endParaRPr lang="en-US" dirty="0"/>
          </a:p>
        </p:txBody>
      </p:sp>
      <p:sp>
        <p:nvSpPr>
          <p:cNvPr id="263" name="Shape 103">
            <a:extLst>
              <a:ext uri="{FF2B5EF4-FFF2-40B4-BE49-F238E27FC236}">
                <a16:creationId xmlns:a16="http://schemas.microsoft.com/office/drawing/2014/main" id="{6588EB3D-40BC-4C10-B158-C5101F4B57A2}"/>
              </a:ext>
            </a:extLst>
          </p:cNvPr>
          <p:cNvSpPr/>
          <p:nvPr/>
        </p:nvSpPr>
        <p:spPr>
          <a:xfrm flipV="1">
            <a:off x="10266929" y="6515100"/>
            <a:ext cx="1471507" cy="45719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907981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455</TotalTime>
  <Words>3465</Words>
  <Application>Microsoft Office PowerPoint</Application>
  <PresentationFormat>Широкоэкранный</PresentationFormat>
  <Paragraphs>688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47</cp:revision>
  <dcterms:created xsi:type="dcterms:W3CDTF">2026-03-14T19:21:27Z</dcterms:created>
  <dcterms:modified xsi:type="dcterms:W3CDTF">2026-03-15T18:21:07Z</dcterms:modified>
</cp:coreProperties>
</file>